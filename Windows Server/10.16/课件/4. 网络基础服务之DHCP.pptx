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5" r:id="rId4"/>
    <p:sldMasterId id="2147483659" r:id="rId5"/>
    <p:sldMasterId id="2147483671" r:id="rId6"/>
  </p:sldMasterIdLst>
  <p:notesMasterIdLst>
    <p:notesMasterId r:id="rId8"/>
  </p:notesMasterIdLst>
  <p:handoutMasterIdLst>
    <p:handoutMasterId r:id="rId50"/>
  </p:handoutMasterIdLst>
  <p:sldIdLst>
    <p:sldId id="256" r:id="rId7"/>
    <p:sldId id="308" r:id="rId9"/>
    <p:sldId id="293" r:id="rId10"/>
    <p:sldId id="294" r:id="rId11"/>
    <p:sldId id="307" r:id="rId12"/>
    <p:sldId id="305" r:id="rId13"/>
    <p:sldId id="295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1" r:id="rId37"/>
    <p:sldId id="332" r:id="rId38"/>
    <p:sldId id="333" r:id="rId39"/>
    <p:sldId id="334" r:id="rId40"/>
    <p:sldId id="335" r:id="rId41"/>
    <p:sldId id="336" r:id="rId42"/>
    <p:sldId id="337" r:id="rId43"/>
    <p:sldId id="338" r:id="rId44"/>
    <p:sldId id="339" r:id="rId45"/>
    <p:sldId id="340" r:id="rId46"/>
    <p:sldId id="341" r:id="rId47"/>
    <p:sldId id="342" r:id="rId48"/>
    <p:sldId id="343" r:id="rId49"/>
  </p:sldIdLst>
  <p:sldSz cx="12192000" cy="6858000"/>
  <p:notesSz cx="6858000" cy="9144000"/>
  <p:custDataLst>
    <p:tags r:id="rId5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592" y="60"/>
      </p:cViewPr>
      <p:guideLst>
        <p:guide orient="horz" pos="2160"/>
        <p:guide pos="28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4" Type="http://schemas.openxmlformats.org/officeDocument/2006/relationships/tags" Target="tags/tag1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平时大家使用手机连接学校的</a:t>
            </a:r>
            <a:r>
              <a:rPr lang="en-US" altLang="zh-CN"/>
              <a:t>Wi-Fi</a:t>
            </a:r>
            <a:r>
              <a:rPr lang="zh-CN" altLang="en-US"/>
              <a:t>时，有没有手动配置过</a:t>
            </a:r>
            <a:r>
              <a:rPr lang="en-US" altLang="zh-CN"/>
              <a:t>IP</a:t>
            </a:r>
            <a:r>
              <a:rPr lang="zh-CN" altLang="en-US"/>
              <a:t>地址？</a:t>
            </a:r>
            <a:br>
              <a:rPr lang="zh-CN" altLang="en-US"/>
            </a:br>
            <a:r>
              <a:rPr lang="zh-CN" altLang="en-US"/>
              <a:t>通常我们只需要选择无线网络、输入密码，手机就可以正常上网。</a:t>
            </a:r>
            <a:br>
              <a:rPr lang="zh-CN" altLang="en-US"/>
            </a:br>
            <a:r>
              <a:rPr lang="zh-CN" altLang="en-US"/>
              <a:t>手机究竟是怎么获得</a:t>
            </a:r>
            <a:r>
              <a:rPr lang="en-US" altLang="zh-CN"/>
              <a:t>IP</a:t>
            </a:r>
            <a:r>
              <a:rPr lang="zh-CN" altLang="en-US"/>
              <a:t>地址？如果一个学校有几千台甚至上万台设备，</a:t>
            </a:r>
            <a:r>
              <a:rPr lang="zh-CN" altLang="en-US"/>
              <a:t>需要网络管理员给每台设备单独配置</a:t>
            </a:r>
            <a:r>
              <a:rPr lang="en-US" altLang="zh-CN"/>
              <a:t>IP</a:t>
            </a:r>
            <a:r>
              <a:rPr lang="zh-CN" altLang="en-US"/>
              <a:t>地址吗？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如果采用手动配置</a:t>
            </a:r>
            <a:r>
              <a:rPr lang="en-US" altLang="zh-CN"/>
              <a:t>IP</a:t>
            </a:r>
            <a:r>
              <a:rPr lang="zh-CN" altLang="en-US"/>
              <a:t>地址的方式，需要</a:t>
            </a:r>
            <a:r>
              <a:rPr lang="zh-CN" altLang="en-US"/>
              <a:t>分别设置</a:t>
            </a:r>
            <a:r>
              <a:rPr lang="en-US" altLang="zh-CN"/>
              <a:t>IP</a:t>
            </a:r>
            <a:r>
              <a:rPr lang="zh-CN" altLang="en-US"/>
              <a:t>地址、子网掩码、默认网关以及</a:t>
            </a:r>
            <a:r>
              <a:rPr lang="en-US" altLang="zh-CN"/>
              <a:t>DNS</a:t>
            </a:r>
            <a:r>
              <a:rPr lang="zh-CN" altLang="en-US"/>
              <a:t>服务器。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DHCP</a:t>
            </a:r>
            <a:r>
              <a:rPr lang="zh-CN" altLang="en-US"/>
              <a:t>协议规定了服务器和客户端之间如何交互，以及如何完成</a:t>
            </a:r>
            <a:r>
              <a:rPr lang="en-US" altLang="zh-CN"/>
              <a:t>IP</a:t>
            </a:r>
            <a:r>
              <a:rPr lang="zh-CN" altLang="en-US"/>
              <a:t>地址的申请和分配。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一台计算机刚刚连接到网络，它还没有获得</a:t>
            </a:r>
            <a:r>
              <a:rPr lang="en-US" altLang="zh-CN"/>
              <a:t>IP</a:t>
            </a:r>
            <a:r>
              <a:rPr lang="zh-CN" altLang="en-US"/>
              <a:t>地址，也不知道</a:t>
            </a:r>
            <a:r>
              <a:rPr lang="en-US" altLang="zh-CN"/>
              <a:t>DHCP</a:t>
            </a:r>
            <a:r>
              <a:rPr lang="zh-CN" altLang="en-US"/>
              <a:t>服务器在哪里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C1019-88F6-4319-B7F6-028F93AF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对于</a:t>
            </a:r>
            <a:r>
              <a:rPr lang="en-US" altLang="zh-CN"/>
              <a:t>Windows</a:t>
            </a:r>
            <a:r>
              <a:rPr lang="zh-CN" altLang="en-US"/>
              <a:t>系统来说，如果无法通过</a:t>
            </a:r>
            <a:r>
              <a:rPr lang="en-US" altLang="zh-CN"/>
              <a:t>DHCP</a:t>
            </a:r>
            <a:r>
              <a:rPr lang="zh-CN" altLang="en-US"/>
              <a:t>成功获取地址，在某些情况下可能会使用自动私有</a:t>
            </a:r>
            <a:r>
              <a:rPr lang="en-US" altLang="zh-CN"/>
              <a:t>IP</a:t>
            </a:r>
            <a:r>
              <a:rPr lang="zh-CN" altLang="en-US"/>
              <a:t>地址，也就是169.254开头的地址。这种地址通常无法直接满足我们访问正常企业网络的需求。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客户端自动获取，服务器指定地址。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93668" y="162560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8"/>
          <p:cNvPicPr>
            <a:picLocks noChangeAspect="1"/>
          </p:cNvPicPr>
          <p:nvPr/>
        </p:nvPicPr>
        <p:blipFill>
          <a:blip r:embed="rId2"/>
          <a:srcRect t="9245" r="9245" b="1143"/>
          <a:stretch>
            <a:fillRect/>
          </a:stretch>
        </p:blipFill>
        <p:spPr>
          <a:xfrm>
            <a:off x="0" y="-3175"/>
            <a:ext cx="12187238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393371" y="5703305"/>
            <a:ext cx="937042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135">
                <a:solidFill>
                  <a:schemeClr val="accent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z="2135" strike="noStrike" noProof="1" dirty="0"/>
              <a:t>单击此处添加您的副标题</a:t>
            </a:r>
            <a:endParaRPr lang="zh-CN" altLang="en-US" strike="noStrike" noProof="1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393371" y="4512675"/>
            <a:ext cx="9370423" cy="116621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265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z="4265" strike="noStrike" noProof="1" dirty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26309" y="1670"/>
            <a:ext cx="9509760" cy="738561"/>
          </a:xfrm>
        </p:spPr>
        <p:txBody>
          <a:bodyPr>
            <a:normAutofit/>
          </a:bodyPr>
          <a:lstStyle>
            <a:lvl1pPr>
              <a:defRPr sz="42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  <a:lvl2pPr>
              <a:defRPr sz="2135"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93668" y="162560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8"/>
          <p:cNvPicPr>
            <a:picLocks noChangeAspect="1"/>
          </p:cNvPicPr>
          <p:nvPr/>
        </p:nvPicPr>
        <p:blipFill>
          <a:blip r:embed="rId2"/>
          <a:srcRect t="9245" r="9245" b="1143"/>
          <a:stretch>
            <a:fillRect/>
          </a:stretch>
        </p:blipFill>
        <p:spPr>
          <a:xfrm>
            <a:off x="0" y="-3175"/>
            <a:ext cx="12187238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393371" y="5703305"/>
            <a:ext cx="937042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135">
                <a:solidFill>
                  <a:schemeClr val="accent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z="2135" strike="noStrike" noProof="1" dirty="0"/>
              <a:t>单击此处添加您的副标题</a:t>
            </a:r>
            <a:endParaRPr lang="zh-CN" altLang="en-US" strike="noStrike" noProof="1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393371" y="4512675"/>
            <a:ext cx="9370423" cy="116621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265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z="4265" strike="noStrike" noProof="1" dirty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93668" y="162560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8"/>
          <p:cNvPicPr>
            <a:picLocks noChangeAspect="1"/>
          </p:cNvPicPr>
          <p:nvPr/>
        </p:nvPicPr>
        <p:blipFill>
          <a:blip r:embed="rId2"/>
          <a:srcRect t="9245" r="9245" b="1143"/>
          <a:stretch>
            <a:fillRect/>
          </a:stretch>
        </p:blipFill>
        <p:spPr>
          <a:xfrm>
            <a:off x="0" y="-3175"/>
            <a:ext cx="12187238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393371" y="5703305"/>
            <a:ext cx="937042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135">
                <a:solidFill>
                  <a:schemeClr val="accent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z="2135" strike="noStrike" noProof="1" dirty="0"/>
              <a:t>单击此处添加您的副标题</a:t>
            </a:r>
            <a:endParaRPr lang="zh-CN" altLang="en-US" strike="noStrike" noProof="1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393371" y="4512675"/>
            <a:ext cx="9370423" cy="116621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265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z="4265" strike="noStrike" noProof="1" dirty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26309" y="1670"/>
            <a:ext cx="9509760" cy="738561"/>
          </a:xfrm>
        </p:spPr>
        <p:txBody>
          <a:bodyPr>
            <a:normAutofit/>
          </a:bodyPr>
          <a:lstStyle>
            <a:lvl1pPr>
              <a:defRPr sz="42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  <a:lvl2pPr>
              <a:defRPr sz="2135"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6" r="9246" b="1143"/>
          <a:stretch>
            <a:fillRect/>
          </a:stretch>
        </p:blipFill>
        <p:spPr>
          <a:xfrm>
            <a:off x="-172" y="-2449"/>
            <a:ext cx="12186807" cy="6860449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393371" y="5703305"/>
            <a:ext cx="937042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135">
                <a:solidFill>
                  <a:schemeClr val="accent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单击此处添加您的副标题</a:t>
            </a:r>
            <a:endParaRPr lang="zh-CN" altLang="en-US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393371" y="4512675"/>
            <a:ext cx="9370423" cy="116621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265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2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  <a:lvl2pPr>
              <a:defRPr sz="2135"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6" y="2108201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6" y="3400424"/>
            <a:ext cx="4090217" cy="357479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3"/>
            <a:ext cx="5080000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5" y="1244603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6" y="13763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6" y="22002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9" y="13763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9" y="22002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FEFF0"/>
              </a:gs>
              <a:gs pos="100000">
                <a:srgbClr val="F7F7F8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1" y="53340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32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1" y="213360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3" y="365126"/>
            <a:ext cx="1182511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3" y="365126"/>
            <a:ext cx="7933269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6" r="9246" b="1143"/>
          <a:stretch>
            <a:fillRect/>
          </a:stretch>
        </p:blipFill>
        <p:spPr>
          <a:xfrm>
            <a:off x="-172" y="-2449"/>
            <a:ext cx="12186807" cy="6860449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393371" y="5703305"/>
            <a:ext cx="937042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135">
                <a:solidFill>
                  <a:schemeClr val="accent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单击此处添加您的副标题</a:t>
            </a:r>
            <a:endParaRPr lang="zh-CN" altLang="en-US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393371" y="4512675"/>
            <a:ext cx="9370423" cy="116621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265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2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  <a:lvl2pPr>
              <a:defRPr sz="2135"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6" y="2108201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6" y="3400424"/>
            <a:ext cx="4090217" cy="357479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3"/>
            <a:ext cx="5080000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5" y="1244603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6" y="13763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6" y="22002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9" y="13763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9" y="22002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FEFF0"/>
              </a:gs>
              <a:gs pos="100000">
                <a:srgbClr val="F7F7F8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/>
          </a:p>
        </p:txBody>
      </p:sp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1" y="53340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32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1" y="213360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3" y="365126"/>
            <a:ext cx="1182511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3" y="365126"/>
            <a:ext cx="7933269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3" Type="http://schemas.openxmlformats.org/officeDocument/2006/relationships/theme" Target="../theme/theme5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</a:t>
            </a:r>
            <a:endParaRPr lang="en-US" altLang="zh-CN" dirty="0"/>
          </a:p>
          <a:p>
            <a:pPr lvl="0"/>
            <a:r>
              <a:rPr lang="zh-CN" altLang="en-US" dirty="0"/>
              <a:t>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27100"/>
            <a:ext cx="12192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238125"/>
            <a:ext cx="542925" cy="68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050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</a:t>
            </a:r>
            <a:endParaRPr lang="en-US" altLang="zh-CN" dirty="0"/>
          </a:p>
          <a:p>
            <a:pPr lvl="0"/>
            <a:r>
              <a:rPr lang="zh-CN" altLang="en-US" dirty="0"/>
              <a:t>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27100"/>
            <a:ext cx="12192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238125"/>
            <a:ext cx="542925" cy="68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</a:t>
            </a:r>
            <a:endParaRPr lang="en-US" altLang="zh-CN" dirty="0"/>
          </a:p>
          <a:p>
            <a:pPr lvl="0"/>
            <a:r>
              <a:rPr lang="zh-CN" altLang="en-US" dirty="0"/>
              <a:t>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F65620F0-0C3B-4117-AEC4-4415F425266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FE96D65-07B6-4C68-97D1-5567111C622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27100"/>
            <a:ext cx="12192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238125"/>
            <a:ext cx="542925" cy="68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" b="1737"/>
          <a:stretch>
            <a:fillRect/>
          </a:stretch>
        </p:blipFill>
        <p:spPr>
          <a:xfrm>
            <a:off x="-1" y="1669"/>
            <a:ext cx="12192172" cy="6856331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26309" y="1670"/>
            <a:ext cx="9509760" cy="7385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58801" y="1419225"/>
            <a:ext cx="11056060" cy="4863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265" b="1" i="0" kern="1200" baseline="0">
          <a:solidFill>
            <a:schemeClr val="bg1"/>
          </a:solidFill>
          <a:effectLst/>
          <a:latin typeface="Times New Roman" panose="02020603050405020304" pitchFamily="18" charset="0"/>
          <a:ea typeface="楷体" panose="02010609060101010101" pitchFamily="49" charset="-122"/>
          <a:cs typeface="Times New Roman" panose="02020603050405020304" pitchFamily="18" charset="0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accent1"/>
        </a:buClr>
        <a:buSzPct val="60000"/>
        <a:buFont typeface="Wingdings" panose="05000000000000000000" pitchFamily="2" charset="2"/>
        <a:buChar char="u"/>
        <a:defRPr lang="zh-CN" altLang="en-US" sz="3200" kern="1200" baseline="0" dirty="0" smtClean="0">
          <a:solidFill>
            <a:schemeClr val="accent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357505" indent="-357505" algn="just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2135" kern="1200" baseline="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" b="1737"/>
          <a:stretch>
            <a:fillRect/>
          </a:stretch>
        </p:blipFill>
        <p:spPr>
          <a:xfrm>
            <a:off x="-1" y="1669"/>
            <a:ext cx="12192172" cy="6856331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26309" y="1670"/>
            <a:ext cx="9509760" cy="7385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58801" y="1419225"/>
            <a:ext cx="11056060" cy="4863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265" b="1" i="0" kern="1200" baseline="0">
          <a:solidFill>
            <a:schemeClr val="bg1"/>
          </a:solidFill>
          <a:effectLst/>
          <a:latin typeface="楷体" panose="02010609060101010101" pitchFamily="49" charset="-122"/>
          <a:ea typeface="楷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accent1"/>
        </a:buClr>
        <a:buSzPct val="60000"/>
        <a:buFont typeface="Wingdings" panose="05000000000000000000" pitchFamily="2" charset="2"/>
        <a:buChar char="u"/>
        <a:defRPr lang="zh-CN" altLang="en-US" sz="3200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357505" indent="-357505" algn="just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2135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" hasCustomPrompt="1"/>
          </p:nvPr>
        </p:nvSpPr>
        <p:spPr>
          <a:xfrm>
            <a:off x="1111250" y="5628005"/>
            <a:ext cx="9369425" cy="466725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135" b="0" i="0" u="none" strike="noStrike" kern="1200" cap="none" spc="0" normalizeH="0" baseline="0" noProof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sz="2135" b="0" i="0" u="none" strike="noStrike" kern="1200" cap="none" spc="0" normalizeH="0" baseline="0" noProof="1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1473200" y="5383848"/>
            <a:ext cx="9369425" cy="1166813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kumimoji="0" lang="zh-CN" altLang="en-US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网络基础服务之</a:t>
            </a:r>
            <a:r>
              <a:rPr kumimoji="0" lang="en-US" altLang="zh-CN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endParaRPr kumimoji="0" lang="zh-CN" altLang="en-US" sz="4265" b="1" i="0" u="none" strike="noStrike" kern="1000" cap="none" spc="0" normalizeH="0" baseline="0" noProof="1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" hasCustomPrompt="1"/>
          </p:nvPr>
        </p:nvSpPr>
        <p:spPr>
          <a:xfrm>
            <a:off x="1111250" y="5628005"/>
            <a:ext cx="9369425" cy="466725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135" b="0" i="0" u="none" strike="noStrike" kern="1200" cap="none" spc="0" normalizeH="0" baseline="0" noProof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sz="2135" b="0" i="0" u="none" strike="noStrike" kern="1200" cap="none" spc="0" normalizeH="0" baseline="0" noProof="1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1473200" y="5383848"/>
            <a:ext cx="9369425" cy="1166813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4.1 DHCP</a:t>
            </a:r>
            <a:r>
              <a:rPr kumimoji="0" lang="zh-CN" altLang="en-US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基础理论与核心原理</a:t>
            </a:r>
            <a:endParaRPr kumimoji="0" lang="zh-CN" altLang="en-US" sz="4265" b="1" i="0" u="none" strike="noStrike" kern="1000" cap="none" spc="0" normalizeH="0" baseline="0" noProof="1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8585" y="1380490"/>
            <a:ext cx="11621770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 latinLnBrk="0"/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同学们，假设你管理拥有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台电脑的企业网络，如果每台电脑都需要手动设置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地址，会遇到哪些问题？</a:t>
            </a:r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......</a:t>
            </a:r>
            <a:r>
              <a:rPr lang="zh-CN" altLang="en-US" sz="24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地址冲突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配置错误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移动设备切换网络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等实际问题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......</a:t>
            </a:r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价值凸显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对比手动配置与自动分配的效率差异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让网络配置像使用智能手机一样简单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即插即用</a:t>
            </a:r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6280" y="36417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网络配置的现实困境</a:t>
            </a:r>
            <a:endParaRPr lang="zh-CN" altLang="en-US" sz="2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7955" y="1180465"/>
            <a:ext cx="11511280" cy="5138420"/>
          </a:xfrm>
          <a:prstGeom prst="rect">
            <a:avLst/>
          </a:prstGeom>
        </p:spPr>
        <p:txBody>
          <a:bodyPr wrap="square">
            <a:noAutofit/>
          </a:bodyPr>
          <a:p>
            <a:pPr defTabSz="1219200">
              <a:lnSpc>
                <a:spcPct val="130000"/>
              </a:lnSpc>
            </a:pP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ynamic 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ost 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onfiguration 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rotocol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动态主机配置协议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，包含两层意思：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协议与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服务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81000" indent="-3810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协议是指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服务器和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客户端之间使用的协议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81000" indent="-3810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服务是指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服务器为客户端提供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地址及网络参数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zh-CN" altLang="en-US" sz="20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主机网络配置参数设置：</a:t>
            </a:r>
            <a:endParaRPr lang="zh-CN" altLang="en-US" sz="2000" u="sng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静态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：系统管理员在每一台计算机上手工进行设置一个固定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地址时，这样的方式称为静态IP地址；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动态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：通过引入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服务器，使网络中的计算机自动获得网络配置参数：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、网关等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架构模式：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Client/Server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模式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—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客户端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服务器模式；</a:t>
            </a:r>
            <a:endParaRPr lang="zh-CN" altLang="en-US" sz="2000" b="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defTabSz="1219200">
              <a:lnSpc>
                <a:spcPct val="130000"/>
              </a:lnSpc>
            </a:pP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作用域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：服务器配置的一个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地址分配范围（如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192.168.1.100-192.168.1.200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</a:t>
            </a:r>
            <a:endParaRPr lang="en-US" altLang="zh-CN" sz="2000" b="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defTabSz="1219200">
              <a:lnSpc>
                <a:spcPct val="130000"/>
              </a:lnSpc>
            </a:pP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地址池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：作用域内实际可分配的地址集合</a:t>
            </a:r>
            <a:endParaRPr lang="en-US" altLang="zh-CN" sz="2000" b="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defTabSz="1219200">
              <a:lnSpc>
                <a:spcPct val="130000"/>
              </a:lnSpc>
            </a:pP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租约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地址的租赁期限，通常为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1-8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天</a:t>
            </a:r>
            <a:endParaRPr lang="en-US" altLang="zh-CN" sz="2000" b="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defTabSz="1219200">
              <a:lnSpc>
                <a:spcPct val="130000"/>
              </a:lnSpc>
            </a:pP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保留地址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：为特定设备定制的专属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IP</a:t>
            </a:r>
            <a:endParaRPr lang="en-US" altLang="zh-CN" sz="2000" b="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8970" y="373380"/>
            <a:ext cx="8629650" cy="908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fontAlgn="base" latinLnBrk="0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什么是</a:t>
            </a:r>
            <a:r>
              <a:rPr 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DHCP?</a:t>
            </a:r>
            <a:endParaRPr 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923109" y="330600"/>
            <a:ext cx="9509760" cy="738561"/>
          </a:xfrm>
        </p:spPr>
        <p:txBody>
          <a:bodyPr>
            <a:norm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DHCP应用场景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4211" y="946358"/>
            <a:ext cx="11979275" cy="6092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200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应用场景：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zh-CN" altLang="en-US" sz="20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静态</a:t>
            </a:r>
            <a:r>
              <a:rPr lang="en-US" altLang="zh-CN" sz="20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：网络规模小，客户端主机数量较小的网络结构中；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比如：服务器、机房、台式机、固定位置、网络接口打印机等；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zh-CN" altLang="en-US" sz="20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动态</a:t>
            </a:r>
            <a:r>
              <a:rPr lang="en-US" altLang="zh-CN" sz="20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：网络规模较大，主机经常在不同网段之间移动；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比如：无线设备、移动设备；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en-US" altLang="zh-CN" sz="20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服务角色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服务器端：承担网络地址分发角色，定义了网络地址池为主机分发网络参数；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客户端：向服务器获取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例如每位同学在宿舍联网的电脑；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en-US" altLang="zh-CN" sz="20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服务优势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DHCP服务器正常时，IP地址的冲突是不会发生的，若要大批量更改计算机的所在子网或其它IP参数，只要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在DHCP服务器上操作即可，管理员不必亲自到每一台客户计算机上修改；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1219200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62160" y="4116070"/>
            <a:ext cx="2248535" cy="402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管理和分发网络地址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68690" y="4645660"/>
            <a:ext cx="2712720" cy="402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向服务器申请网络参数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7955" y="895350"/>
            <a:ext cx="11511280" cy="371475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透彻理解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DORA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四个阶段的工作原理</a:t>
            </a:r>
            <a:endParaRPr lang="zh-CN" altLang="en-US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发现阶段（</a:t>
            </a:r>
            <a:r>
              <a:rPr lang="en-US" altLang="zh-CN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Discover</a:t>
            </a:r>
            <a:r>
              <a:rPr lang="zh-CN" altLang="en-US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​​</a:t>
            </a:r>
            <a:endParaRPr lang="zh-CN" altLang="en-US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客户端以广播方式发送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发现包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源地址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0.0.0.0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，目标地址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255.255.255.255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现实比喻：找工作时广投简历？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​2. </a:t>
            </a:r>
            <a:r>
              <a:rPr lang="zh-CN" altLang="en-US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提供阶段（</a:t>
            </a:r>
            <a:r>
              <a:rPr lang="en-US" altLang="zh-CN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Offer</a:t>
            </a:r>
            <a:r>
              <a:rPr lang="zh-CN" altLang="en-US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​​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服务器响应并提供一个可用的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包含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地址、子网掩码、租期等信息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类比：多个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offer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同时到来</a:t>
            </a:r>
            <a:endParaRPr lang="zh-CN" altLang="en-US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请求阶段（</a:t>
            </a:r>
            <a:r>
              <a:rPr lang="en-US" altLang="zh-CN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Request</a:t>
            </a:r>
            <a:r>
              <a:rPr lang="zh-CN" altLang="en-US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客户端选择其中一个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offer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并正式请求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仍然使用广播，告知所有服务器自己的选择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举例：在多个工作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offer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中选择一个并正式接受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​4. </a:t>
            </a:r>
            <a:r>
              <a:rPr lang="zh-CN" altLang="en-US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确认阶段（</a:t>
            </a:r>
            <a:r>
              <a:rPr lang="en-US" altLang="zh-CN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Ack</a:t>
            </a:r>
            <a:r>
              <a:rPr lang="zh-CN" altLang="en-US" sz="1800" b="0" u="sng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​​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被选中的服务器确认分配，其他服务器收回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offer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客户端获得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地址，开始网络通信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类比：确定最终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offer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只有收到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Ack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地址才正式生效</a:t>
            </a:r>
            <a:endParaRPr lang="zh-CN" altLang="en-US" sz="1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8970" y="373380"/>
            <a:ext cx="8629650" cy="908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fontAlgn="base" latinLnBrk="0"/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DHCP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工作流程深度解析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020" descr="C:\Users\ADMINI~1\AppData\Local\Temp\SNAGHTML369ce262.PNG"/>
          <p:cNvPicPr>
            <a:picLocks noChangeAspect="1"/>
          </p:cNvPicPr>
          <p:nvPr/>
        </p:nvPicPr>
        <p:blipFill rotWithShape="1">
          <a:blip r:embed="rId1"/>
          <a:srcRect b="24477"/>
          <a:stretch>
            <a:fillRect/>
          </a:stretch>
        </p:blipFill>
        <p:spPr>
          <a:xfrm>
            <a:off x="6236970" y="1842314"/>
            <a:ext cx="4178300" cy="365112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7490" y="1380490"/>
            <a:ext cx="11128375" cy="43999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地址的生命周期管理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租约更新时机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T1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时间点（租期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50%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）：客户端尝试与原服务器续租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T2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时间点（租期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87.5%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）：客户端向任何服务器请求续租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租期结束：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地址被收回，重新加入地址池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租约释放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客户端主动释放：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ipconfig /release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服务器强制释放：租期到期或管理员手动操作</a:t>
            </a:r>
            <a:endParaRPr lang="en-US" altLang="zh-CN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zh-CN" altLang="en-US" sz="20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异常情况：客户端突然断电或网络断开</a:t>
            </a:r>
            <a:endParaRPr lang="zh-CN" altLang="en-US" sz="20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595" y="405765"/>
            <a:ext cx="79908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base" latinLnBrk="0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租约管理机制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56150" y="1246505"/>
            <a:ext cx="5700395" cy="1225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思考：</a:t>
            </a:r>
            <a:r>
              <a:rPr lang="en-US" altLang="zh-CN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DHCP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把</a:t>
            </a:r>
            <a:r>
              <a:rPr lang="en-US" altLang="zh-CN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IP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地址分配给客户端以后，是不是这个地址就归客户端永久使用了呢？</a:t>
            </a:r>
            <a:endParaRPr lang="zh-CN" altLang="en-US" sz="2400" b="1">
              <a:solidFill>
                <a:srgbClr val="FF0000"/>
              </a:solidFill>
              <a:uFillTx/>
              <a:latin typeface="Times New Roman" panose="02020603050405020304" pitchFamily="18" charset="0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" hasCustomPrompt="1"/>
          </p:nvPr>
        </p:nvSpPr>
        <p:spPr>
          <a:xfrm>
            <a:off x="1111250" y="5628005"/>
            <a:ext cx="9369425" cy="466725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sz="2135" b="0" i="0" u="none" strike="noStrike" kern="1200" cap="none" spc="0" normalizeH="0" baseline="0" noProof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sz="2135" b="0" i="0" u="none" strike="noStrike" kern="1200" cap="none" spc="0" normalizeH="0" baseline="0" noProof="1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1111250" y="4745673"/>
            <a:ext cx="9369425" cy="1166813"/>
          </a:xfrm>
        </p:spPr>
        <p:txBody>
          <a:bodyPr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4.2 DHCP</a:t>
            </a:r>
            <a:r>
              <a:rPr kumimoji="0" lang="zh-CN" altLang="en-US" sz="4265" b="1" i="0" u="none" strike="noStrike" kern="1000" cap="none" spc="0" normalizeH="0" baseline="0" noProof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服务器部署与配置实战</a:t>
            </a:r>
            <a:endParaRPr kumimoji="0" lang="zh-CN" altLang="en-US" sz="4265" b="1" i="0" u="none" strike="noStrike" kern="1000" cap="none" spc="0" normalizeH="0" baseline="0" noProof="1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8585" y="1380490"/>
            <a:ext cx="11621770" cy="48926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 latinLnBrk="0"/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教学重点与难点：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​​</a:t>
            </a:r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重点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作用域的创建与配置、服务器选项的设置。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难点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：理解并正确配置网关、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等服务器选项，以及地址保留的用途。</a:t>
            </a:r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实验环境说明：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​​</a:t>
            </a:r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​DHCP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Win2019-Server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IP: 192.168.31.3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，需预先设置为静态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：任意一台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win-PC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（位于</a:t>
            </a:r>
            <a:r>
              <a:rPr lang="en-US" altLang="zh-CN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192.168.31.0/24</a:t>
            </a: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网段）</a:t>
            </a:r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en-US" altLang="zh-CN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fontAlgn="base" latinLnBrk="0"/>
            <a:endParaRPr lang="zh-CN" altLang="en-US" sz="24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6280" y="36417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 fontAlgn="base" latinLnBrk="0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教学重点与难点：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​​</a:t>
            </a:r>
            <a:endParaRPr lang="zh-CN" altLang="en-US" sz="2800" b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网络准备和规划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730140" y="1506038"/>
            <a:ext cx="10365207" cy="3448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准备工作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win2019-1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作为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服务器，为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win2019-1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服务器设置静态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在老师的实验环境中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网关为：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192.168.31.</a:t>
            </a:r>
            <a:r>
              <a:rPr lang="en-US" altLang="zh-CN" sz="24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en-US" altLang="zh-CN" sz="2400" u="sng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服务器：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192.168.31.</a:t>
            </a:r>
            <a:r>
              <a:rPr lang="en-US" altLang="zh-CN" sz="24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4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要把物理中虚拟机的</a:t>
            </a:r>
            <a:r>
              <a:rPr lang="en-US" altLang="zh-CN" sz="24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服务停掉</a:t>
            </a:r>
            <a:r>
              <a:rPr lang="en-US" altLang="zh-CN" sz="24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反选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地址池为：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192.168.31.</a:t>
            </a:r>
            <a:r>
              <a:rPr lang="en-US" altLang="zh-CN" sz="2400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150-250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准备工作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：为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win2019-1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安装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0" y="1223645"/>
            <a:ext cx="5966460" cy="54508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、虚拟网络编辑器</a:t>
            </a:r>
            <a:r>
              <a:rPr lang="en-US" altLang="zh-CN" dirty="0"/>
              <a:t>NAT</a:t>
            </a:r>
            <a:r>
              <a:rPr lang="zh-CN" altLang="en-US" dirty="0"/>
              <a:t>模式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23347" y="1419225"/>
            <a:ext cx="5091513" cy="4863104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本地有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服务器，但本次课我们想启用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win2019-1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服务器，所以使用本地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服务器这里不要勾选。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75313" y="5766167"/>
            <a:ext cx="152654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DHCP</a:t>
            </a:r>
            <a:r>
              <a:rPr lang="zh-CN" altLang="en-US" dirty="0"/>
              <a:t>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4602" y="1172734"/>
            <a:ext cx="11056060" cy="4863104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安装步骤非常简单：和安装活动目录步骤一致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602" y="1763223"/>
            <a:ext cx="9760452" cy="49596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514477" y="3429000"/>
            <a:ext cx="1765189" cy="44328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DHCP</a:t>
            </a:r>
            <a:r>
              <a:rPr lang="zh-CN" altLang="en-US" dirty="0"/>
              <a:t>服务器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20687" y="1429490"/>
            <a:ext cx="7202437" cy="5164857"/>
          </a:xfrm>
        </p:spPr>
      </p:pic>
      <p:sp>
        <p:nvSpPr>
          <p:cNvPr id="6" name="矩形 5"/>
          <p:cNvSpPr/>
          <p:nvPr/>
        </p:nvSpPr>
        <p:spPr>
          <a:xfrm>
            <a:off x="5512242" y="6251713"/>
            <a:ext cx="1765189" cy="44328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DHCP</a:t>
            </a:r>
            <a:r>
              <a:rPr lang="zh-CN" altLang="en-US" dirty="0"/>
              <a:t>服务器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884" y="1307040"/>
            <a:ext cx="7215690" cy="513049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569766" y="6082748"/>
            <a:ext cx="1053548" cy="44328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、安装</a:t>
            </a:r>
            <a:r>
              <a:rPr lang="en-US" altLang="zh-CN" dirty="0"/>
              <a:t>DHCP</a:t>
            </a:r>
            <a:r>
              <a:rPr lang="zh-CN" altLang="en-US" dirty="0"/>
              <a:t>服务器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7206828" y="1454574"/>
            <a:ext cx="4322154" cy="484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安装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服务器角色：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点击开始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服务器管理器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添加角色和功能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在“添加角色和功能向导”中按提示进行操作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勾选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服务器，并完成安装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75" y="1610995"/>
            <a:ext cx="6581775" cy="4689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安装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en-US" dirty="0">
                <a:sym typeface="+mn-ea"/>
              </a:rPr>
              <a:t>服务器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025" y="1158240"/>
            <a:ext cx="7461885" cy="52254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DHCP</a:t>
            </a:r>
            <a:r>
              <a:rPr lang="zh-CN" altLang="en-US" dirty="0"/>
              <a:t>服务器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194" y="1468921"/>
            <a:ext cx="7287611" cy="516675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2687" y="6311348"/>
            <a:ext cx="858740" cy="44328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DHCP</a:t>
            </a:r>
            <a:r>
              <a:rPr lang="zh-CN" altLang="en-US" dirty="0"/>
              <a:t>服务器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8151" y="1222261"/>
            <a:ext cx="7423171" cy="531318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816133" y="6092162"/>
            <a:ext cx="1009815" cy="44328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矩形 6"/>
          <p:cNvSpPr/>
          <p:nvPr/>
        </p:nvSpPr>
        <p:spPr>
          <a:xfrm>
            <a:off x="4116000" y="2464904"/>
            <a:ext cx="2245043" cy="26835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DHCP</a:t>
            </a:r>
            <a:r>
              <a:rPr lang="zh-CN" altLang="en-US" dirty="0"/>
              <a:t>服务器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254306" y="1950240"/>
            <a:ext cx="4390939" cy="4887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安装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服务器后：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右上角小旗子出现黄色的叹号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点击完成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安装后配置向导，一直下一步，最后如图所示，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相关的管理员和用户组已创建完成，点击关闭。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没安装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服务，不需要授权就可以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工作。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" y="1689735"/>
            <a:ext cx="6365875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57605"/>
            <a:ext cx="5248275" cy="25539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管理</a:t>
            </a:r>
            <a:r>
              <a:rPr lang="en-US" altLang="zh-CN"/>
              <a:t>DHCP</a:t>
            </a:r>
            <a:r>
              <a:rPr lang="zh-CN" altLang="en-US"/>
              <a:t>服务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02990"/>
            <a:ext cx="8828405" cy="32550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56020" y="207295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2400" b="0" i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在左侧树形目录，展开服务器，右键</a:t>
            </a:r>
            <a:r>
              <a:rPr lang="en-US" altLang="zh-CN" sz="2400" b="0" i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IPv4</a:t>
            </a:r>
            <a:r>
              <a:rPr lang="zh-CN" altLang="en-US" sz="2400" b="0" i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，选择新建作用域</a:t>
            </a:r>
            <a:endParaRPr lang="en-US" altLang="zh-CN" sz="2400" b="0" i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创建</a:t>
            </a:r>
            <a:r>
              <a:rPr lang="en-US" altLang="zh-CN" dirty="0"/>
              <a:t>IPV4</a:t>
            </a:r>
            <a:r>
              <a:rPr lang="zh-CN" altLang="en-US" dirty="0"/>
              <a:t>作用域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02397" y="1190457"/>
            <a:ext cx="11731937" cy="1249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什么是作用域？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作用域是指分配给请求动态IP地址的计算机的IP地址范围。当DHCP客户端向DHCP服务器请求IP地址时，DHCP服务器从作用域内挑选一个尚未出租出去的IP地址，分配给客户端。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89275" y="3132552"/>
            <a:ext cx="5891356" cy="164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管理控制台中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选择新建作用域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进入“新建作用域向导”；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输入作用域的“名称”和 “描述信息”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可自拟。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40" y="2749550"/>
            <a:ext cx="4422775" cy="3561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配置</a:t>
            </a:r>
            <a:r>
              <a:rPr lang="en-US" altLang="zh-CN"/>
              <a:t>DHCP</a:t>
            </a:r>
            <a:r>
              <a:rPr lang="zh-CN" altLang="en-US"/>
              <a:t>服务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878407" y="2622127"/>
            <a:ext cx="6121915" cy="292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在“起始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地址”文本框中输入作用域的起始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在“结束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地址”文本框中输入作用域的结束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 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同时，设置子网掩码的长度为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24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90" y="1698625"/>
            <a:ext cx="5704205" cy="46266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配置</a:t>
            </a:r>
            <a:r>
              <a:rPr lang="en-US" altLang="zh-CN"/>
              <a:t>DHCP</a:t>
            </a:r>
            <a:r>
              <a:rPr lang="zh-CN" altLang="en-US"/>
              <a:t>服务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955763" y="2189751"/>
            <a:ext cx="6340197" cy="3650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地址排除：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被排除的地址不会被分配给客户端；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子网延迟：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用于设置该作用域收到客户端的请求后的延迟响应时间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若在网络中存在多台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，备用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可以迟于主服务器的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10ms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进行响应；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此时：我们可以设置为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815" y="1891665"/>
            <a:ext cx="5060315" cy="41287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配置</a:t>
            </a:r>
            <a:r>
              <a:rPr lang="en-US" altLang="zh-CN"/>
              <a:t>DHCP</a:t>
            </a:r>
            <a:r>
              <a:rPr lang="zh-CN" altLang="en-US"/>
              <a:t>服务</a:t>
            </a:r>
            <a:endParaRPr lang="zh-CN" altLang="en-US"/>
          </a:p>
        </p:txBody>
      </p:sp>
      <p:pic>
        <p:nvPicPr>
          <p:cNvPr id="3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98" y="1968925"/>
            <a:ext cx="5360247" cy="369400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881189" y="1529872"/>
            <a:ext cx="5897759" cy="4929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租约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指定客户端动态获取的网络参数的生效时间；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通常，网段中的设备若都是移动设备，建议将租约设置短一些；</a:t>
            </a:r>
            <a:endParaRPr lang="en-US" altLang="zh-CN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如果网段中的设备均为固定设备，那么租约可以设置长一些；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默认情况下，租约为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天，适合办公环境。</a:t>
            </a:r>
            <a:endParaRPr lang="en-US" altLang="zh-CN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此时，我们可以设置为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小时。公众场合比如机场车站设置为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小时即可。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配置</a:t>
            </a:r>
            <a:r>
              <a:rPr lang="en-US" altLang="zh-CN"/>
              <a:t>DHCP</a:t>
            </a:r>
            <a:r>
              <a:rPr lang="zh-CN" altLang="en-US"/>
              <a:t>服务</a:t>
            </a:r>
            <a:endParaRPr lang="zh-CN" altLang="en-US"/>
          </a:p>
        </p:txBody>
      </p:sp>
      <p:pic>
        <p:nvPicPr>
          <p:cNvPr id="3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145" y="2802045"/>
            <a:ext cx="5360247" cy="335195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53666" y="1437518"/>
            <a:ext cx="10942320" cy="891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配置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选项：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DHCP选项是指除了IP地址、子网掩码的网络参数，如网关、DNS服务器地址、WINS服务器地址 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395" y="2753360"/>
            <a:ext cx="4803140" cy="38773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1615" y="638651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 i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网关</a:t>
            </a:r>
            <a:r>
              <a:rPr lang="zh-CN" altLang="en-US" sz="2000" b="0" i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非常重要，这是客户端能上外网的关键</a:t>
            </a:r>
            <a:endParaRPr lang="zh-CN" altLang="en-US" sz="2000" b="0" i="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配置</a:t>
            </a:r>
            <a:r>
              <a:rPr lang="en-US" altLang="zh-CN"/>
              <a:t>DHCP</a:t>
            </a:r>
            <a:r>
              <a:rPr lang="zh-CN" altLang="en-US"/>
              <a:t>服务</a:t>
            </a:r>
            <a:endParaRPr lang="zh-CN" altLang="en-US"/>
          </a:p>
        </p:txBody>
      </p:sp>
      <p:pic>
        <p:nvPicPr>
          <p:cNvPr id="4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098" y="4006042"/>
            <a:ext cx="5360247" cy="23469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170507" y="1468967"/>
            <a:ext cx="6021493" cy="2449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设置域名与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服务器，在父域文本框中输入域名，则客户端在获得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地址的同时，也会获得域名，域名与计算机名共同构成了计算机的全名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配置好各项网络参数后，选择“激活作用域“ 使作用域生效，能为客户端分配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8241" y="1205294"/>
            <a:ext cx="5897759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服务器：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默认此时的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地址是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win2019-1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，我们还可以添加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8.8.8.8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（全球通用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地址） ；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114.114.114.114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（全国通用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地址）输入之后点击添加，才会添加进去。强调：这是客户端能解析域名的关键！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​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" y="3215640"/>
            <a:ext cx="43129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作用域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8274473" y="3030221"/>
            <a:ext cx="3775393" cy="164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建好的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作用域如下图所示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在地址租用选项卡中，可以查看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已经分配给客户端的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953"/>
          <a:stretch>
            <a:fillRect/>
          </a:stretch>
        </p:blipFill>
        <p:spPr>
          <a:xfrm>
            <a:off x="202565" y="1769110"/>
            <a:ext cx="7920355" cy="41357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110567" y="5213111"/>
            <a:ext cx="9370423" cy="46721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楷体" panose="02010609060101010101" pitchFamily="49" charset="-122"/>
              </a:rPr>
              <a:t> </a:t>
            </a:r>
            <a:endParaRPr lang="en-US" altLang="zh-CN" dirty="0"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110566" y="4633003"/>
            <a:ext cx="9370423" cy="1166213"/>
          </a:xfrm>
        </p:spPr>
        <p:txBody>
          <a:bodyPr/>
          <a:lstStyle/>
          <a:p>
            <a:r>
              <a:rPr lang="en-US" altLang="zh-CN" dirty="0">
                <a:latin typeface="+mn-lt"/>
              </a:rPr>
              <a:t>4.3 DHCP</a:t>
            </a:r>
            <a:r>
              <a:rPr lang="zh-CN" altLang="en-US" dirty="0">
                <a:latin typeface="+mn-lt"/>
              </a:rPr>
              <a:t>客户端获取动态</a:t>
            </a:r>
            <a:r>
              <a:rPr lang="en-US" altLang="zh-CN" dirty="0">
                <a:latin typeface="+mn-lt"/>
              </a:rPr>
              <a:t>IP</a:t>
            </a:r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客户端自动获取</a:t>
            </a:r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8801" y="1419225"/>
            <a:ext cx="11056060" cy="1144866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win7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当作客户端，首先把网络适配器连接为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模式；</a:t>
            </a:r>
            <a:endParaRPr lang="zh-CN" altLang="en-US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8066" y="2067534"/>
            <a:ext cx="6995867" cy="46194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配置</a:t>
            </a:r>
            <a:r>
              <a:rPr lang="en-US" altLang="zh-CN" dirty="0"/>
              <a:t>DHCP</a:t>
            </a:r>
            <a:r>
              <a:rPr lang="zh-CN" altLang="en-US" dirty="0"/>
              <a:t>客户端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12234" y="1152102"/>
            <a:ext cx="11177003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客户端：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能上网的设备都可以是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客户端，包括了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系统、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系统、平板电脑、手机等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在本例中，使用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作为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客户端，讲解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客户端的配置方法，以获取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地址。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20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7990" y="2443692"/>
            <a:ext cx="3356187" cy="41935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512234" y="3485727"/>
            <a:ext cx="6871970" cy="2091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在客户端（这里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win7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）中，打开网络和共享中心，设置网卡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auto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TCP/IP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属性设置为“自动获得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地址”；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服务器还提供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选项等，那么在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客户端上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也把“自动获得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服务器地址”选项勾选；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查看客户端自动获取</a:t>
            </a:r>
            <a:r>
              <a:rPr lang="en-US" altLang="zh-CN" dirty="0"/>
              <a:t>IP</a:t>
            </a:r>
            <a:r>
              <a:rPr lang="zh-CN" altLang="en-US" dirty="0"/>
              <a:t>是否生效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3339" y="2371332"/>
            <a:ext cx="6411265" cy="234207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右键桌面网络图标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属性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—Ethernet0—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详细信息；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左图可见，自动获取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，地址从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开始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" y="1154430"/>
            <a:ext cx="4169410" cy="49314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也可用命令行操作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0" y="1378984"/>
            <a:ext cx="11459210" cy="5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win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系统中，在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CMD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命令提示符界面下，可通过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ipconfig 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命令查看当前主机的网络配置信息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90" y="1989455"/>
            <a:ext cx="6390005" cy="357568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也可用命令行操作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36633" y="1091468"/>
            <a:ext cx="6848475" cy="97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系统中，在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CMD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命令提示符界面下</a:t>
            </a:r>
            <a:endParaRPr lang="en-US" altLang="zh-CN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可通过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ipconfig /all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命令查看当前主机的网络配置信息；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2251710"/>
            <a:ext cx="5412740" cy="416496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命令行操作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41961" y="1492673"/>
            <a:ext cx="8592417" cy="925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CMD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命令提示符下，可通过命令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ipconfig /release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释放主机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地址；</a:t>
            </a:r>
            <a:endParaRPr lang="en-US" altLang="zh-CN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可通过命令 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ipconfig /renew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命令重新获取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地址。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20" y="2946400"/>
            <a:ext cx="5612765" cy="31508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0" y="3209290"/>
            <a:ext cx="6033770" cy="2454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12585" y="6077902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思考：重新申请以后，客户端获得的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地址是否一定与刚才不同？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地址租用信息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2388" y="4440764"/>
            <a:ext cx="10963174" cy="2342070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一旦客户机获得了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地址，将在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服务器上出现该客户端地址租用信息；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如图：在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win2019-1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中工具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列出了客户端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地址、计算机名称、租用截止日期等信息；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523" r="18428" b="55576"/>
          <a:stretch>
            <a:fillRect/>
          </a:stretch>
        </p:blipFill>
        <p:spPr>
          <a:xfrm>
            <a:off x="1370965" y="1293495"/>
            <a:ext cx="9958705" cy="31470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备用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32" y="2536072"/>
            <a:ext cx="6102484" cy="256632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67518" y="2323585"/>
            <a:ext cx="5607625" cy="31258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如果DHCP客户端无法从DHCP服务器获取IP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地址，则每隔5分钟会重试获取IP；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auto">
              <a:lnSpc>
                <a:spcPct val="130000"/>
              </a:lnSpc>
            </a:pP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在未获得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地址之前，可以为客户端设置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备用的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地址；</a:t>
            </a: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auto">
              <a:lnSpc>
                <a:spcPct val="130000"/>
              </a:lnSpc>
            </a:pPr>
            <a:endParaRPr lang="zh-CN" altLang="en-US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auto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点击“备用配置”选项卡设置。</a:t>
            </a:r>
            <a:endParaRPr lang="en-US" altLang="zh-CN" sz="2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2165" y="1483995"/>
            <a:ext cx="1103122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如果</a:t>
            </a:r>
            <a:r>
              <a:rPr lang="en-US" altLang="zh-CN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DHCP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服务器突然发生故障，客户端无法获得</a:t>
            </a:r>
            <a:r>
              <a:rPr lang="en-US" altLang="zh-CN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IP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地址，会出现什么情况？</a:t>
            </a:r>
            <a:endParaRPr lang="zh-CN" altLang="en-US" sz="2400" b="1">
              <a:solidFill>
                <a:srgbClr val="FF0000"/>
              </a:solidFill>
              <a:uFillTx/>
              <a:latin typeface="Times New Roman" panose="02020603050405020304" pitchFamily="18" charset="0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3320" y="3133090"/>
            <a:ext cx="5766435" cy="33712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地址保留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496" y="997448"/>
            <a:ext cx="11710504" cy="4863104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地址保留：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如果某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客户端有特殊的需求，可以让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服务器为它分配固定的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地址。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以为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保留</a:t>
            </a:r>
            <a:r>
              <a:rPr lang="en-US" altLang="zh-CN" sz="24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为例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方法：在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中查看想保留地址的计算机的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地址：输入命令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ipconfig /all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56250" y="109823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客户端自动获取，服务器指定地址。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地址保留</a:t>
            </a:r>
            <a:endParaRPr lang="zh-CN" altLang="en-US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7262936" y="1310919"/>
            <a:ext cx="4121426" cy="4863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505" indent="-357505" algn="just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u"/>
              <a:defRPr lang="zh-CN" altLang="en-US" sz="3200" kern="1200" baseline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357505" indent="-357505" algn="just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2135" kern="1200" baseline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win2019-1 DHCP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服务器中：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保留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新建保留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win2019-2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网卡地址（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地址）和保留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点击添加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485" y="1394460"/>
            <a:ext cx="4980940" cy="505333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6344006" y="1580515"/>
            <a:ext cx="4121426" cy="4863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505" indent="-357505" algn="just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u"/>
              <a:defRPr lang="zh-CN" altLang="en-US" sz="3200" kern="1200" baseline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357505" indent="-357505" algn="just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2135" kern="1200" baseline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win2019-2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中查看网络状态：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可以看到地址自动更换为新保留的地址。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" y="1788160"/>
            <a:ext cx="6036310" cy="29610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新建筛选器：拒绝客户端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9951" y="2445523"/>
            <a:ext cx="7034910" cy="4922656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步骤：新建筛选器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win7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在筛选器拒绝选项鼠标右键</a:t>
            </a:r>
            <a:r>
              <a:rPr lang="zh-CN" altLang="en-US" sz="2400" b="1" u="sng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点击启用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如下图可见：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win7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不可重新获得地址。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-819" r="29242"/>
          <a:stretch>
            <a:fillRect/>
          </a:stretch>
        </p:blipFill>
        <p:spPr>
          <a:xfrm>
            <a:off x="437515" y="2445385"/>
            <a:ext cx="3847465" cy="4219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220" y="4667250"/>
            <a:ext cx="5594985" cy="19977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98345" y="1266190"/>
            <a:ext cx="853186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如果网络管理员希望阻止某一台指定设备通过本</a:t>
            </a:r>
            <a:r>
              <a:rPr lang="en-US" altLang="zh-CN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DHCP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服务器获取地址，应该怎么办？</a:t>
            </a:r>
            <a:endParaRPr lang="zh-CN" altLang="en-US" sz="2400" b="1">
              <a:solidFill>
                <a:srgbClr val="FF0000"/>
              </a:solidFill>
              <a:uFillTx/>
              <a:latin typeface="Times New Roman" panose="02020603050405020304" pitchFamily="18" charset="0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新建筛选器</a:t>
            </a:r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4579951" y="1359673"/>
            <a:ext cx="7034910" cy="4922656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步骤：在拒绝选项中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移动以允许，则可以在筛选器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允许选项中看见；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此时同样鼠标右键允许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启动，则可重新为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分配地址。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435" y="1233170"/>
            <a:ext cx="4149090" cy="3295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b="39876"/>
          <a:stretch>
            <a:fillRect/>
          </a:stretch>
        </p:blipFill>
        <p:spPr>
          <a:xfrm>
            <a:off x="4815205" y="3295650"/>
            <a:ext cx="5899785" cy="2882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管理</a:t>
            </a:r>
            <a:r>
              <a:rPr lang="en-US" altLang="zh-CN"/>
              <a:t>DHCP</a:t>
            </a:r>
            <a:r>
              <a:rPr lang="zh-CN" altLang="en-US"/>
              <a:t>服务器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70" y="1202055"/>
            <a:ext cx="6139815" cy="3831590"/>
          </a:xfrm>
          <a:prstGeom prst="rect">
            <a:avLst/>
          </a:prstGeom>
        </p:spPr>
      </p:pic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514985" y="5288280"/>
            <a:ext cx="7035165" cy="2408555"/>
          </a:xfrm>
        </p:spPr>
        <p:txBody>
          <a:bodyPr>
            <a:normAutofit/>
          </a:bodyPr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可以暂停、启动、停止、重启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WU4N2FjOGY1MzJhYmVhYmMzOTI1ZGNlNzFlMDI2NzgifQ=="/>
</p:tagLst>
</file>

<file path=ppt/theme/theme1.xml><?xml version="1.0" encoding="utf-8"?>
<a:theme xmlns:a="http://schemas.openxmlformats.org/drawingml/2006/main" name="5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40530A99PPBG">
  <a:themeElements>
    <a:clrScheme name="自定义 470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358CC1"/>
      </a:accent1>
      <a:accent2>
        <a:srgbClr val="2D9C9F"/>
      </a:accent2>
      <a:accent3>
        <a:srgbClr val="76C8A3"/>
      </a:accent3>
      <a:accent4>
        <a:srgbClr val="84ADE4"/>
      </a:accent4>
      <a:accent5>
        <a:srgbClr val="C00000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36">
      <a:majorFont>
        <a:latin typeface="Arial"/>
        <a:ea typeface="华文中宋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A000120140530A99PPBG">
  <a:themeElements>
    <a:clrScheme name="自定义 470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358CC1"/>
      </a:accent1>
      <a:accent2>
        <a:srgbClr val="2D9C9F"/>
      </a:accent2>
      <a:accent3>
        <a:srgbClr val="76C8A3"/>
      </a:accent3>
      <a:accent4>
        <a:srgbClr val="84ADE4"/>
      </a:accent4>
      <a:accent5>
        <a:srgbClr val="C00000"/>
      </a:accent5>
      <a:accent6>
        <a:srgbClr val="FFC000"/>
      </a:accent6>
      <a:hlink>
        <a:srgbClr val="00B0F0"/>
      </a:hlink>
      <a:folHlink>
        <a:srgbClr val="AFB2B4"/>
      </a:folHlink>
    </a:clrScheme>
    <a:fontScheme name="new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4173</Words>
  <Application>WPS 演示</Application>
  <PresentationFormat>宽屏</PresentationFormat>
  <Paragraphs>340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42</vt:i4>
      </vt:variant>
    </vt:vector>
  </HeadingPairs>
  <TitlesOfParts>
    <vt:vector size="62" baseType="lpstr">
      <vt:lpstr>Arial</vt:lpstr>
      <vt:lpstr>宋体</vt:lpstr>
      <vt:lpstr>Wingdings</vt:lpstr>
      <vt:lpstr>等线</vt:lpstr>
      <vt:lpstr>Times New Roman</vt:lpstr>
      <vt:lpstr>楷体</vt:lpstr>
      <vt:lpstr>微软雅黑</vt:lpstr>
      <vt:lpstr>Arial Unicode MS</vt:lpstr>
      <vt:lpstr>等线 Light</vt:lpstr>
      <vt:lpstr>Calibri</vt:lpstr>
      <vt:lpstr>幼圆</vt:lpstr>
      <vt:lpstr>华文中宋</vt:lpstr>
      <vt:lpstr>幼圆</vt:lpstr>
      <vt:lpstr>方正幼线_GBK</vt:lpstr>
      <vt:lpstr>黑体</vt:lpstr>
      <vt:lpstr>5_Office 主题​​</vt:lpstr>
      <vt:lpstr>1_Office 主题​​</vt:lpstr>
      <vt:lpstr>2_Office 主题​​</vt:lpstr>
      <vt:lpstr>A000120140530A99PPBG</vt:lpstr>
      <vt:lpstr>1_A000120140530A99PPBG</vt:lpstr>
      <vt:lpstr>4.1 DHCP基础理论与核心原理</vt:lpstr>
      <vt:lpstr>4.1 DHCP基础理论与核心原理</vt:lpstr>
      <vt:lpstr>PowerPoint 演示文稿</vt:lpstr>
      <vt:lpstr>PowerPoint 演示文稿</vt:lpstr>
      <vt:lpstr>DHCP应用场景</vt:lpstr>
      <vt:lpstr>PowerPoint 演示文稿</vt:lpstr>
      <vt:lpstr>PowerPoint 演示文稿</vt:lpstr>
      <vt:lpstr>4.2 DHCP服务器部署与配置实战</vt:lpstr>
      <vt:lpstr>PowerPoint 演示文稿</vt:lpstr>
      <vt:lpstr>网络准备和规划</vt:lpstr>
      <vt:lpstr>1、虚拟网络编辑器NAT模式</vt:lpstr>
      <vt:lpstr>安装DHCP服务器</vt:lpstr>
      <vt:lpstr>安装DHCP服务器</vt:lpstr>
      <vt:lpstr>安装DHCP服务器</vt:lpstr>
      <vt:lpstr>2、安装DHCP服务器</vt:lpstr>
      <vt:lpstr>安装DHCP服务器</vt:lpstr>
      <vt:lpstr>安装DHCP服务器</vt:lpstr>
      <vt:lpstr>安装DHCP服务器</vt:lpstr>
      <vt:lpstr>安装DHCP服务器</vt:lpstr>
      <vt:lpstr>管理DHCP服务</vt:lpstr>
      <vt:lpstr>创建IPV4作用域</vt:lpstr>
      <vt:lpstr>配置DHCP服务</vt:lpstr>
      <vt:lpstr>配置DHCP服务</vt:lpstr>
      <vt:lpstr>配置DHCP服务</vt:lpstr>
      <vt:lpstr>配置DHCP服务</vt:lpstr>
      <vt:lpstr>配置DHCP服务</vt:lpstr>
      <vt:lpstr>作用域</vt:lpstr>
      <vt:lpstr>4.3 DHCP客户端获取动态IP</vt:lpstr>
      <vt:lpstr>客户端自动获取IP</vt:lpstr>
      <vt:lpstr>配置DHCP客户端</vt:lpstr>
      <vt:lpstr>查看客户端自动获取IP是否生效</vt:lpstr>
      <vt:lpstr>也可用命令行操作</vt:lpstr>
      <vt:lpstr>也可用命令行操作</vt:lpstr>
      <vt:lpstr>命令行操作</vt:lpstr>
      <vt:lpstr>地址租用信息</vt:lpstr>
      <vt:lpstr>备用IP地址</vt:lpstr>
      <vt:lpstr>地址保留</vt:lpstr>
      <vt:lpstr>地址保留</vt:lpstr>
      <vt:lpstr>PowerPoint 演示文稿</vt:lpstr>
      <vt:lpstr>新建筛选器</vt:lpstr>
      <vt:lpstr>新建筛选器</vt:lpstr>
      <vt:lpstr>管理DHCP服务器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wangshiyu</dc:creator>
  <cp:lastModifiedBy>陶磊</cp:lastModifiedBy>
  <cp:revision>250</cp:revision>
  <dcterms:created xsi:type="dcterms:W3CDTF">2022-06-14T04:22:00Z</dcterms:created>
  <dcterms:modified xsi:type="dcterms:W3CDTF">2026-10-08T04:38:25Z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1D1B79D9BDF34E8C8AE629CC462D407F_13</vt:lpwstr>
  </property>
  <property fmtid="{D5CDD505-2E9C-101B-9397-08002B2CF9AE}" pid="3" name="KSOProductBuildVer">
    <vt:lpwstr>2052-12.1.0.28043</vt:lpwstr>
  </property>
</Properties>
</file>