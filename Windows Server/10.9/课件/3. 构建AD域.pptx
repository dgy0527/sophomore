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4" r:id="rId4"/>
    <p:sldMasterId id="2147483657" r:id="rId5"/>
  </p:sldMasterIdLst>
  <p:notesMasterIdLst>
    <p:notesMasterId r:id="rId9"/>
  </p:notesMasterIdLst>
  <p:sldIdLst>
    <p:sldId id="309" r:id="rId6"/>
    <p:sldId id="256" r:id="rId7"/>
    <p:sldId id="293" r:id="rId8"/>
    <p:sldId id="294" r:id="rId10"/>
    <p:sldId id="305" r:id="rId11"/>
    <p:sldId id="295" r:id="rId12"/>
    <p:sldId id="306" r:id="rId13"/>
    <p:sldId id="307" r:id="rId14"/>
    <p:sldId id="308" r:id="rId15"/>
    <p:sldId id="310" r:id="rId16"/>
    <p:sldId id="311" r:id="rId17"/>
    <p:sldId id="312" r:id="rId18"/>
    <p:sldId id="313" r:id="rId19"/>
    <p:sldId id="314" r:id="rId20"/>
    <p:sldId id="315" r:id="rId21"/>
    <p:sldId id="316" r:id="rId22"/>
    <p:sldId id="317" r:id="rId23"/>
    <p:sldId id="318" r:id="rId24"/>
    <p:sldId id="319" r:id="rId25"/>
    <p:sldId id="344" r:id="rId26"/>
    <p:sldId id="345" r:id="rId27"/>
    <p:sldId id="320" r:id="rId28"/>
    <p:sldId id="321" r:id="rId29"/>
    <p:sldId id="322" r:id="rId30"/>
    <p:sldId id="323" r:id="rId31"/>
    <p:sldId id="324" r:id="rId32"/>
    <p:sldId id="325" r:id="rId33"/>
    <p:sldId id="326" r:id="rId34"/>
    <p:sldId id="327" r:id="rId35"/>
    <p:sldId id="328" r:id="rId36"/>
    <p:sldId id="329" r:id="rId37"/>
    <p:sldId id="330" r:id="rId38"/>
    <p:sldId id="331" r:id="rId39"/>
    <p:sldId id="332" r:id="rId40"/>
    <p:sldId id="333" r:id="rId41"/>
    <p:sldId id="334" r:id="rId42"/>
    <p:sldId id="335" r:id="rId43"/>
    <p:sldId id="336" r:id="rId44"/>
    <p:sldId id="337" r:id="rId45"/>
    <p:sldId id="338" r:id="rId46"/>
    <p:sldId id="339" r:id="rId47"/>
    <p:sldId id="346" r:id="rId48"/>
    <p:sldId id="347" r:id="rId49"/>
    <p:sldId id="340" r:id="rId50"/>
    <p:sldId id="341" r:id="rId51"/>
    <p:sldId id="342" r:id="rId52"/>
    <p:sldId id="343" r:id="rId53"/>
  </p:sldIdLst>
  <p:sldSz cx="12192000" cy="6858000"/>
  <p:notesSz cx="6858000" cy="9144000"/>
  <p:custDataLst>
    <p:tags r:id="rId57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howGuides="1">
      <p:cViewPr varScale="1">
        <p:scale>
          <a:sx n="68" d="100"/>
          <a:sy n="68" d="100"/>
        </p:scale>
        <p:origin x="592" y="60"/>
      </p:cViewPr>
      <p:guideLst>
        <p:guide orient="horz" pos="2160"/>
        <p:guide pos="2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7" Type="http://schemas.openxmlformats.org/officeDocument/2006/relationships/tags" Target="tags/tag1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网络里面每一台计算机都是独立的。</a:t>
            </a:r>
            <a:endParaRPr lang="zh-CN" altLang="en-US"/>
          </a:p>
          <a:p>
            <a:r>
              <a:rPr lang="zh-CN" altLang="en-US"/>
              <a:t>每台电脑自己保存用户账号，自己管理自己的资源，也自己决定哪些用户可以访问。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例如我现在想要求全公司所有电脑密码最少8位，或者统一禁止使用某个功能。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>
                <a:solidFill>
                  <a:srgbClr val="FF0000"/>
                </a:solidFill>
                <a:ea typeface="+mj-ea"/>
                <a:sym typeface="+mn-ea"/>
              </a:rPr>
              <a:t>网段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8579A-E82F-4FDF-A4F4-620B08C70D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8579A-E82F-4FDF-A4F4-620B08C70D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8579A-E82F-4FDF-A4F4-620B08C70D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sym typeface="+mn-ea"/>
              </a:rPr>
              <a:t>活动目录数据库：</a:t>
            </a:r>
            <a:r>
              <a:rPr lang="zh-CN" altLang="en-US"/>
              <a:t>存储和管理网络中所有对象的信息，包括用户账户、计算机、组织单元（</a:t>
            </a:r>
            <a:r>
              <a:rPr lang="en-US" altLang="zh-CN"/>
              <a:t>OU）、</a:t>
            </a:r>
            <a:r>
              <a:rPr lang="zh-CN" altLang="en-US"/>
              <a:t>组、安全策略等。</a:t>
            </a:r>
            <a:endParaRPr lang="zh-CN" altLang="en-US"/>
          </a:p>
          <a:p>
            <a:r>
              <a:rPr lang="en-US" altLang="zh-CN"/>
              <a:t>SYSVOL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负责“分发”组策略和脚本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以前我们登录的是这台计算机的本地</a:t>
            </a:r>
            <a:r>
              <a:rPr lang="en-US" altLang="zh-CN"/>
              <a:t>Administrator。</a:t>
            </a:r>
            <a:endParaRPr lang="en-US" altLang="zh-CN"/>
          </a:p>
          <a:p>
            <a:r>
              <a:rPr lang="zh-CN" altLang="en-US"/>
              <a:t>现在这台机器已经属于</a:t>
            </a:r>
            <a:r>
              <a:rPr lang="en-US" altLang="zh-CN"/>
              <a:t>abc.com</a:t>
            </a:r>
            <a:r>
              <a:rPr lang="zh-CN" altLang="en-US"/>
              <a:t>域，而且</a:t>
            </a:r>
            <a:r>
              <a:rPr lang="en-US" altLang="zh-CN"/>
              <a:t>Administrator</a:t>
            </a:r>
            <a:r>
              <a:rPr lang="zh-CN" altLang="en-US"/>
              <a:t>已经可以作为域管理员使用。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要求输入有权限加入域的账号和密码：这里可以使用</a:t>
            </a:r>
            <a:r>
              <a:rPr lang="zh-CN" altLang="en-US">
                <a:highlight>
                  <a:srgbClr val="FFFF00"/>
                </a:highlight>
              </a:rPr>
              <a:t>域管理员账号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93668" y="1625601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F65620F0-0C3B-4117-AEC4-4415F425266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0FE96D65-07B6-4C68-97D1-5567111C622A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8"/>
          <p:cNvPicPr>
            <a:picLocks noChangeAspect="1"/>
          </p:cNvPicPr>
          <p:nvPr/>
        </p:nvPicPr>
        <p:blipFill>
          <a:blip r:embed="rId2"/>
          <a:srcRect t="9245" r="9245" b="1143"/>
          <a:stretch>
            <a:fillRect/>
          </a:stretch>
        </p:blipFill>
        <p:spPr>
          <a:xfrm>
            <a:off x="0" y="-3175"/>
            <a:ext cx="12187238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1393371" y="5703305"/>
            <a:ext cx="9370423" cy="467211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2135">
                <a:solidFill>
                  <a:schemeClr val="accent1">
                    <a:lumMod val="50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z="2135" strike="noStrike" noProof="1" dirty="0"/>
              <a:t>单击此处添加您的副标题</a:t>
            </a:r>
            <a:endParaRPr lang="zh-CN" altLang="en-US" strike="noStrike" noProof="1" dirty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1393371" y="4512675"/>
            <a:ext cx="9370423" cy="116621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265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fontAlgn="auto"/>
            <a:r>
              <a:rPr lang="zh-CN" altLang="en-US" sz="4265" strike="noStrike" noProof="1" dirty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93668" y="1625601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F65620F0-0C3B-4117-AEC4-4415F425266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0FE96D65-07B6-4C68-97D1-5567111C622A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8"/>
          <p:cNvPicPr>
            <a:picLocks noChangeAspect="1"/>
          </p:cNvPicPr>
          <p:nvPr/>
        </p:nvPicPr>
        <p:blipFill>
          <a:blip r:embed="rId2"/>
          <a:srcRect t="9245" r="9245" b="1143"/>
          <a:stretch>
            <a:fillRect/>
          </a:stretch>
        </p:blipFill>
        <p:spPr>
          <a:xfrm>
            <a:off x="0" y="-3175"/>
            <a:ext cx="12187238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1393371" y="5703305"/>
            <a:ext cx="9370423" cy="467211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2135">
                <a:solidFill>
                  <a:schemeClr val="accent1">
                    <a:lumMod val="50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z="2135" strike="noStrike" noProof="1" dirty="0"/>
              <a:t>单击此处添加您的副标题</a:t>
            </a:r>
            <a:endParaRPr lang="zh-CN" altLang="en-US" strike="noStrike" noProof="1" dirty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1393371" y="4512675"/>
            <a:ext cx="9370423" cy="116621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265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fontAlgn="auto"/>
            <a:r>
              <a:rPr lang="zh-CN" altLang="en-US" sz="4265" strike="noStrike" noProof="1" dirty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93668" y="1625601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F65620F0-0C3B-4117-AEC4-4415F425266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0FE96D65-07B6-4C68-97D1-5567111C622A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8"/>
          <p:cNvPicPr>
            <a:picLocks noChangeAspect="1"/>
          </p:cNvPicPr>
          <p:nvPr/>
        </p:nvPicPr>
        <p:blipFill>
          <a:blip r:embed="rId2"/>
          <a:srcRect t="9245" r="9245" b="1143"/>
          <a:stretch>
            <a:fillRect/>
          </a:stretch>
        </p:blipFill>
        <p:spPr>
          <a:xfrm>
            <a:off x="0" y="-3175"/>
            <a:ext cx="12187238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1393371" y="5703305"/>
            <a:ext cx="9370423" cy="467211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2135">
                <a:solidFill>
                  <a:schemeClr val="accent1">
                    <a:lumMod val="50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z="2135" strike="noStrike" noProof="1" dirty="0"/>
              <a:t>单击此处添加您的副标题</a:t>
            </a:r>
            <a:endParaRPr lang="zh-CN" altLang="en-US" strike="noStrike" noProof="1" dirty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1393371" y="4512675"/>
            <a:ext cx="9370423" cy="116621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265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fontAlgn="auto"/>
            <a:r>
              <a:rPr lang="zh-CN" altLang="en-US" sz="4265" strike="noStrike" noProof="1" dirty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46" r="9246" b="1143"/>
          <a:stretch>
            <a:fillRect/>
          </a:stretch>
        </p:blipFill>
        <p:spPr>
          <a:xfrm>
            <a:off x="-172" y="-2449"/>
            <a:ext cx="12186807" cy="6860449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1393371" y="5703305"/>
            <a:ext cx="9370423" cy="467211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2135">
                <a:solidFill>
                  <a:schemeClr val="accent1">
                    <a:lumMod val="50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单击此处添加您的副标题</a:t>
            </a:r>
            <a:endParaRPr lang="zh-CN" altLang="en-US" dirty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1393371" y="4512675"/>
            <a:ext cx="9370423" cy="116621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265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单击此处添加您的标题文字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2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  <a:lvl2pPr>
              <a:defRPr sz="2135"/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98676" y="2108201"/>
            <a:ext cx="7994651" cy="1235075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4050896" y="3400424"/>
            <a:ext cx="4090217" cy="357479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399823" y="1244603"/>
            <a:ext cx="5080000" cy="4932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6519335" y="1244603"/>
            <a:ext cx="5094116" cy="4932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2302932" y="118532"/>
            <a:ext cx="9312101" cy="71702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6" y="13763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6" y="22002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9" y="13763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9" y="22002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EFEFF0"/>
              </a:gs>
              <a:gs pos="100000">
                <a:srgbClr val="F7F7F8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400"/>
          </a:p>
        </p:txBody>
      </p:sp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44591" y="53340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5487989" y="1063632"/>
            <a:ext cx="617220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144591" y="213360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246192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5442833" y="987429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246192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93" y="365126"/>
            <a:ext cx="1182511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2113843" y="365126"/>
            <a:ext cx="7933269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3" Type="http://schemas.openxmlformats.org/officeDocument/2006/relationships/theme" Target="../theme/theme4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dirty="0"/>
              <a:t>单</a:t>
            </a:r>
            <a:endParaRPr lang="en-US" altLang="zh-CN" dirty="0"/>
          </a:p>
          <a:p>
            <a:pPr lvl="0"/>
            <a:r>
              <a:rPr lang="zh-CN" altLang="en-US" dirty="0"/>
              <a:t>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F65620F0-0C3B-4117-AEC4-4415F425266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FE96D65-07B6-4C68-97D1-5567111C622A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927100"/>
            <a:ext cx="121920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0" y="238125"/>
            <a:ext cx="542925" cy="68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050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dirty="0"/>
              <a:t>单</a:t>
            </a:r>
            <a:endParaRPr lang="en-US" altLang="zh-CN" dirty="0"/>
          </a:p>
          <a:p>
            <a:pPr lvl="0"/>
            <a:r>
              <a:rPr lang="zh-CN" altLang="en-US" dirty="0"/>
              <a:t>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F65620F0-0C3B-4117-AEC4-4415F425266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FE96D65-07B6-4C68-97D1-5567111C622A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927100"/>
            <a:ext cx="121920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0" y="238125"/>
            <a:ext cx="542925" cy="68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dirty="0"/>
              <a:t>单</a:t>
            </a:r>
            <a:endParaRPr lang="en-US" altLang="zh-CN" dirty="0"/>
          </a:p>
          <a:p>
            <a:pPr lvl="0"/>
            <a:r>
              <a:rPr lang="zh-CN" altLang="en-US" dirty="0"/>
              <a:t>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F65620F0-0C3B-4117-AEC4-4415F425266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FE96D65-07B6-4C68-97D1-5567111C622A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927100"/>
            <a:ext cx="121920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0" y="238125"/>
            <a:ext cx="542925" cy="68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" b="1737"/>
          <a:stretch>
            <a:fillRect/>
          </a:stretch>
        </p:blipFill>
        <p:spPr>
          <a:xfrm>
            <a:off x="-1" y="1669"/>
            <a:ext cx="12192172" cy="6856331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26309" y="1670"/>
            <a:ext cx="9509760" cy="7385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558801" y="1419225"/>
            <a:ext cx="11056060" cy="4863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265" b="1" i="0" kern="1200" baseline="0">
          <a:solidFill>
            <a:schemeClr val="bg1"/>
          </a:solidFill>
          <a:effectLst/>
          <a:latin typeface="楷体" panose="02010609060101010101" pitchFamily="49" charset="-122"/>
          <a:ea typeface="楷体" panose="02010609060101010101" pitchFamily="49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accent1"/>
        </a:buClr>
        <a:buSzPct val="60000"/>
        <a:buFont typeface="Wingdings" panose="05000000000000000000" pitchFamily="2" charset="2"/>
        <a:buChar char="u"/>
        <a:defRPr lang="zh-CN" altLang="en-US" sz="3200" kern="1200" baseline="0" dirty="0" smtClean="0">
          <a:solidFill>
            <a:schemeClr val="accent1"/>
          </a:solidFill>
          <a:latin typeface="+mn-ea"/>
          <a:ea typeface="+mn-ea"/>
          <a:cs typeface="+mn-cs"/>
        </a:defRPr>
      </a:lvl1pPr>
      <a:lvl2pPr marL="357505" indent="-357505" algn="just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2135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0.png"/><Relationship Id="rId1" Type="http://schemas.openxmlformats.org/officeDocument/2006/relationships/hyperlink" Target="mailto:Administrator@abc.com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8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" hasCustomPrompt="1"/>
          </p:nvPr>
        </p:nvSpPr>
        <p:spPr>
          <a:xfrm>
            <a:off x="1111250" y="5628005"/>
            <a:ext cx="9369425" cy="466725"/>
          </a:xfrm>
        </p:spPr>
        <p:txBody>
          <a:bodyPr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sz="2135" b="0" i="0" u="none" strike="noStrike" kern="1200" cap="none" spc="0" normalizeH="0" baseline="0" noProof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sz="2135" b="0" i="0" u="none" strike="noStrike" kern="1200" cap="none" spc="0" normalizeH="0" baseline="0" noProof="1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>
          <a:xfrm>
            <a:off x="1111250" y="4745673"/>
            <a:ext cx="9369425" cy="1166813"/>
          </a:xfrm>
        </p:spPr>
        <p:txBody>
          <a:bodyPr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265" b="1" i="0" u="none" strike="noStrike" kern="1000" cap="none" spc="0" normalizeH="0" baseline="0" noProof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kumimoji="0" lang="zh-CN" altLang="en-US" sz="4265" b="1" i="0" u="none" strike="noStrike" kern="1000" cap="none" spc="0" normalizeH="0" baseline="0" noProof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构建</a:t>
            </a:r>
            <a:r>
              <a:rPr kumimoji="0" lang="en-US" altLang="zh-CN" sz="4265" b="1" i="0" u="none" strike="noStrike" kern="1000" cap="none" spc="0" normalizeH="0" baseline="0" noProof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AD</a:t>
            </a:r>
            <a:r>
              <a:rPr kumimoji="0" lang="zh-CN" altLang="en-US" sz="4265" b="1" i="0" u="none" strike="noStrike" kern="1000" cap="none" spc="0" normalizeH="0" baseline="0" noProof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域</a:t>
            </a:r>
            <a:endParaRPr kumimoji="0" lang="zh-CN" altLang="en-US" sz="4265" b="1" i="0" u="none" strike="noStrike" kern="1000" cap="none" spc="0" normalizeH="0" baseline="0" noProof="1" dirty="0">
              <a:solidFill>
                <a:schemeClr val="accent1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" hasCustomPrompt="1"/>
          </p:nvPr>
        </p:nvSpPr>
        <p:spPr>
          <a:xfrm>
            <a:off x="1111250" y="5628005"/>
            <a:ext cx="9369425" cy="466725"/>
          </a:xfrm>
        </p:spPr>
        <p:txBody>
          <a:bodyPr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135" b="0" i="0" u="none" strike="noStrike" kern="1200" cap="none" spc="0" normalizeH="0" baseline="0" noProof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sz="2135" b="0" i="0" u="none" strike="noStrike" kern="1200" cap="none" spc="0" normalizeH="0" baseline="0" noProof="1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>
          <a:xfrm>
            <a:off x="1410970" y="5065078"/>
            <a:ext cx="9369425" cy="1166813"/>
          </a:xfrm>
        </p:spPr>
        <p:txBody>
          <a:bodyPr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265" b="1" i="0" u="none" strike="noStrike" kern="1000" cap="none" spc="0" normalizeH="0" baseline="0" noProof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3.1 AD</a:t>
            </a:r>
            <a:r>
              <a:rPr kumimoji="0" lang="zh-CN" altLang="en-US" sz="4265" b="1" i="0" u="none" strike="noStrike" kern="1000" cap="none" spc="0" normalizeH="0" baseline="0" noProof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域理论基础</a:t>
            </a:r>
            <a:endParaRPr kumimoji="0" lang="zh-CN" altLang="en-US" sz="4265" b="1" i="0" u="none" strike="noStrike" kern="1000" cap="none" spc="0" normalizeH="0" baseline="0" noProof="1" dirty="0">
              <a:solidFill>
                <a:schemeClr val="accent1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01980" y="1380490"/>
            <a:ext cx="11128375" cy="43999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fontAlgn="base" latinLnBrk="0"/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同学们，假设三人成立了一家初创公司。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有一台服务器（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win2019-1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），存放公司最重要的财务数据。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有一台服务器（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win2019-2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），运行着公司的网站。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有一台办公电脑（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Win10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），用来日常办公。</a:t>
            </a:r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现在公司发展了，有了新需求：</a:t>
            </a:r>
            <a:endParaRPr lang="zh-CN" altLang="en-US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账号统一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：希望每个员工一个账号，就能登录自己的电脑和访问两台服务器。</a:t>
            </a:r>
            <a:endParaRPr lang="zh-CN" altLang="en-US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权限管控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：财务数据只能让财务人员看，其他人不能看。</a:t>
            </a:r>
            <a:endParaRPr lang="zh-CN" altLang="en-US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统一设置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：所有电脑的桌面背景、安全设置都要统一。</a:t>
            </a:r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如果我们用</a:t>
            </a:r>
            <a:r>
              <a:rPr lang="en-US" altLang="zh-CN" sz="2000" b="1" u="sng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Windows</a:t>
            </a:r>
            <a:r>
              <a:rPr lang="zh-CN" altLang="en-US" sz="2000" b="1" u="sng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默认的</a:t>
            </a:r>
            <a:r>
              <a:rPr lang="en-US" altLang="zh-CN" sz="2000" b="1" u="sng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000" b="1" u="sng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工作组</a:t>
            </a:r>
            <a:r>
              <a:rPr lang="en-US" altLang="zh-CN" sz="2000" b="1" u="sng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 sz="2000" b="1" u="sng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模式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，能实现吗？今天，我们就从工作组说起，认识能解决所有这些问题的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AD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域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6280" y="364173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pPr marL="0" indent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一个现实的管理难题</a:t>
            </a:r>
            <a:endParaRPr lang="zh-CN" altLang="en-US" sz="2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47955" y="1180465"/>
            <a:ext cx="11511280" cy="371475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fontAlgn="base" latinLnBrk="0"/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概念与类比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：工作组（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Workgroup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）是一种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对等网络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模式，</a:t>
            </a:r>
            <a:r>
              <a:rPr lang="zh-CN" altLang="en-US" sz="2400" b="0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网络中的每台计算机都是独立的，自己管理自己的用户账户和资源。</a:t>
            </a:r>
            <a:endParaRPr lang="zh-CN" altLang="en-US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类比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：就像一个小市场里的个体户。每家店（每台电脑）自己管自己的账（用户账户），</a:t>
            </a:r>
            <a:r>
              <a:rPr lang="zh-CN" altLang="en-US" sz="2400" b="0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自己决定谁可以进店（资源权限）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。店与店之间没有统一的管理公司。</a:t>
            </a:r>
            <a:endParaRPr lang="zh-CN" altLang="en-US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8970" y="373380"/>
            <a:ext cx="8629650" cy="9086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fontAlgn="base" latinLnBrk="0"/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什么是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工作组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模式？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48" descr="C:\Users\ADMINI~1\AppData\Local\Temp\SNAGHTML2da8a15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640" y="3848736"/>
            <a:ext cx="5431367" cy="27508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47955" y="1180465"/>
            <a:ext cx="11511280" cy="371475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fontAlgn="base" latinLnBrk="0"/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在我们的实验环境中的体现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win2019-1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：本地有一个管理员账户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Administrator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，本地有一堆用户账户（如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user1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）。</a:t>
            </a:r>
            <a:endParaRPr lang="zh-CN" altLang="en-US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win2019-2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：本地有一个管理员账户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Administrator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，本地有另一堆用户账户（如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user2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）。</a:t>
            </a:r>
            <a:endParaRPr lang="zh-CN" altLang="en-US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Win10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：本地有一个管理员账户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Administrator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，本地还有一堆用户账户。</a:t>
            </a:r>
            <a:endParaRPr lang="zh-CN" altLang="en-US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8970" y="373380"/>
            <a:ext cx="8629650" cy="9086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fontAlgn="base" latinLnBrk="0"/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什么是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工作组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模式？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7025" y="4438015"/>
            <a:ext cx="11258550" cy="10280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思考：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三台电脑里面都存在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Administrator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账号，这三个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Administrator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是否为同一个账号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?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7025" y="5593080"/>
            <a:ext cx="11258550" cy="10280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答案：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不是，因为它们分别保存在三台计算机自己的本地用户数据库里面。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用户名一样，不代表身份就是同一个。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37490" y="1380490"/>
            <a:ext cx="11128375" cy="40925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fontAlgn="base" latinLnBrk="0"/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账户分散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如果想让一个用户能访问三台电脑，需要在三台电脑上分别创建三次相同的账户和密码。如果员工有100个人、电脑有200台呢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 </a:t>
            </a:r>
            <a:endParaRPr lang="zh-CN" altLang="en-US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权限管理复杂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设置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000" b="0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张三只能访问服务器</a:t>
            </a:r>
            <a:r>
              <a:rPr lang="en-US" altLang="zh-CN" sz="2000" b="0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的某个文件夹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这样的权限，机器越来越多以后，管理员需要在不同服务器上分别配置，非常繁琐。</a:t>
            </a:r>
            <a:endParaRPr lang="zh-CN" altLang="en-US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没有集中管理工具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：无法统一设置安全策略、无法批量安装软件。管理大规模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数量的电脑就会成为噩梦。</a:t>
            </a:r>
            <a:endParaRPr lang="zh-CN" altLang="en-US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 fontAlgn="base" latinLnBrk="0"/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结论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：工作组模式适合极小型网络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（比如家庭），但完全无法满足企业的管理需求。</a:t>
            </a:r>
            <a:endParaRPr lang="zh-CN" altLang="en-US" sz="2000" b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6595" y="405765"/>
            <a:ext cx="79908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fontAlgn="base" latinLnBrk="0"/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工作组模式的痛点（核心）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37490" y="1165225"/>
            <a:ext cx="11128375" cy="53232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fontAlgn="base" latinLnBrk="0"/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概念与类比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AD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域是一种</a:t>
            </a:r>
            <a:r>
              <a:rPr lang="zh-CN" altLang="en-US" sz="2000" b="1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集中管理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的网络模式。它通过一台或多台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域控制器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服务器，来统一管理网络中的所有用户、计算机和资源。</a:t>
            </a:r>
            <a:endParaRPr lang="zh-CN" altLang="en-US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类比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：从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个体户市场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升级成了现代化大商场。商场有一个统一的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管理中心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（域控制器），所有店员（用户账户）和商铺（计算机）都在这里登记，由管理中心统一发放工牌、规定营业时间、管理安全。</a:t>
            </a:r>
            <a:endParaRPr lang="zh-CN" altLang="en-US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​2. 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关键角色与我们的实验环境对应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域控制器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：是整个域的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大脑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。在我们的实验中，我们将把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​win2019-1​ 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这台服务器升级为域控制器。</a:t>
            </a:r>
            <a:endParaRPr lang="zh-CN" altLang="en-US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域成员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：加入域的计算机。我们的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​win2019-2​ 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​Win10​ 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将作为域成员。</a:t>
            </a:r>
            <a:endParaRPr lang="zh-CN" altLang="en-US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活动目录数据库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：存储在域控制器上，像一个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总花名册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，记录了所有用户、计算机、组策略等信息。</a:t>
            </a:r>
            <a:endParaRPr lang="zh-CN" altLang="en-US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6595" y="405765"/>
            <a:ext cx="79908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fontAlgn="base" latinLnBrk="0"/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什么是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“AD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域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模式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37490" y="1002665"/>
            <a:ext cx="11829415" cy="56311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fontAlgn="base" latinLnBrk="0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​1. 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统一身份认证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0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场景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：用户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张三在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Win10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上登录。</a:t>
            </a:r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过程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Win10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不会自己验证密码，而是会问域控制器（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win2019-1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）：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这个账号密码对吗？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结果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：张三用这一个账户，就可以登录域内的任何一台电脑。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即：一个域账号可以在域内的多台计算机上使用。</a:t>
            </a:r>
            <a:endParaRPr lang="zh-CN" altLang="en-US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​2. 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集中资源管理（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组策略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​​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0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通过组策略，我们能够统一配置大量计算机。</a:t>
            </a:r>
            <a:endParaRPr lang="zh-CN" altLang="en-US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可以一键给所有域内的电脑设置统一的桌面背景、密码策略、安装指定软件。</a:t>
            </a:r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可以针对不同的部门（如财务部、销售部）设置不同的策略。</a:t>
            </a:r>
            <a:endParaRPr lang="zh-CN" altLang="en-US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​3. 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简化的权限分配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0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以前是在不同服务器上反复创建账号、反复授权。现在域用户只需要集中创建，然后根据用户或者用户组统一分配权限。</a:t>
            </a:r>
            <a:endParaRPr lang="zh-CN" altLang="en-US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在上面场景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中，只需要在域控制器上给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张三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授权一次，他就可以访问被允许的多个服务器上的资源。</a:t>
            </a:r>
            <a:endParaRPr lang="zh-CN" altLang="en-US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6595" y="405765"/>
            <a:ext cx="79908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fontAlgn="base" latinLnBrk="0"/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AD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域如何解决工作组的痛点？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​​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087995" y="1120775"/>
            <a:ext cx="2359025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 b="1">
                <a:ln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身份、权限、策略</a:t>
            </a:r>
            <a:endParaRPr lang="zh-CN" altLang="en-US" sz="2000" b="1">
              <a:ln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37490" y="1165225"/>
            <a:ext cx="11882755" cy="193802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fontAlgn="base" latinLnBrk="0"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组织单位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(organization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unit, OU)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：类似于公司的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部门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，用于对用户和计算机进行分组，便于管理。</a:t>
            </a:r>
            <a:endParaRPr lang="zh-CN" altLang="en-US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400" b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fontAlgn="base" latinLnBrk="0">
              <a:buFont typeface="Wingdings" panose="05000000000000000000" charset="0"/>
              <a:buChar char="Ø"/>
            </a:pP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(Group)​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：用户的集合。给一个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授权，组里的所有用户就都拥有了权限，极大简化管理。</a:t>
            </a:r>
            <a:endParaRPr lang="zh-CN" altLang="en-US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6595" y="405765"/>
            <a:ext cx="79908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fontAlgn="base" latinLnBrk="0"/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重要概念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930275" y="3429000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特性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0" marR="109174" marT="54746" marB="54746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工作组模式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0" marR="109174" marT="54746" marB="54746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AD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域模式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109174" marT="54746" marB="54746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​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管理方式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​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109174" marT="54746" marB="54746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分散管理，各自为政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0" marR="109174" marT="54746" marB="54746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​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集中管理，中央集权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109174" marT="54746" marB="54746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​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用户账户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​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109174" marT="54746" marB="54746">
                    <a:lnL>
                      <a:noFill/>
                    </a:lnL>
                    <a:lnR>
                      <a:noFill/>
                    </a:lnR>
                    <a:lnT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每台电脑本地存储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0" marR="109174" marT="54746" marB="54746">
                    <a:lnL>
                      <a:noFill/>
                    </a:lnL>
                    <a:lnR>
                      <a:noFill/>
                    </a:lnR>
                    <a:lnT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​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域控制器集中存储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​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109174" marT="54746" marB="54746">
                    <a:lnL>
                      <a:noFill/>
                    </a:lnL>
                    <a:lnR>
                      <a:noFill/>
                    </a:lnR>
                    <a:lnT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​​ scalability​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109174" marT="54746" marB="54746">
                    <a:lnL>
                      <a:noFill/>
                    </a:lnL>
                    <a:lnR>
                      <a:noFill/>
                    </a:lnR>
                    <a:lnT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适用于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台以下电脑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109174" marT="54746" marB="54746">
                    <a:lnL>
                      <a:noFill/>
                    </a:lnL>
                    <a:lnR>
                      <a:noFill/>
                    </a:lnR>
                    <a:lnT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支持成千上万台电脑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0" marR="109174" marT="54746" marB="54746">
                    <a:lnL>
                      <a:noFill/>
                    </a:lnL>
                    <a:lnR>
                      <a:noFill/>
                    </a:lnR>
                    <a:lnT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​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核心价值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​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109174" marT="54746" marB="54746">
                    <a:lnL>
                      <a:noFill/>
                    </a:lnL>
                    <a:lnR>
                      <a:noFill/>
                    </a:lnR>
                    <a:lnT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简单、无需服务器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0" marR="109174" marT="54746" marB="54746">
                    <a:lnL>
                      <a:noFill/>
                    </a:lnL>
                    <a:lnR>
                      <a:noFill/>
                    </a:lnR>
                    <a:lnT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​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安全、高效、可扩展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109174" marT="54746" marB="54746">
                    <a:lnL>
                      <a:noFill/>
                    </a:lnL>
                    <a:lnR>
                      <a:noFill/>
                    </a:lnR>
                    <a:lnT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18745" y="5796280"/>
            <a:ext cx="12001500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zh-CN" altLang="en-US" sz="2000" b="1" i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工作组是</a:t>
            </a:r>
            <a:r>
              <a:rPr lang="zh-CN" altLang="en-US" sz="2000" b="1" i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分散管理</a:t>
            </a:r>
            <a:r>
              <a:rPr lang="zh-CN" altLang="en-US" sz="2000" b="1" i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，域是</a:t>
            </a:r>
            <a:r>
              <a:rPr lang="zh-CN" altLang="en-US" sz="2000" b="1" i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集中管理</a:t>
            </a:r>
            <a:r>
              <a:rPr lang="zh-CN" altLang="en-US" sz="2000" b="1" i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000" b="1" i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/>
            <a:endParaRPr lang="zh-CN" altLang="en-US" sz="2000" b="1" i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/>
            <a:r>
              <a:rPr lang="zh-CN" altLang="en-US" sz="2000" b="1" i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工作组解决的是“小规模能用”的问题，而</a:t>
            </a:r>
            <a:r>
              <a:rPr lang="en-US" altLang="zh-CN" sz="2000" b="1" i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AD</a:t>
            </a:r>
            <a:r>
              <a:rPr lang="zh-CN" altLang="en-US" sz="2000" b="1" i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域解决的是“大规模好管理”的问题。</a:t>
            </a:r>
            <a:endParaRPr lang="zh-CN" altLang="en-US" sz="2000" b="1" i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54600" y="2733040"/>
            <a:ext cx="239141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工作组和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AD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域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对比</a:t>
            </a:r>
            <a:endParaRPr lang="zh-CN" altLang="en-US" sz="20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110567" y="5213111"/>
            <a:ext cx="9370423" cy="46721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楷体" panose="02010609060101010101" pitchFamily="49" charset="-122"/>
              </a:rPr>
              <a:t> </a:t>
            </a:r>
            <a:endParaRPr lang="en-US" altLang="zh-CN" dirty="0">
              <a:latin typeface="+mn-lt"/>
              <a:ea typeface="楷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185981" y="4863719"/>
            <a:ext cx="9370423" cy="1166213"/>
          </a:xfrm>
        </p:spPr>
        <p:txBody>
          <a:bodyPr/>
          <a:lstStyle/>
          <a:p>
            <a:r>
              <a:rPr lang="en-US" altLang="zh-CN" dirty="0">
                <a:latin typeface="+mn-lt"/>
              </a:rPr>
              <a:t>3.2 AD</a:t>
            </a:r>
            <a:r>
              <a:rPr lang="zh-CN" altLang="en-US" dirty="0">
                <a:latin typeface="+mn-lt"/>
              </a:rPr>
              <a:t>域实战部署</a:t>
            </a:r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设计活动目录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8771" y="1235287"/>
            <a:ext cx="11554459" cy="5367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同学们，上一节课我们认识了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“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现代化大商场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”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的管理模式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——AD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域，了解了它相比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“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个体户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”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工作组的巨大优势。今天，我们就来当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IT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管理员，完成三个核心任务：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​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搭建核心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​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：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将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 win2019-1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升级为域控制器，创建我们自己的域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abc.com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。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​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纳入管理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​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：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将另一台服务器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 win2019-2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加入到域中，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  <a:sym typeface="+mn-ea"/>
              </a:rPr>
              <a:t>并使用域用户账号登录，验证统一身份认证。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​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验证环境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​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：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将客户端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 Win10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加入到域，并使用域用户账号登录，验证统一身份认证。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6309" y="173544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 dirty="0"/>
              <a:t>安装活动目录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43087" y="1589406"/>
            <a:ext cx="11906673" cy="440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      域控制器是网络的核心，必须有一个固定的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‘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门牌号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’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（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+mj-ea"/>
              </a:rPr>
              <a:t>静态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+mj-ea"/>
              </a:rPr>
              <a:t>IP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），其他电脑才能稳定地找到它。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indent="457200" fontAlgn="auto"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  <a:sym typeface="+mn-ea"/>
              </a:rPr>
              <a:t>在域架构中，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成员服务器或者客户端想加入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abc.com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域，首先必须通过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DNS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找到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abc.com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对应的域控制器。所以大家记住一个非常重要的实验原则：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indent="457200" algn="ctr" fontAlgn="auto">
              <a:lnSpc>
                <a:spcPct val="130000"/>
              </a:lnSpc>
            </a:pPr>
            <a:r>
              <a:rPr lang="zh-CN" altLang="en-US" sz="2400" b="1" u="sng" dirty="0">
                <a:solidFill>
                  <a:srgbClr val="FF0000"/>
                </a:solidFill>
                <a:latin typeface="+mn-lt"/>
                <a:ea typeface="+mj-ea"/>
              </a:rPr>
              <a:t>域控制器</a:t>
            </a:r>
            <a:r>
              <a:rPr lang="en-US" altLang="zh-CN" sz="2400" b="1" u="sng" dirty="0">
                <a:solidFill>
                  <a:srgbClr val="FF0000"/>
                </a:solidFill>
                <a:latin typeface="+mn-lt"/>
                <a:ea typeface="+mj-ea"/>
              </a:rPr>
              <a:t>DNS</a:t>
            </a:r>
            <a:r>
              <a:rPr lang="zh-CN" altLang="en-US" sz="2400" b="1" u="sng" dirty="0">
                <a:solidFill>
                  <a:srgbClr val="FF0000"/>
                </a:solidFill>
                <a:latin typeface="+mn-lt"/>
                <a:ea typeface="+mj-ea"/>
              </a:rPr>
              <a:t>指向自己；域成员</a:t>
            </a:r>
            <a:r>
              <a:rPr lang="en-US" altLang="zh-CN" sz="2400" b="1" u="sng" dirty="0">
                <a:solidFill>
                  <a:srgbClr val="FF0000"/>
                </a:solidFill>
                <a:latin typeface="+mn-lt"/>
                <a:ea typeface="+mj-ea"/>
              </a:rPr>
              <a:t>DNS</a:t>
            </a:r>
            <a:r>
              <a:rPr lang="zh-CN" altLang="en-US" sz="2400" b="1" u="sng" dirty="0">
                <a:solidFill>
                  <a:srgbClr val="FF0000"/>
                </a:solidFill>
                <a:latin typeface="+mn-lt"/>
                <a:ea typeface="+mj-ea"/>
              </a:rPr>
              <a:t>指向域控制器。</a:t>
            </a:r>
            <a:endParaRPr lang="zh-CN" altLang="en-US" sz="2400" b="1" u="sng" dirty="0">
              <a:solidFill>
                <a:srgbClr val="FF0000"/>
              </a:solidFill>
              <a:latin typeface="+mn-lt"/>
              <a:ea typeface="+mj-ea"/>
            </a:endParaRPr>
          </a:p>
          <a:p>
            <a:pPr indent="457200" fontAlgn="auto"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       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3640" y="1986203"/>
            <a:ext cx="4256486" cy="474839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6309" y="173544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 dirty="0"/>
              <a:t>安装活动目录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14207" y="1318261"/>
            <a:ext cx="11906673" cy="1004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准备工作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: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win2019-1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静态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IP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配置；注意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DNS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服务器应为本身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127.0.0.1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或自身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IP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地址。</a:t>
            </a:r>
            <a:endParaRPr lang="en-US" altLang="zh-CN" sz="2400" b="1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endParaRPr lang="en-US" altLang="zh-CN" sz="2400" b="1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22080" y="2484120"/>
            <a:ext cx="3169920" cy="3928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配置方法：</a:t>
            </a:r>
            <a:endParaRPr lang="en-US" altLang="zh-CN" sz="2400" b="1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网络和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Internet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设置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更改适配器选项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—Ethernet0—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右键属性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—Internet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协议版本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4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（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TCP/IPV4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）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--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双击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设置静态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IP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endParaRPr lang="zh-CN" altLang="en-US" sz="2400" b="1" dirty="0">
              <a:solidFill>
                <a:srgbClr val="FF0000"/>
              </a:solidFill>
              <a:latin typeface="+mn-lt"/>
              <a:ea typeface="+mj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6453306" y="5468527"/>
            <a:ext cx="165502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07" y="1974032"/>
            <a:ext cx="4256487" cy="4772732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>
            <a:off x="2342450" y="5481405"/>
            <a:ext cx="165502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3155315" y="3725545"/>
            <a:ext cx="307975" cy="274955"/>
          </a:xfrm>
          <a:prstGeom prst="ellips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7392670" y="3725545"/>
            <a:ext cx="307975" cy="274955"/>
          </a:xfrm>
          <a:prstGeom prst="ellips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7392670" y="5193665"/>
            <a:ext cx="307975" cy="274955"/>
          </a:xfrm>
          <a:prstGeom prst="ellips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155315" y="4223385"/>
            <a:ext cx="307975" cy="274955"/>
          </a:xfrm>
          <a:prstGeom prst="ellips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7392670" y="4292600"/>
            <a:ext cx="307975" cy="274955"/>
          </a:xfrm>
          <a:prstGeom prst="ellips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103120" y="3143250"/>
            <a:ext cx="704088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n-lt"/>
                <a:ea typeface="+mj-ea"/>
                <a:sym typeface="+mn-ea"/>
              </a:rPr>
              <a:t>这里的子网是</a:t>
            </a:r>
            <a:r>
              <a:rPr lang="en-US" altLang="zh-CN" sz="2400" b="1" dirty="0">
                <a:solidFill>
                  <a:srgbClr val="002060"/>
                </a:solidFill>
                <a:latin typeface="+mn-lt"/>
                <a:ea typeface="+mj-ea"/>
                <a:sym typeface="+mn-ea"/>
              </a:rPr>
              <a:t>31</a:t>
            </a:r>
            <a:r>
              <a:rPr lang="zh-CN" altLang="en-US" sz="2400" b="1" dirty="0">
                <a:solidFill>
                  <a:srgbClr val="002060"/>
                </a:solidFill>
                <a:latin typeface="+mn-lt"/>
                <a:ea typeface="+mj-ea"/>
                <a:sym typeface="+mn-ea"/>
              </a:rPr>
              <a:t>，根据你们自己的子网填写</a:t>
            </a:r>
            <a:endParaRPr lang="zh-CN" altLang="en-US" sz="2400" b="1" dirty="0">
              <a:solidFill>
                <a:srgbClr val="002060"/>
              </a:solidFill>
              <a:latin typeface="+mn-lt"/>
              <a:ea typeface="+mj-ea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3495" y="610870"/>
            <a:ext cx="11206480" cy="738505"/>
          </a:xfrm>
        </p:spPr>
        <p:txBody>
          <a:bodyPr>
            <a:normAutofit fontScale="90000"/>
          </a:bodyPr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打造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大脑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”——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win2019-1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升级为域控制器</a:t>
            </a:r>
            <a:b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6853" y="2257214"/>
            <a:ext cx="6775637" cy="17125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配置方法：</a:t>
            </a:r>
            <a:endParaRPr lang="zh-CN" altLang="en-US" sz="2800" b="1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1.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添加角色与功能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-- Active Directory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域服务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2.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将服务器升为域控制器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4089" y="141370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/>
              <a:t>开始部署</a:t>
            </a:r>
            <a:endParaRPr lang="zh-CN" altLang="en-US"/>
          </a:p>
        </p:txBody>
      </p:sp>
      <p:pic>
        <p:nvPicPr>
          <p:cNvPr id="3" name="图片 2" descr="截屏2021-07-21 17.22.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87" y="2540847"/>
            <a:ext cx="6243320" cy="3970867"/>
          </a:xfrm>
          <a:prstGeom prst="rect">
            <a:avLst/>
          </a:prstGeom>
        </p:spPr>
      </p:pic>
      <p:pic>
        <p:nvPicPr>
          <p:cNvPr id="4" name="图片 3" descr="截屏2021-07-21 17.22.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607" y="2557780"/>
            <a:ext cx="5746327" cy="395393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8693" y="1190414"/>
            <a:ext cx="10059164" cy="11331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配置方法：</a:t>
            </a:r>
            <a:endParaRPr lang="zh-CN" altLang="en-US" sz="2800" b="1" dirty="0">
              <a:solidFill>
                <a:schemeClr val="tx1">
                  <a:lumMod val="50000"/>
                </a:schemeClr>
              </a:solidFill>
              <a:latin typeface="+mj-ea"/>
              <a:ea typeface="+mj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点击开始菜单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--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服务器管理器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—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仪表板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--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点击添加角色与功能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流程图: 接点 5"/>
          <p:cNvSpPr/>
          <p:nvPr/>
        </p:nvSpPr>
        <p:spPr>
          <a:xfrm>
            <a:off x="92287" y="2252815"/>
            <a:ext cx="288032" cy="288032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2556" y="120204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/>
              <a:t>安装关键角色</a:t>
            </a:r>
            <a:endParaRPr lang="zh-CN" altLang="en-US"/>
          </a:p>
        </p:txBody>
      </p:sp>
      <p:pic>
        <p:nvPicPr>
          <p:cNvPr id="3" name="图片 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53" y="2507827"/>
            <a:ext cx="6004560" cy="252137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034" y="2507827"/>
            <a:ext cx="5913967" cy="34315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13454" y="1562947"/>
            <a:ext cx="10642657" cy="452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选择基于角色或基于功能的安装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--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点击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Win2019-1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服务器，并在该服务器上安装活动目录服务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 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</p:txBody>
      </p:sp>
      <p:sp>
        <p:nvSpPr>
          <p:cNvPr id="8" name="流程图: 接点 7"/>
          <p:cNvSpPr/>
          <p:nvPr/>
        </p:nvSpPr>
        <p:spPr>
          <a:xfrm>
            <a:off x="113453" y="2219795"/>
            <a:ext cx="288032" cy="288032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6309" y="106657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/>
              <a:t>选择必要服务</a:t>
            </a:r>
            <a:endParaRPr lang="zh-CN" altLang="en-US"/>
          </a:p>
        </p:txBody>
      </p:sp>
      <p:pic>
        <p:nvPicPr>
          <p:cNvPr id="3" name="图片 2" descr="截屏2021-07-21 18.51.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873" y="1223434"/>
            <a:ext cx="7762240" cy="549571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193193" y="2343574"/>
            <a:ext cx="3826934" cy="1649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在选择服务器角色窗口中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--Active Directory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域服务，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--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下一步，安装活动目录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相关服务。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 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</p:txBody>
      </p:sp>
      <p:sp>
        <p:nvSpPr>
          <p:cNvPr id="5" name="流程图: 接点 4"/>
          <p:cNvSpPr/>
          <p:nvPr/>
        </p:nvSpPr>
        <p:spPr>
          <a:xfrm>
            <a:off x="245533" y="935402"/>
            <a:ext cx="288032" cy="288032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6309" y="143910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/>
              <a:t>安装服务</a:t>
            </a:r>
            <a:endParaRPr lang="zh-CN" altLang="en-US"/>
          </a:p>
        </p:txBody>
      </p:sp>
      <p:pic>
        <p:nvPicPr>
          <p:cNvPr id="3" name="图片 2" descr="截屏2021-07-21 18.53.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073" y="1346201"/>
            <a:ext cx="7841827" cy="52705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016875" y="2073910"/>
            <a:ext cx="417576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这就像给我们的服务器安装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商场管理中心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的软件系统。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流程图: 接点 4"/>
          <p:cNvSpPr/>
          <p:nvPr/>
        </p:nvSpPr>
        <p:spPr>
          <a:xfrm>
            <a:off x="248073" y="1058169"/>
            <a:ext cx="288032" cy="288032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2556" y="145604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/>
              <a:t>配置域服务</a:t>
            </a:r>
            <a:endParaRPr lang="zh-CN" altLang="en-US"/>
          </a:p>
        </p:txBody>
      </p:sp>
      <p:pic>
        <p:nvPicPr>
          <p:cNvPr id="3" name="图片 2" descr="截屏2021-07-21 18.58.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128" y="1159438"/>
            <a:ext cx="6127258" cy="253388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621244" y="1688811"/>
            <a:ext cx="5570756" cy="1249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在“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服务器管理器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”窗口，单击右上角的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三角</a:t>
            </a:r>
            <a:endParaRPr lang="zh-CN" altLang="en-US" sz="2000" b="1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提醒图标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，单击“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将此服务器提升为域控制器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”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链接，启动“Active Directory域服务安装向导”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</p:txBody>
      </p:sp>
      <p:sp>
        <p:nvSpPr>
          <p:cNvPr id="5" name="流程图: 接点 4"/>
          <p:cNvSpPr/>
          <p:nvPr/>
        </p:nvSpPr>
        <p:spPr>
          <a:xfrm>
            <a:off x="369993" y="974109"/>
            <a:ext cx="281613" cy="27158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1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98" y="3766820"/>
            <a:ext cx="5987587" cy="30911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6570444" y="3356367"/>
            <a:ext cx="5431790" cy="3291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该服务器是域林中的第一台域控制器，所以要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选择“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添加新林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”项，创建一个域林，在域林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创建第一棵域树，在域树里创建第一个域，这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个域成为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域林的根域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，本例的企业的根域名假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设为abc.com；单击“下一步”按钮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algn="l" fontAlgn="auto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algn="l" fontAlgn="auto">
              <a:lnSpc>
                <a:spcPct val="130000"/>
              </a:lnSpc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“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林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”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是最高级别的容器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我们创建第一个域，就是创建一片新的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‘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森林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’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。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</p:txBody>
      </p:sp>
      <p:sp>
        <p:nvSpPr>
          <p:cNvPr id="8" name="流程图: 接点 7"/>
          <p:cNvSpPr/>
          <p:nvPr/>
        </p:nvSpPr>
        <p:spPr>
          <a:xfrm>
            <a:off x="371359" y="3458489"/>
            <a:ext cx="281613" cy="27158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2556" y="145604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/>
              <a:t>林</a:t>
            </a:r>
            <a:r>
              <a:rPr lang="en-US" altLang="zh-CN">
                <a:latin typeface="+mj-lt"/>
                <a:cs typeface="+mj-lt"/>
              </a:rPr>
              <a:t>(Forest)</a:t>
            </a:r>
            <a:r>
              <a:rPr lang="zh-CN" altLang="en-US"/>
              <a:t>、域树和</a:t>
            </a:r>
            <a:r>
              <a:rPr lang="zh-CN" altLang="en-US"/>
              <a:t>域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855585" y="1791970"/>
            <a:ext cx="377190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林（</a:t>
            </a:r>
            <a:r>
              <a:rPr lang="en-US" altLang="zh-CN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Forest）</a:t>
            </a:r>
            <a:endParaRPr lang="en-US" altLang="zh-CN" sz="2000" b="1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marL="342900" indent="-342900" algn="l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最大范围。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marL="342900" indent="-342900" algn="l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可包含一个或多个域树。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marL="342900" indent="-342900" algn="l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共享目录架构。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域树（</a:t>
            </a:r>
            <a:r>
              <a:rPr lang="en-US" altLang="zh-CN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Domain Tree）</a:t>
            </a:r>
            <a:endParaRPr lang="en-US" altLang="zh-CN" sz="2000" b="1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marL="342900" indent="-342900" algn="l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由根域和子域组成。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marL="342900" indent="-342900" algn="l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命名空间连续。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域（</a:t>
            </a:r>
            <a:r>
              <a:rPr lang="en-US" altLang="zh-CN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Domain）</a:t>
            </a:r>
            <a:endParaRPr lang="en-US" altLang="zh-CN" sz="2000" b="1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marL="342900" indent="-342900" algn="l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AD 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的基本管理单位。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marL="342900" indent="-342900" algn="l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可管理用户、计算机、组。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</p:txBody>
      </p:sp>
      <p:pic>
        <p:nvPicPr>
          <p:cNvPr id="9" name="图片 8" descr="ChatGPT Image Sep 23, 2026, 08_37_58 PM"/>
          <p:cNvPicPr>
            <a:picLocks noChangeAspect="1"/>
          </p:cNvPicPr>
          <p:nvPr/>
        </p:nvPicPr>
        <p:blipFill>
          <a:blip r:embed="rId1"/>
          <a:srcRect t="18583" r="31340" b="18750"/>
          <a:stretch>
            <a:fillRect/>
          </a:stretch>
        </p:blipFill>
        <p:spPr>
          <a:xfrm>
            <a:off x="735330" y="1689100"/>
            <a:ext cx="6278245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2556" y="145604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/>
              <a:t>林</a:t>
            </a:r>
            <a:r>
              <a:rPr lang="en-US" altLang="zh-CN">
                <a:latin typeface="+mj-lt"/>
                <a:cs typeface="+mj-lt"/>
              </a:rPr>
              <a:t>(Forest)</a:t>
            </a:r>
            <a:r>
              <a:rPr lang="zh-CN" altLang="en-US"/>
              <a:t>、域树和</a:t>
            </a:r>
            <a:r>
              <a:rPr lang="zh-CN" altLang="en-US"/>
              <a:t>域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30605" y="2132965"/>
            <a:ext cx="4871085" cy="3751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以学校为例，规模较小时，可以直接使用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szpu.edu.cn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，所有教师、学生、计算机都放在这个域里，再用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组织单位 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OU 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区分：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algn="l" fontAlgn="auto">
              <a:lnSpc>
                <a:spcPct val="130000"/>
              </a:lnSpc>
            </a:pP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algn="l" fontAlgn="auto">
              <a:lnSpc>
                <a:spcPct val="130000"/>
              </a:lnSpc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szpu.edu.cn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├─ 教师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OU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├─ 学生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OU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├─ 行政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OU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└─ 实验室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OU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30605" y="1237615"/>
            <a:ext cx="6096000" cy="650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  <a:sym typeface="+mn-ea"/>
              </a:rPr>
              <a:t>有了域，为什么还需要域树</a:t>
            </a: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  <a:sym typeface="+mn-ea"/>
              </a:rPr>
              <a:t>?</a:t>
            </a:r>
            <a:endParaRPr lang="en-US" altLang="zh-CN" sz="2800" b="1" dirty="0" smtClean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45555" y="1539240"/>
            <a:ext cx="4871085" cy="4454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随着学校规模扩大，有了不同的学院、更多的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部门，就可能划分成多个域。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algn="l" fontAlgn="auto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algn="l" fontAlgn="auto">
              <a:lnSpc>
                <a:spcPct val="130000"/>
              </a:lnSpc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             szpu.edu.cn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algn="l" fontAlgn="auto">
              <a:lnSpc>
                <a:spcPct val="130000"/>
              </a:lnSpc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              /                  \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algn="l" fontAlgn="auto">
              <a:lnSpc>
                <a:spcPct val="130000"/>
              </a:lnSpc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            /                      \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algn="l" fontAlgn="auto">
              <a:lnSpc>
                <a:spcPct val="130000"/>
              </a:lnSpc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latin typeface="+mn-lt"/>
                <a:ea typeface="楷体" panose="02010609060101010101" pitchFamily="49" charset="-122"/>
              </a:rPr>
              <a:t>cs.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szpu.edu.cn       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latin typeface="+mn-lt"/>
                <a:ea typeface="楷体" panose="02010609060101010101" pitchFamily="49" charset="-122"/>
              </a:rPr>
              <a:t>ee.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szpu.edu.cn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计算机学院域          电子学院域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243955" y="2714625"/>
            <a:ext cx="4209415" cy="248348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917690" y="5510530"/>
            <a:ext cx="3535680" cy="650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  <a:sym typeface="+mn-ea"/>
              </a:rPr>
              <a:t>这就是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  <a:latin typeface="+mn-lt"/>
                <a:ea typeface="楷体" panose="02010609060101010101" pitchFamily="49" charset="-122"/>
                <a:sym typeface="+mn-ea"/>
              </a:rPr>
              <a:t>一颗域树</a:t>
            </a:r>
            <a:endParaRPr lang="zh-CN" altLang="en-US" sz="2800" b="1" dirty="0" smtClean="0">
              <a:solidFill>
                <a:schemeClr val="tx1">
                  <a:lumMod val="50000"/>
                </a:schemeClr>
              </a:solidFill>
              <a:latin typeface="+mn-lt"/>
              <a:ea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配置域服务</a:t>
            </a:r>
            <a:endParaRPr lang="zh-CN" altLang="en-US"/>
          </a:p>
        </p:txBody>
      </p:sp>
      <p:pic>
        <p:nvPicPr>
          <p:cNvPr id="3" name="图片 1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87" y="2174239"/>
            <a:ext cx="6275171" cy="386757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6768254" y="1392767"/>
            <a:ext cx="4864946" cy="5846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选择林和域功能级别：</a:t>
            </a:r>
            <a:endParaRPr lang="zh-CN" altLang="en-US" sz="1800" b="1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由于Windows操作系统不断升级，域或林功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能也不断升级，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  <a:sym typeface="+mn-ea"/>
              </a:rPr>
              <a:t>功能级别不但决定了林和域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  <a:sym typeface="+mn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  <a:sym typeface="+mn-ea"/>
              </a:rPr>
              <a:t>的功能，还决定了你可以在域或林中的域控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  <a:sym typeface="+mn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  <a:sym typeface="+mn-ea"/>
              </a:rPr>
              <a:t>制器上运行哪些 Windows Server 操作系统。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  <a:sym typeface="+mn-ea"/>
            </a:endParaRPr>
          </a:p>
          <a:p>
            <a:pPr algn="l" fontAlgn="auto">
              <a:lnSpc>
                <a:spcPct val="130000"/>
              </a:lnSpc>
            </a:pP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  <a:sym typeface="+mn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  <a:sym typeface="+mn-ea"/>
              </a:rPr>
              <a:t>在本书实验环境中，只有一台域控制器，且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  <a:sym typeface="+mn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  <a:sym typeface="+mn-ea"/>
              </a:rPr>
              <a:t>全域的服务器操作系统均为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  <a:sym typeface="+mn-ea"/>
              </a:rPr>
              <a:t>server2019,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  <a:sym typeface="+mn-ea"/>
              </a:rPr>
              <a:t>此处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  <a:sym typeface="+mn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  <a:sym typeface="+mn-ea"/>
              </a:rPr>
              <a:t>林与域功能级别，均选择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  <a:sym typeface="+mn-ea"/>
              </a:rPr>
              <a:t>windows server 2016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  <a:sym typeface="+mn-ea"/>
              </a:rPr>
              <a:t>。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  <a:sym typeface="+mn-ea"/>
            </a:endParaRPr>
          </a:p>
          <a:p>
            <a:pPr algn="l" fontAlgn="auto">
              <a:lnSpc>
                <a:spcPct val="130000"/>
              </a:lnSpc>
            </a:pP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  <a:sym typeface="+mn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  <a:sym typeface="+mn-ea"/>
              </a:rPr>
              <a:t>目录还原模式密码：（记住）</a:t>
            </a:r>
            <a:endParaRPr lang="zh-CN" altLang="en-US" sz="1800" b="1" dirty="0">
              <a:solidFill>
                <a:schemeClr val="tx1">
                  <a:lumMod val="50000"/>
                </a:schemeClr>
              </a:solidFill>
              <a:latin typeface="+mn-lt"/>
              <a:ea typeface="+mj-ea"/>
              <a:sym typeface="+mn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  <a:sym typeface="+mn-ea"/>
              </a:rPr>
              <a:t>此处需指定目录还原模式密码，当</a:t>
            </a: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  <a:sym typeface="+mn-ea"/>
              </a:rPr>
              <a:t>活动目录</a:t>
            </a:r>
            <a:endParaRPr lang="zh-CN" altLang="en-US" sz="1800" b="1" dirty="0">
              <a:solidFill>
                <a:schemeClr val="tx1">
                  <a:lumMod val="50000"/>
                </a:schemeClr>
              </a:solidFill>
              <a:latin typeface="+mn-lt"/>
              <a:ea typeface="+mj-ea"/>
              <a:sym typeface="+mn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  <a:sym typeface="+mn-ea"/>
              </a:rPr>
              <a:t>数据库出现故障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  <a:sym typeface="+mn-ea"/>
              </a:rPr>
              <a:t>时，进入安全模式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  <a:sym typeface="+mn-ea"/>
              </a:rPr>
              <a:t>时，可进入活动目录数据库还原模式对数据库做</a:t>
            </a: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  <a:sym typeface="+mn-ea"/>
              </a:rPr>
              <a:t>修复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  <a:sym typeface="+mn-ea"/>
              </a:rPr>
              <a:t>。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  <a:sym typeface="+mn-ea"/>
            </a:endParaRPr>
          </a:p>
          <a:p>
            <a:pPr algn="l" fontAlgn="auto">
              <a:lnSpc>
                <a:spcPct val="130000"/>
              </a:lnSpc>
            </a:pP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  <a:sym typeface="+mn-ea"/>
            </a:endParaRPr>
          </a:p>
          <a:p>
            <a:pPr algn="l" fontAlgn="auto">
              <a:lnSpc>
                <a:spcPct val="130000"/>
              </a:lnSpc>
            </a:pP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  <a:sym typeface="+mn-ea"/>
            </a:endParaRPr>
          </a:p>
        </p:txBody>
      </p:sp>
      <p:sp>
        <p:nvSpPr>
          <p:cNvPr id="5" name="流程图: 接点 4"/>
          <p:cNvSpPr/>
          <p:nvPr/>
        </p:nvSpPr>
        <p:spPr>
          <a:xfrm>
            <a:off x="155787" y="1902656"/>
            <a:ext cx="281613" cy="27158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配置域服务</a:t>
            </a:r>
            <a:endParaRPr lang="zh-CN" altLang="en-US"/>
          </a:p>
        </p:txBody>
      </p:sp>
      <p:pic>
        <p:nvPicPr>
          <p:cNvPr id="3" name="图片 17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421" y="1280161"/>
            <a:ext cx="5544820" cy="277283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5941060" y="2046394"/>
            <a:ext cx="5834380" cy="4492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auto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由于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AD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与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DNS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服务密切相关，在部署域控的过程中需同时安装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DNS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服务，为域架构中的所有主机提供域名解析服务；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fontAlgn="auto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fontAlgn="auto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fontAlgn="auto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marL="342900" indent="-342900" fontAlgn="auto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确认域的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netbios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名字，它通常是一个非层次化结构的名字是域名的一部分，检查是否重名。我们的完整域名是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abc.com，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而</a:t>
            </a:r>
            <a:r>
              <a:rPr lang="en-US" altLang="zh-CN" sz="2000" dirty="0">
                <a:solidFill>
                  <a:schemeClr val="accent5"/>
                </a:solidFill>
                <a:latin typeface="+mn-lt"/>
                <a:ea typeface="+mn-ea"/>
              </a:rPr>
              <a:t>NetBIOS</a:t>
            </a:r>
            <a:r>
              <a:rPr lang="zh-CN" altLang="en-US" sz="2000" dirty="0">
                <a:solidFill>
                  <a:schemeClr val="accent5"/>
                </a:solidFill>
                <a:latin typeface="+mn-lt"/>
                <a:ea typeface="+mn-ea"/>
              </a:rPr>
              <a:t>域名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就是：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ABC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。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fontAlgn="auto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5" name="图片 1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20" y="4157134"/>
            <a:ext cx="5545667" cy="262212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流程图: 接点 5"/>
          <p:cNvSpPr/>
          <p:nvPr/>
        </p:nvSpPr>
        <p:spPr>
          <a:xfrm>
            <a:off x="185420" y="1092300"/>
            <a:ext cx="281613" cy="27158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流程图: 接点 6"/>
          <p:cNvSpPr/>
          <p:nvPr/>
        </p:nvSpPr>
        <p:spPr>
          <a:xfrm>
            <a:off x="185420" y="3917202"/>
            <a:ext cx="281613" cy="27158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指定目录服务文件位置</a:t>
            </a:r>
            <a:endParaRPr lang="zh-CN" altLang="en-US"/>
          </a:p>
        </p:txBody>
      </p:sp>
      <p:pic>
        <p:nvPicPr>
          <p:cNvPr id="3" name="图片 18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76451"/>
            <a:ext cx="6844453" cy="33858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6969761" y="2076874"/>
            <a:ext cx="5130799" cy="4050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定义活动目录数据库、日志、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sysvol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文件位置：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algn="l" fontAlgn="auto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若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系统中存在多个硬盘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，建议数据库和日志分别放在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不同的硬盘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上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并备份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以提高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安全性和性能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；此处我们使用默认值，单击“下一步”按钮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algn="l" fontAlgn="auto">
              <a:lnSpc>
                <a:spcPct val="130000"/>
              </a:lnSpc>
            </a:pP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algn="l" fontAlgn="auto">
              <a:lnSpc>
                <a:spcPct val="130000"/>
              </a:lnSpc>
            </a:pP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注意：企业环境一定不要放在系统盘。</a:t>
            </a:r>
            <a:endParaRPr lang="zh-CN" altLang="en-US" sz="2000" b="1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流程图: 接点 4"/>
          <p:cNvSpPr/>
          <p:nvPr/>
        </p:nvSpPr>
        <p:spPr>
          <a:xfrm>
            <a:off x="91440" y="1706880"/>
            <a:ext cx="711200" cy="369571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3609" y="156610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/>
              <a:t>开始安装</a:t>
            </a:r>
            <a:endParaRPr lang="zh-CN" altLang="en-US"/>
          </a:p>
        </p:txBody>
      </p:sp>
      <p:pic>
        <p:nvPicPr>
          <p:cNvPr id="3" name="图片 183" descr="C:\Users\ADMINI~1\AppData\Local\Temp\SNAGHTML20feef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31" y="1479126"/>
            <a:ext cx="6287221" cy="462703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6732694" y="1839807"/>
            <a:ext cx="5601213" cy="285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安装程序将会检查服务器的各项配置是否已经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满足提升为域控制器的条件，如图所示即为检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查全部通过，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单机安装按钮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，开始安装；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algn="l" fontAlgn="auto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安装向导开始安装活动目录，通常需要花费几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分钟时间。如果系统原来没有安装DNS，安装向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导会同时安装DN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S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服务。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流程图: 接点 4"/>
          <p:cNvSpPr/>
          <p:nvPr/>
        </p:nvSpPr>
        <p:spPr>
          <a:xfrm>
            <a:off x="185420" y="1016001"/>
            <a:ext cx="678180" cy="33528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3609" y="156610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 dirty="0"/>
              <a:t>安装成功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065770" y="2591435"/>
            <a:ext cx="4323080" cy="2091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重启计算机后，会看到以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域帐号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登陆服务器，域账号可以有两种写法：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marL="457200" indent="-457200" algn="l" fontAlgn="auto">
              <a:lnSpc>
                <a:spcPct val="130000"/>
              </a:lnSpc>
              <a:buFont typeface="+mj-lt"/>
              <a:buAutoNum type="arabicPeriod"/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hlinkClick r:id="rId1"/>
              </a:rPr>
              <a:t>Administrator@abc.com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  <a:hlinkClick r:id="rId1"/>
            </a:endParaRPr>
          </a:p>
          <a:p>
            <a:pPr marL="457200" indent="-457200" algn="l" fontAlgn="auto">
              <a:lnSpc>
                <a:spcPct val="130000"/>
              </a:lnSpc>
              <a:buFont typeface="+mj-lt"/>
              <a:buAutoNum type="arabicPeriod"/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ABC\Administrator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algn="l" fontAlgn="auto">
              <a:lnSpc>
                <a:spcPct val="130000"/>
              </a:lnSpc>
            </a:pP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" y="1971039"/>
            <a:ext cx="7477924" cy="404089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验证配置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56" y="1544320"/>
            <a:ext cx="8202144" cy="433258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900160" y="3015297"/>
            <a:ext cx="2987040" cy="773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服务器管理器</a:t>
            </a:r>
            <a:r>
              <a:rPr lang="en-US" altLang="zh-CN" sz="18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—AD DS</a:t>
            </a: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和</a:t>
            </a:r>
            <a:r>
              <a:rPr lang="en-US" altLang="zh-CN" sz="18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DNS</a:t>
            </a: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均已安装</a:t>
            </a:r>
            <a:endParaRPr lang="zh-CN" altLang="en-US" sz="1800" b="1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6309" y="119357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/>
              <a:t>验证配置</a:t>
            </a:r>
            <a:endParaRPr lang="zh-CN" altLang="en-US"/>
          </a:p>
        </p:txBody>
      </p:sp>
      <p:pic>
        <p:nvPicPr>
          <p:cNvPr id="3" name="图片 2" descr="截屏2021-07-21 19.22.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87" y="1239756"/>
            <a:ext cx="6090074" cy="307125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385210" y="1684020"/>
            <a:ext cx="4689104" cy="4853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查看</a:t>
            </a:r>
            <a:r>
              <a:rPr lang="en-US" altLang="zh-CN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DNS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记录：</a:t>
            </a:r>
            <a:endParaRPr lang="zh-CN" altLang="en-US" sz="2000" b="1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DNS菜单中会自动创建abc.com域，并在其中创建诸多记录与子域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方法：</a:t>
            </a:r>
            <a:endParaRPr lang="zh-CN" altLang="en-US" sz="2000" b="1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点击开始菜单 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--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服务器管理器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--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工具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—DNS—DNS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管理器</a:t>
            </a:r>
            <a:endParaRPr lang="zh-CN" altLang="en-US" sz="2000" b="1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algn="l" fontAlgn="auto">
              <a:lnSpc>
                <a:spcPct val="130000"/>
              </a:lnSpc>
            </a:pP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r="7892" b="24349"/>
          <a:stretch>
            <a:fillRect/>
          </a:stretch>
        </p:blipFill>
        <p:spPr>
          <a:xfrm>
            <a:off x="117686" y="4602479"/>
            <a:ext cx="6419637" cy="178056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4660" y="122555"/>
            <a:ext cx="10295890" cy="73850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纳入第一台成员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win2019-2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服务器加入域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5327" y="1071203"/>
            <a:ext cx="11906673" cy="14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准备工作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1: 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配置成员服务器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win2019-2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静态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IP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配置；注意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DNS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服务器应指向域控制器的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IP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地址。</a:t>
            </a:r>
            <a:endParaRPr lang="en-US" altLang="zh-CN" sz="2400" b="1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endParaRPr lang="en-US" altLang="zh-CN" sz="2400" b="1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22080" y="2322960"/>
            <a:ext cx="3365634" cy="248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DNS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是域的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‘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电话簿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’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，客户端必须通过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DNS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服务器才能找到域控制器。所以这里必须指向我们的域控制器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207" y="2027040"/>
            <a:ext cx="4203276" cy="4739865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2315845" y="5500838"/>
            <a:ext cx="165502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b="1694"/>
          <a:stretch>
            <a:fillRect/>
          </a:stretch>
        </p:blipFill>
        <p:spPr>
          <a:xfrm>
            <a:off x="4578687" y="2027040"/>
            <a:ext cx="4282189" cy="4783332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H="1" flipV="1">
            <a:off x="3874614" y="3881561"/>
            <a:ext cx="2845167" cy="15015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315845" y="3141359"/>
            <a:ext cx="1786248" cy="524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+mj-ea"/>
              </a:rPr>
              <a:t>Win2019-1</a:t>
            </a:r>
            <a:endParaRPr lang="en-US" altLang="zh-CN" sz="2400" b="1" dirty="0">
              <a:solidFill>
                <a:srgbClr val="FF0000"/>
              </a:solidFill>
              <a:latin typeface="+mn-lt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53746" y="3179362"/>
            <a:ext cx="1786248" cy="524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+mj-ea"/>
              </a:rPr>
              <a:t>Win2019-2</a:t>
            </a:r>
            <a:endParaRPr lang="en-US" altLang="zh-CN" sz="2400" b="1" dirty="0">
              <a:solidFill>
                <a:srgbClr val="FF0000"/>
              </a:solidFill>
              <a:latin typeface="+mn-lt"/>
              <a:ea typeface="+mj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6309" y="173544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/>
              <a:t>加入域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411720" y="1439334"/>
            <a:ext cx="4595707" cy="38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准备工作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2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：</a:t>
            </a:r>
            <a:endParaRPr lang="zh-CN" altLang="en-US" sz="2400" b="1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在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域控制器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上确认防火墙已经放行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AD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服务的流量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方法：进入域控制器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win2019-1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；控制面板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系统与安全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—windows defender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防火墙，如左图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532" y="1355458"/>
            <a:ext cx="6950415" cy="529188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6309" y="173544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/>
              <a:t>加入域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726004" y="1502856"/>
            <a:ext cx="7465996" cy="3688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准备工作</a:t>
            </a:r>
            <a:r>
              <a:rPr lang="en-US" altLang="zh-CN" sz="18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3</a:t>
            </a: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：</a:t>
            </a:r>
            <a:endParaRPr lang="zh-CN" altLang="en-US" sz="1800" b="1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在成员服务器上配置正确的域名解析服务器地址，使其能正确解析到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abc.com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域控制器上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配置方法</a:t>
            </a:r>
            <a:r>
              <a:rPr lang="en-US" altLang="zh-CN" sz="18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:</a:t>
            </a:r>
            <a:endParaRPr lang="en-US" altLang="zh-CN" sz="1800" b="1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方法：服务器管理器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—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本地服务器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—workgroup—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隶属于域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—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输入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abc.com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注意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: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域中各服务器的主机名，必须确保其唯一性；注意输入</a:t>
            </a:r>
            <a:r>
              <a:rPr lang="zh-CN" altLang="en-US" sz="1800" b="1" u="sng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域控制器管理员帐号和密码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075" y="1502856"/>
            <a:ext cx="4295775" cy="5181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352" y="4210263"/>
            <a:ext cx="3841248" cy="2244325"/>
          </a:xfrm>
          <a:prstGeom prst="rect">
            <a:avLst/>
          </a:prstGeom>
        </p:spPr>
      </p:pic>
      <p:sp>
        <p:nvSpPr>
          <p:cNvPr id="11" name="流程图: 接点 10"/>
          <p:cNvSpPr/>
          <p:nvPr/>
        </p:nvSpPr>
        <p:spPr>
          <a:xfrm>
            <a:off x="82268" y="1231273"/>
            <a:ext cx="281613" cy="27158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流程图: 接点 11"/>
          <p:cNvSpPr/>
          <p:nvPr/>
        </p:nvSpPr>
        <p:spPr>
          <a:xfrm>
            <a:off x="4799731" y="3982079"/>
            <a:ext cx="281613" cy="27158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115102" y="4617118"/>
            <a:ext cx="1546960" cy="113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配置成功后重启计算机生效</a:t>
            </a:r>
            <a:endParaRPr lang="zh-CN" altLang="en-US" sz="1800" b="1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2400">
                <a:solidFill>
                  <a:schemeClr val="tx1">
                    <a:lumMod val="50000"/>
                  </a:schemeClr>
                </a:solidFill>
              </a:rPr>
              <a:t>这个过程就像商户向</a:t>
            </a:r>
            <a:r>
              <a:rPr lang="en-US" altLang="zh-CN" sz="2400">
                <a:solidFill>
                  <a:schemeClr val="tx1">
                    <a:lumMod val="50000"/>
                  </a:schemeClr>
                </a:solidFill>
              </a:rPr>
              <a:t>“</a:t>
            </a:r>
            <a:r>
              <a:rPr lang="zh-CN" altLang="en-US" sz="2400">
                <a:solidFill>
                  <a:schemeClr val="tx1">
                    <a:lumMod val="50000"/>
                  </a:schemeClr>
                </a:solidFill>
              </a:rPr>
              <a:t>商场管理中心</a:t>
            </a:r>
            <a:r>
              <a:rPr lang="en-US" altLang="zh-CN" sz="2400">
                <a:solidFill>
                  <a:schemeClr val="tx1">
                    <a:lumMod val="50000"/>
                  </a:schemeClr>
                </a:solidFill>
              </a:rPr>
              <a:t>”</a:t>
            </a:r>
            <a:r>
              <a:rPr lang="zh-CN" altLang="en-US" sz="2400">
                <a:solidFill>
                  <a:schemeClr val="tx1">
                    <a:lumMod val="50000"/>
                  </a:schemeClr>
                </a:solidFill>
              </a:rPr>
              <a:t>提交入驻申请，审核通过后，就正式成为商场的一员了。</a:t>
            </a:r>
            <a:endParaRPr lang="zh-CN" altLang="en-US" sz="240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zh-CN" altLang="en-US" sz="240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zh-CN" altLang="en-US" sz="240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zh-CN" sz="240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zh-CN" altLang="en-US" sz="2400">
                <a:solidFill>
                  <a:schemeClr val="tx1">
                    <a:lumMod val="50000"/>
                  </a:schemeClr>
                </a:solidFill>
              </a:rPr>
              <a:t>把一台原本独立管理的计算机，纳入</a:t>
            </a:r>
            <a:r>
              <a:rPr lang="en-US" altLang="zh-CN" sz="2400">
                <a:solidFill>
                  <a:schemeClr val="tx1">
                    <a:lumMod val="50000"/>
                  </a:schemeClr>
                </a:solidFill>
              </a:rPr>
              <a:t>AD</a:t>
            </a:r>
            <a:r>
              <a:rPr lang="zh-CN" altLang="en-US" sz="2400">
                <a:solidFill>
                  <a:schemeClr val="tx1">
                    <a:lumMod val="50000"/>
                  </a:schemeClr>
                </a:solidFill>
              </a:rPr>
              <a:t>的集中管理体系。</a:t>
            </a:r>
            <a:endParaRPr lang="zh-CN" altLang="en-US" sz="2400">
              <a:solidFill>
                <a:schemeClr val="tx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加入域标志</a:t>
            </a:r>
            <a:endParaRPr lang="zh-CN" altLang="en-US" dirty="0"/>
          </a:p>
        </p:txBody>
      </p:sp>
      <p:pic>
        <p:nvPicPr>
          <p:cNvPr id="3" name="图片 2" descr="截屏2021-07-22 10.24.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034" y="1350434"/>
            <a:ext cx="5670973" cy="2341033"/>
          </a:xfrm>
          <a:prstGeom prst="rect">
            <a:avLst/>
          </a:prstGeom>
        </p:spPr>
      </p:pic>
      <p:pic>
        <p:nvPicPr>
          <p:cNvPr id="4" name="图片 3" descr="截屏2021-07-22 10.24.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34" y="3691467"/>
            <a:ext cx="5602393" cy="292692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81189" y="1741239"/>
            <a:ext cx="6432731" cy="4850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入域成功后，在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域控制器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的活动目录和计算机窗口中，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可见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新加入域的计算机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，本例中为“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win2019-2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”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方法：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服务器管理器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—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工具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—Active Directory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用户和计算机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入域成功后，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成员服务器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可以通过域账号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登录系统</a:t>
            </a:r>
            <a:endParaRPr lang="zh-CN" altLang="en-US" sz="2000" b="1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域账号格式通常有两种表示方法，分别是：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域账号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@abc.com 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或 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abc\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域账号 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其他服务器、个人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PC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、笔记本电脑也用相同方法加入域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入域后即可同一账号访问不同服务器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702344" y="1136700"/>
            <a:ext cx="6294611" cy="5846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 fontAlgn="auto">
              <a:lnSpc>
                <a:spcPct val="13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在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AD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域控制器（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win2019-1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）里，打开</a:t>
            </a:r>
            <a:r>
              <a:rPr lang="en-US" altLang="zh-CN" sz="2400" b="1" dirty="0">
                <a:solidFill>
                  <a:schemeClr val="accent5"/>
                </a:solidFill>
                <a:latin typeface="+mn-lt"/>
                <a:ea typeface="+mj-ea"/>
              </a:rPr>
              <a:t>AD</a:t>
            </a:r>
            <a:r>
              <a:rPr lang="zh-CN" altLang="en-US" sz="2400" b="1" dirty="0">
                <a:solidFill>
                  <a:schemeClr val="accent5"/>
                </a:solidFill>
                <a:latin typeface="+mn-lt"/>
                <a:ea typeface="+mj-ea"/>
              </a:rPr>
              <a:t>用户和计算机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，新建组织单位，再在组织单位新建用户王莉。（左上图）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marL="457200" indent="-457200" algn="l" fontAlgn="auto">
              <a:lnSpc>
                <a:spcPct val="130000"/>
              </a:lnSpc>
              <a:buAutoNum type="arabicPeriod"/>
            </a:pP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marL="457200" indent="-457200" algn="l" fontAlgn="auto">
              <a:lnSpc>
                <a:spcPct val="13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用这个域用户王莉的账号密码可以登录成员服务器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win2019-2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。（左下图），这样一个账号就可以登录多台服务器，不需要单独的在每台服务器新建账号。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marL="457200" indent="-457200" algn="l" fontAlgn="auto">
              <a:lnSpc>
                <a:spcPct val="130000"/>
              </a:lnSpc>
              <a:buAutoNum type="arabicPeriod"/>
            </a:pP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  <a:p>
            <a:pPr indent="0" algn="l" fontAlgn="auto">
              <a:lnSpc>
                <a:spcPct val="130000"/>
              </a:lnSpc>
              <a:buNone/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成功登录！这说明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 win2019-2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已经不再自己验证身份，而是去向域控制器（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win2019-1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）进行认证了。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/>
          <a:srcRect r="27545" b="36201"/>
          <a:stretch>
            <a:fillRect/>
          </a:stretch>
        </p:blipFill>
        <p:spPr>
          <a:xfrm>
            <a:off x="131545" y="1136470"/>
            <a:ext cx="5354425" cy="292522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540"/>
          <a:stretch>
            <a:fillRect/>
          </a:stretch>
        </p:blipFill>
        <p:spPr>
          <a:xfrm>
            <a:off x="2035810" y="3559810"/>
            <a:ext cx="3449955" cy="329819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客户端入域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——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将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Win10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加入域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+mj-lt"/>
                <a:cs typeface="+mj-lt"/>
              </a:rPr>
              <a:t>​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+mj-lt"/>
                <a:cs typeface="+mj-lt"/>
              </a:rPr>
              <a:t>操作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+mj-lt"/>
                <a:cs typeface="+mj-lt"/>
              </a:rPr>
              <a:t>​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+mj-lt"/>
                <a:cs typeface="+mj-lt"/>
              </a:rPr>
              <a:t>：</a:t>
            </a:r>
            <a:endParaRPr lang="zh-CN" altLang="en-US">
              <a:solidFill>
                <a:schemeClr val="tx1">
                  <a:lumMod val="50000"/>
                </a:schemeClr>
              </a:solidFill>
              <a:latin typeface="+mj-lt"/>
              <a:cs typeface="+mj-lt"/>
            </a:endParaRPr>
          </a:p>
          <a:p>
            <a:endParaRPr lang="en-US" altLang="zh-CN">
              <a:solidFill>
                <a:schemeClr val="tx1">
                  <a:lumMod val="50000"/>
                </a:schemeClr>
              </a:solidFill>
              <a:latin typeface="+mj-lt"/>
              <a:cs typeface="+mj-lt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+mj-lt"/>
                <a:cs typeface="+mj-lt"/>
              </a:rPr>
              <a:t>配置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+mj-lt"/>
                <a:cs typeface="+mj-lt"/>
              </a:rPr>
              <a:t>Win10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+mj-lt"/>
                <a:cs typeface="+mj-lt"/>
              </a:rPr>
              <a:t>的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+mj-lt"/>
                <a:cs typeface="+mj-lt"/>
              </a:rPr>
              <a:t>IP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+mj-lt"/>
                <a:cs typeface="+mj-lt"/>
              </a:rPr>
              <a:t>和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+mj-lt"/>
                <a:cs typeface="+mj-lt"/>
              </a:rPr>
              <a:t>DNS </a:t>
            </a:r>
            <a:endParaRPr lang="en-US" altLang="zh-CN">
              <a:solidFill>
                <a:schemeClr val="tx1">
                  <a:lumMod val="50000"/>
                </a:schemeClr>
              </a:solidFill>
              <a:latin typeface="+mj-lt"/>
              <a:cs typeface="+mj-lt"/>
            </a:endParaRPr>
          </a:p>
          <a:p>
            <a:pPr marL="0" indent="0">
              <a:buNone/>
            </a:pPr>
            <a:endParaRPr lang="en-US" altLang="zh-CN">
              <a:solidFill>
                <a:schemeClr val="tx1">
                  <a:lumMod val="50000"/>
                </a:schemeClr>
              </a:solidFill>
              <a:latin typeface="+mj-lt"/>
              <a:cs typeface="+mj-lt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+mj-lt"/>
                <a:cs typeface="+mj-lt"/>
              </a:rPr>
              <a:t>通过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+mj-lt"/>
                <a:cs typeface="+mj-lt"/>
              </a:rPr>
              <a:t>“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+mj-lt"/>
                <a:cs typeface="+mj-lt"/>
              </a:rPr>
              <a:t>系统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+mj-lt"/>
                <a:cs typeface="+mj-lt"/>
              </a:rPr>
              <a:t>”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+mj-lt"/>
                <a:cs typeface="+mj-lt"/>
              </a:rPr>
              <a:t>设置，将计算机加入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+mj-lt"/>
                <a:cs typeface="+mj-lt"/>
              </a:rPr>
              <a:t> abc.com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+mj-lt"/>
                <a:cs typeface="+mj-lt"/>
              </a:rPr>
              <a:t>域。</a:t>
            </a:r>
            <a:endParaRPr lang="zh-CN" altLang="en-US">
              <a:solidFill>
                <a:schemeClr val="tx1">
                  <a:lumMod val="50000"/>
                </a:schemeClr>
              </a:solidFill>
              <a:latin typeface="+mj-lt"/>
              <a:cs typeface="+mj-lt"/>
            </a:endParaRPr>
          </a:p>
          <a:p>
            <a:endParaRPr lang="en-US" altLang="zh-CN">
              <a:solidFill>
                <a:schemeClr val="tx1">
                  <a:lumMod val="50000"/>
                </a:schemeClr>
              </a:solidFill>
              <a:latin typeface="+mj-lt"/>
              <a:cs typeface="+mj-lt"/>
            </a:endParaRPr>
          </a:p>
          <a:p>
            <a:pPr marL="0" indent="0">
              <a:buNone/>
            </a:pPr>
            <a:r>
              <a:rPr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lt"/>
                <a:sym typeface="+mn-ea"/>
              </a:rPr>
              <a:t>重启后，用这个域用户王莉的账号密码登录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lt"/>
                <a:sym typeface="+mn-ea"/>
              </a:rPr>
              <a:t>win10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+mj-lt"/>
                <a:cs typeface="+mj-lt"/>
              </a:rPr>
              <a:t>。</a:t>
            </a:r>
            <a:endParaRPr lang="zh-CN" altLang="en-US">
              <a:solidFill>
                <a:schemeClr val="tx1">
                  <a:lumMod val="50000"/>
                </a:schemeClr>
              </a:solidFill>
              <a:latin typeface="+mj-lt"/>
              <a:cs typeface="+mj-lt"/>
            </a:endParaRPr>
          </a:p>
          <a:p>
            <a:endParaRPr lang="en-US" altLang="zh-CN">
              <a:solidFill>
                <a:schemeClr val="tx1">
                  <a:lumMod val="50000"/>
                </a:schemeClr>
              </a:solidFill>
              <a:latin typeface="+mj-lt"/>
              <a:cs typeface="+mj-lt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+mj-lt"/>
                <a:cs typeface="+mj-lt"/>
              </a:rPr>
              <a:t>无论是服务器还是客户端，加入域的过程都是一样的。这体现了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+mj-lt"/>
                <a:cs typeface="+mj-lt"/>
              </a:rPr>
              <a:t>AD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+mj-lt"/>
                <a:cs typeface="+mj-lt"/>
              </a:rPr>
              <a:t>域的统一性。</a:t>
            </a:r>
            <a:endParaRPr lang="en-US" altLang="zh-CN">
              <a:solidFill>
                <a:schemeClr val="tx1">
                  <a:lumMod val="50000"/>
                </a:schemeClr>
              </a:solidFill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7325" y="1664970"/>
            <a:ext cx="3482975" cy="4343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770" y="1664970"/>
            <a:ext cx="3482340" cy="4343400"/>
          </a:xfrm>
          <a:prstGeom prst="rect">
            <a:avLst/>
          </a:prstGeom>
        </p:spPr>
      </p:pic>
      <p:sp>
        <p:nvSpPr>
          <p:cNvPr id="5" name="内容占位符 2"/>
          <p:cNvSpPr>
            <a:spLocks noGrp="1"/>
          </p:cNvSpPr>
          <p:nvPr/>
        </p:nvSpPr>
        <p:spPr>
          <a:xfrm>
            <a:off x="8766175" y="2414270"/>
            <a:ext cx="3272790" cy="4862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505" indent="-357505" algn="just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u"/>
              <a:defRPr lang="zh-CN" altLang="en-US" sz="3200" kern="1200" baseline="0" dirty="0" smtClean="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357505" indent="-357505" algn="just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2135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en-US" altLang="zh-CN" sz="2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433070" y="6127115"/>
            <a:ext cx="10868660" cy="965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57505" indent="-357505" algn="just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u"/>
              <a:defRPr lang="zh-CN" altLang="en-US" sz="3200" kern="1200" baseline="0" dirty="0" smtClean="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357505" indent="-357505" algn="just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2135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zh-CN" altLang="en-US" sz="180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同样的方法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win10</a:t>
            </a:r>
            <a:r>
              <a:rPr sz="180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加入域，且王莉登录系统</a:t>
            </a:r>
            <a:endParaRPr sz="180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fontAlgn="auto"/>
            <a:r>
              <a:rPr sz="180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此电脑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--</a:t>
            </a:r>
            <a:r>
              <a:rPr sz="180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属性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--</a:t>
            </a:r>
            <a:r>
              <a:rPr sz="180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入域</a:t>
            </a:r>
            <a:endParaRPr sz="180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1664970"/>
            <a:ext cx="3516630" cy="432752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" hasCustomPrompt="1"/>
          </p:nvPr>
        </p:nvSpPr>
        <p:spPr>
          <a:xfrm>
            <a:off x="1111250" y="5628005"/>
            <a:ext cx="9369425" cy="466725"/>
          </a:xfrm>
        </p:spPr>
        <p:txBody>
          <a:bodyPr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sz="2135" b="0" i="0" u="none" strike="noStrike" kern="1200" cap="none" spc="0" normalizeH="0" baseline="0" noProof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sz="2135" b="0" i="0" u="none" strike="noStrike" kern="1200" cap="none" spc="0" normalizeH="0" baseline="0" noProof="1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>
          <a:xfrm>
            <a:off x="1410970" y="5080318"/>
            <a:ext cx="9369425" cy="1166813"/>
          </a:xfrm>
        </p:spPr>
        <p:txBody>
          <a:bodyPr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265" b="1" i="0" u="none" strike="noStrike" kern="1000" cap="none" spc="0" normalizeH="0" baseline="0" noProof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3.3 AD</a:t>
            </a:r>
            <a:r>
              <a:rPr kumimoji="0" lang="zh-CN" altLang="en-US" sz="4265" b="1" i="0" u="none" strike="noStrike" kern="1000" cap="none" spc="0" normalizeH="0" baseline="0" noProof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域管理与应用</a:t>
            </a:r>
            <a:br>
              <a:rPr kumimoji="0" lang="zh-CN" altLang="en-US" sz="4265" b="1" i="0" u="none" strike="noStrike" kern="1000" cap="none" spc="0" normalizeH="0" baseline="0" noProof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</a:br>
            <a:endParaRPr kumimoji="0" lang="zh-CN" altLang="en-US" sz="4265" b="1" i="0" u="none" strike="noStrike" kern="1000" cap="none" spc="0" normalizeH="0" baseline="0" noProof="1" dirty="0">
              <a:solidFill>
                <a:schemeClr val="accent1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37490" y="1380490"/>
            <a:ext cx="11128375" cy="2676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fontAlgn="base" latinLnBrk="0"/>
            <a:r>
              <a:rPr lang="zh-CN" altLang="en-US" sz="2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本节主要内容包括</a:t>
            </a:r>
            <a:r>
              <a:rPr lang="en-US" altLang="zh-CN" sz="2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en-US" altLang="zh-CN" sz="2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、用户与组织单位管理</a:t>
            </a:r>
            <a:r>
              <a:rPr lang="en-US" altLang="zh-CN" sz="2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(</a:t>
            </a:r>
            <a:r>
              <a:rPr lang="zh-CN" altLang="en-US" sz="2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账号怎么组织起来</a:t>
            </a:r>
            <a:r>
              <a:rPr lang="en-US" altLang="zh-CN" sz="2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sz="2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、组策略实现统一设置</a:t>
            </a:r>
            <a:r>
              <a:rPr lang="en-US" altLang="zh-CN" sz="2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(</a:t>
            </a:r>
            <a:r>
              <a:rPr lang="zh-CN" altLang="en-US" sz="2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怎么批量配置</a:t>
            </a:r>
            <a:r>
              <a:rPr lang="en-US" altLang="zh-CN" sz="2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sz="2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47955" y="1180465"/>
            <a:ext cx="11511280" cy="371475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fontAlgn="base" latinLnBrk="0"/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目标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：实现账户统一管理，解决工作组模式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账户分散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痛点。</a:t>
            </a:r>
            <a:endParaRPr lang="zh-CN" altLang="en-US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在域控制器（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win2019-1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）上，打开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“Active Directory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用户和计算机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工具（路径：服务器管理器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工具）。右键点击域名（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abc.com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），选择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新建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 </a:t>
            </a:r>
            <a:r>
              <a: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“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组织单位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，命名为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技术部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en-US" altLang="zh-CN" sz="2400" b="1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OU</a:t>
            </a:r>
            <a:r>
              <a:rPr lang="zh-CN" altLang="en-US" sz="2400" b="1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可嵌套使用，如</a:t>
            </a:r>
            <a:r>
              <a:rPr lang="en-US" altLang="zh-CN" sz="2400" b="1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400" b="1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财务部</a:t>
            </a:r>
            <a:r>
              <a:rPr lang="en-US" altLang="zh-CN" sz="2400" b="1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 sz="2400" b="1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下创建</a:t>
            </a:r>
            <a:r>
              <a:rPr lang="en-US" altLang="zh-CN" sz="2400" b="1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400" b="1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会计组</a:t>
            </a:r>
            <a:r>
              <a:rPr lang="en-US" altLang="zh-CN" sz="2400" b="1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 sz="2400" b="1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，实现部门分级管理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zh-CN" altLang="en-US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​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例如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3.2 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中在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win2019-1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中新增技术部，内有用户王莉，则王莉可以登录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win2019-2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和入域中的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win 10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。一个账户全域通用，无需在多台设备重复创建。</a:t>
            </a:r>
            <a:endParaRPr lang="zh-CN" altLang="en-US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zh-CN" altLang="en-US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8970" y="373380"/>
            <a:ext cx="8629650" cy="9086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fontAlgn="base" latinLnBrk="0"/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用户与组织单位管理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9284"/>
          <a:stretch>
            <a:fillRect/>
          </a:stretch>
        </p:blipFill>
        <p:spPr>
          <a:xfrm>
            <a:off x="2393950" y="4267835"/>
            <a:ext cx="5293995" cy="246316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48970" y="373380"/>
            <a:ext cx="8629650" cy="9086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fontAlgn="base" latinLnBrk="0"/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组策略实现统一设置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0" indent="0" fontAlgn="base" latinLnBrk="0"/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8970" y="1465580"/>
            <a:ext cx="981583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我们做个小实验验证域组策略统一管理：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域控制器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win2019-1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中新建两个组织单位，技术部和研发部，内各有用户名为王莉和张三。</a:t>
            </a:r>
            <a:r>
              <a:rPr lang="zh-CN" altLang="en-US" sz="2800" u="sng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使用组策略禁止技术部的员工访问命令提示行，禁止研发部的员工访问注册表编辑器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，并让王莉和张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三登录到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win2019-2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中验证。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6309" y="167617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使用组策略集中管理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356" y="1235552"/>
            <a:ext cx="4811158" cy="31856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/>
          <a:srcRect t="3544"/>
          <a:stretch>
            <a:fillRect/>
          </a:stretch>
        </p:blipFill>
        <p:spPr>
          <a:xfrm>
            <a:off x="0" y="3742441"/>
            <a:ext cx="6199646" cy="3115559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657975" y="1476375"/>
            <a:ext cx="5118100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3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域控制器用户和计算机里新建两个组，技术部和研发部；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algn="l">
              <a:lnSpc>
                <a:spcPct val="130000"/>
              </a:lnSpc>
            </a:pP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6309" y="167617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使用组策略集中管理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690610" y="1476375"/>
            <a:ext cx="3085465" cy="296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服务器管理器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工具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组策略管理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域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选中技术部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鼠标右键单击创建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GPO  (Group Policy Object，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组策略对象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；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7310" y="0"/>
            <a:ext cx="85013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6309" y="167617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使用组策略集中管理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"/>
          <a:srcRect t="3544"/>
          <a:stretch>
            <a:fillRect/>
          </a:stretch>
        </p:blipFill>
        <p:spPr>
          <a:xfrm>
            <a:off x="0" y="1379606"/>
            <a:ext cx="6199646" cy="3115559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657975" y="1476375"/>
            <a:ext cx="5118100" cy="2009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2. 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服务器管理器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工具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组策略管理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域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选中技术部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鼠标右键单击创建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GPO  (Group Policy Object，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组策略对象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；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192" y="1036948"/>
            <a:ext cx="3670768" cy="268969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6309" y="167617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 dirty="0"/>
              <a:t>使用组策略集中管理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5693791" y="1476678"/>
            <a:ext cx="5191672" cy="2009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 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选中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GPO—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鼠标右键单击编辑；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  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进入编辑界面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用户配置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--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策略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--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管理模板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--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系统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阻止访问命令提示符，改为</a:t>
            </a:r>
            <a:r>
              <a:rPr lang="zh-CN" altLang="en-US" sz="2400" dirty="0">
                <a:solidFill>
                  <a:schemeClr val="accent5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已启用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；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96" y="3726640"/>
            <a:ext cx="4823717" cy="311452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6309" y="167617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 dirty="0"/>
              <a:t>使用组策略集中管理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5693791" y="1476678"/>
            <a:ext cx="5191672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同样方法在研发部创建一个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GPO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，阻止研发部访问注册表编辑工具；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79" y="3355942"/>
            <a:ext cx="5387419" cy="350205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96" y="951086"/>
            <a:ext cx="1574575" cy="232394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6309" y="167617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 dirty="0"/>
              <a:t>验证统一管理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372520" y="1956809"/>
            <a:ext cx="5191672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技术部王莉登录到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win2019-2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发现王莉不能使用命令提示符；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04" y="1352059"/>
            <a:ext cx="4038600" cy="24193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04" y="4217290"/>
            <a:ext cx="5210865" cy="247309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6309" y="167617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 dirty="0"/>
              <a:t>验证统一管理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372520" y="1956809"/>
            <a:ext cx="5191672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研发部的张三登录到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win2019-2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发现不能使用注册表编辑器；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19" y="1240893"/>
            <a:ext cx="4834876" cy="24809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19" y="4228797"/>
            <a:ext cx="5810250" cy="23050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WU4N2FjOGY1MzJhYmVhYmMzOTI1ZGNlNzFlMDI2NzgifQ=="/>
</p:tagLst>
</file>

<file path=ppt/theme/theme1.xml><?xml version="1.0" encoding="utf-8"?>
<a:theme xmlns:a="http://schemas.openxmlformats.org/drawingml/2006/main" name="5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000120140530A99PPBG">
  <a:themeElements>
    <a:clrScheme name="自定义 470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358CC1"/>
      </a:accent1>
      <a:accent2>
        <a:srgbClr val="2D9C9F"/>
      </a:accent2>
      <a:accent3>
        <a:srgbClr val="76C8A3"/>
      </a:accent3>
      <a:accent4>
        <a:srgbClr val="84ADE4"/>
      </a:accent4>
      <a:accent5>
        <a:srgbClr val="C00000"/>
      </a:accent5>
      <a:accent6>
        <a:srgbClr val="FFC000"/>
      </a:accent6>
      <a:hlink>
        <a:srgbClr val="00B0F0"/>
      </a:hlink>
      <a:folHlink>
        <a:srgbClr val="AFB2B4"/>
      </a:folHlink>
    </a:clrScheme>
    <a:fontScheme name="new">
      <a:majorFont>
        <a:latin typeface="Times New Roman"/>
        <a:ea typeface="楷体"/>
        <a:cs typeface=""/>
      </a:majorFont>
      <a:minorFont>
        <a:latin typeface="Times New Roman"/>
        <a:ea typeface="楷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5991</Words>
  <Application>WPS 演示</Application>
  <PresentationFormat>宽屏</PresentationFormat>
  <Paragraphs>482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47</vt:i4>
      </vt:variant>
    </vt:vector>
  </HeadingPairs>
  <TitlesOfParts>
    <vt:vector size="63" baseType="lpstr">
      <vt:lpstr>Arial</vt:lpstr>
      <vt:lpstr>宋体</vt:lpstr>
      <vt:lpstr>Wingdings</vt:lpstr>
      <vt:lpstr>等线</vt:lpstr>
      <vt:lpstr>Times New Roman</vt:lpstr>
      <vt:lpstr>楷体</vt:lpstr>
      <vt:lpstr>微软雅黑</vt:lpstr>
      <vt:lpstr>Arial Unicode MS</vt:lpstr>
      <vt:lpstr>等线 Light</vt:lpstr>
      <vt:lpstr>Calibri</vt:lpstr>
      <vt:lpstr>幼圆</vt:lpstr>
      <vt:lpstr>Wingdings</vt:lpstr>
      <vt:lpstr>5_Office 主题​​</vt:lpstr>
      <vt:lpstr>1_Office 主题​​</vt:lpstr>
      <vt:lpstr>2_Office 主题​​</vt:lpstr>
      <vt:lpstr>A000120140530A99PPBG</vt:lpstr>
      <vt:lpstr>3.1 AD域理论基础</vt:lpstr>
      <vt:lpstr>3.1 AD域理论基础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3.2 AD域实战部署</vt:lpstr>
      <vt:lpstr>设计活动目录</vt:lpstr>
      <vt:lpstr>安装活动目录</vt:lpstr>
      <vt:lpstr>安装活动目录</vt:lpstr>
      <vt:lpstr>打造“大脑”——将win2019-1升级为域控制器 </vt:lpstr>
      <vt:lpstr>开始部署</vt:lpstr>
      <vt:lpstr>安装关键角色</vt:lpstr>
      <vt:lpstr>选择必要服务</vt:lpstr>
      <vt:lpstr>安装服务</vt:lpstr>
      <vt:lpstr>配置域服务</vt:lpstr>
      <vt:lpstr>配置域服务</vt:lpstr>
      <vt:lpstr>林(Forest)、域树和域</vt:lpstr>
      <vt:lpstr>配置域服务</vt:lpstr>
      <vt:lpstr>配置域服务</vt:lpstr>
      <vt:lpstr>指定目录服务文件位置</vt:lpstr>
      <vt:lpstr>开始安装</vt:lpstr>
      <vt:lpstr>安装成功</vt:lpstr>
      <vt:lpstr>验证配置</vt:lpstr>
      <vt:lpstr>验证配置</vt:lpstr>
      <vt:lpstr>纳入第一台成员——将win2019-2服务器加入域</vt:lpstr>
      <vt:lpstr>加入域</vt:lpstr>
      <vt:lpstr>加入域</vt:lpstr>
      <vt:lpstr>PowerPoint 演示文稿</vt:lpstr>
      <vt:lpstr>加入域标志</vt:lpstr>
      <vt:lpstr>入域后即可同一账号访问不同服务器</vt:lpstr>
      <vt:lpstr>客户端入域——将Win10加入域</vt:lpstr>
      <vt:lpstr>PowerPoint 演示文稿</vt:lpstr>
      <vt:lpstr>3.3 AD域管理与应用 </vt:lpstr>
      <vt:lpstr>PowerPoint 演示文稿</vt:lpstr>
      <vt:lpstr>PowerPoint 演示文稿</vt:lpstr>
      <vt:lpstr>PowerPoint 演示文稿</vt:lpstr>
      <vt:lpstr>使用组策略集中管理</vt:lpstr>
      <vt:lpstr>使用组策略集中管理</vt:lpstr>
      <vt:lpstr>使用组策略集中管理</vt:lpstr>
      <vt:lpstr>使用组策略集中管理</vt:lpstr>
      <vt:lpstr>使用组策略集中管理</vt:lpstr>
      <vt:lpstr>验证统一管理</vt:lpstr>
      <vt:lpstr>验证统一管理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wangshiyu</dc:creator>
  <cp:lastModifiedBy>陶磊</cp:lastModifiedBy>
  <cp:revision>244</cp:revision>
  <dcterms:created xsi:type="dcterms:W3CDTF">2022-06-14T04:22:00Z</dcterms:created>
  <dcterms:modified xsi:type="dcterms:W3CDTF">2026-09-23T14:11:09Z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1D1B79D9BDF34E8C8AE629CC462D407F_13</vt:lpwstr>
  </property>
  <property fmtid="{D5CDD505-2E9C-101B-9397-08002B2CF9AE}" pid="3" name="KSOProductBuildVer">
    <vt:lpwstr>2052-12.1.0.28043</vt:lpwstr>
  </property>
</Properties>
</file>