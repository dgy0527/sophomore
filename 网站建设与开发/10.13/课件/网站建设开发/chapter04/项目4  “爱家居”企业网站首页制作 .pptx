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112"/>
  </p:handoutMasterIdLst>
  <p:sldIdLst>
    <p:sldId id="325" r:id="rId4"/>
    <p:sldId id="264" r:id="rId6"/>
    <p:sldId id="493" r:id="rId7"/>
    <p:sldId id="328" r:id="rId8"/>
    <p:sldId id="327" r:id="rId9"/>
    <p:sldId id="494" r:id="rId10"/>
    <p:sldId id="529" r:id="rId11"/>
    <p:sldId id="309" r:id="rId12"/>
    <p:sldId id="259" r:id="rId13"/>
    <p:sldId id="358" r:id="rId14"/>
    <p:sldId id="348" r:id="rId15"/>
    <p:sldId id="495" r:id="rId16"/>
    <p:sldId id="496" r:id="rId17"/>
    <p:sldId id="497" r:id="rId18"/>
    <p:sldId id="498" r:id="rId19"/>
    <p:sldId id="499" r:id="rId20"/>
    <p:sldId id="500" r:id="rId21"/>
    <p:sldId id="501" r:id="rId22"/>
    <p:sldId id="502" r:id="rId23"/>
    <p:sldId id="503" r:id="rId24"/>
    <p:sldId id="504" r:id="rId25"/>
    <p:sldId id="505" r:id="rId26"/>
    <p:sldId id="421" r:id="rId27"/>
    <p:sldId id="506" r:id="rId28"/>
    <p:sldId id="507" r:id="rId29"/>
    <p:sldId id="508" r:id="rId30"/>
    <p:sldId id="509" r:id="rId31"/>
    <p:sldId id="510" r:id="rId32"/>
    <p:sldId id="511" r:id="rId33"/>
    <p:sldId id="513" r:id="rId34"/>
    <p:sldId id="512" r:id="rId35"/>
    <p:sldId id="514" r:id="rId36"/>
    <p:sldId id="515" r:id="rId37"/>
    <p:sldId id="516" r:id="rId38"/>
    <p:sldId id="517" r:id="rId39"/>
    <p:sldId id="518" r:id="rId40"/>
    <p:sldId id="519" r:id="rId41"/>
    <p:sldId id="520" r:id="rId42"/>
    <p:sldId id="521" r:id="rId43"/>
    <p:sldId id="522" r:id="rId44"/>
    <p:sldId id="523" r:id="rId45"/>
    <p:sldId id="524" r:id="rId46"/>
    <p:sldId id="525" r:id="rId47"/>
    <p:sldId id="526" r:id="rId48"/>
    <p:sldId id="527" r:id="rId49"/>
    <p:sldId id="528" r:id="rId50"/>
    <p:sldId id="530" r:id="rId51"/>
    <p:sldId id="531" r:id="rId52"/>
    <p:sldId id="532" r:id="rId53"/>
    <p:sldId id="533" r:id="rId54"/>
    <p:sldId id="534" r:id="rId55"/>
    <p:sldId id="535" r:id="rId56"/>
    <p:sldId id="536" r:id="rId57"/>
    <p:sldId id="537" r:id="rId58"/>
    <p:sldId id="538" r:id="rId59"/>
    <p:sldId id="539" r:id="rId60"/>
    <p:sldId id="540" r:id="rId61"/>
    <p:sldId id="541" r:id="rId62"/>
    <p:sldId id="542" r:id="rId63"/>
    <p:sldId id="543" r:id="rId64"/>
    <p:sldId id="544" r:id="rId65"/>
    <p:sldId id="545" r:id="rId66"/>
    <p:sldId id="546" r:id="rId67"/>
    <p:sldId id="547" r:id="rId68"/>
    <p:sldId id="548" r:id="rId69"/>
    <p:sldId id="549" r:id="rId70"/>
    <p:sldId id="550" r:id="rId71"/>
    <p:sldId id="551" r:id="rId72"/>
    <p:sldId id="552" r:id="rId73"/>
    <p:sldId id="553" r:id="rId74"/>
    <p:sldId id="554" r:id="rId75"/>
    <p:sldId id="556" r:id="rId76"/>
    <p:sldId id="558" r:id="rId77"/>
    <p:sldId id="559" r:id="rId78"/>
    <p:sldId id="560" r:id="rId79"/>
    <p:sldId id="561" r:id="rId80"/>
    <p:sldId id="562" r:id="rId81"/>
    <p:sldId id="563" r:id="rId82"/>
    <p:sldId id="564" r:id="rId83"/>
    <p:sldId id="565" r:id="rId84"/>
    <p:sldId id="566" r:id="rId85"/>
    <p:sldId id="567" r:id="rId86"/>
    <p:sldId id="568" r:id="rId87"/>
    <p:sldId id="569" r:id="rId88"/>
    <p:sldId id="570" r:id="rId89"/>
    <p:sldId id="571" r:id="rId90"/>
    <p:sldId id="573" r:id="rId91"/>
    <p:sldId id="572" r:id="rId92"/>
    <p:sldId id="574" r:id="rId93"/>
    <p:sldId id="575" r:id="rId94"/>
    <p:sldId id="476" r:id="rId95"/>
    <p:sldId id="478" r:id="rId96"/>
    <p:sldId id="479" r:id="rId97"/>
    <p:sldId id="469" r:id="rId98"/>
    <p:sldId id="481" r:id="rId99"/>
    <p:sldId id="480" r:id="rId100"/>
    <p:sldId id="482" r:id="rId101"/>
    <p:sldId id="483" r:id="rId102"/>
    <p:sldId id="488" r:id="rId103"/>
    <p:sldId id="484" r:id="rId104"/>
    <p:sldId id="489" r:id="rId105"/>
    <p:sldId id="485" r:id="rId106"/>
    <p:sldId id="490" r:id="rId107"/>
    <p:sldId id="486" r:id="rId108"/>
    <p:sldId id="491" r:id="rId109"/>
    <p:sldId id="338" r:id="rId110"/>
    <p:sldId id="326" r:id="rId111"/>
  </p:sldIdLst>
  <p:sldSz cx="12190095" cy="6859270"/>
  <p:notesSz cx="6858000" cy="9144000"/>
  <p:custDataLst>
    <p:tags r:id="rId117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2" userDrawn="1">
          <p15:clr>
            <a:srgbClr val="A4A3A4"/>
          </p15:clr>
        </p15:guide>
        <p15:guide id="3" pos="6266" userDrawn="1">
          <p15:clr>
            <a:srgbClr val="A4A3A4"/>
          </p15:clr>
        </p15:guide>
        <p15:guide id="4" pos="14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2" clrIdx="0"/>
  <p:cmAuthor id="2" name="Microsoft 帐户" initials="M帐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2F2F2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5" autoAdjust="0"/>
    <p:restoredTop sz="96379" autoAdjust="0"/>
  </p:normalViewPr>
  <p:slideViewPr>
    <p:cSldViewPr snapToGrid="0" showGuides="1">
      <p:cViewPr varScale="1">
        <p:scale>
          <a:sx n="110" d="100"/>
          <a:sy n="110" d="100"/>
        </p:scale>
        <p:origin x="240" y="114"/>
      </p:cViewPr>
      <p:guideLst>
        <p:guide orient="horz" pos="1662"/>
        <p:guide pos="6266"/>
        <p:guide pos="14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31"/>
        <p:guide pos="221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7" Type="http://schemas.openxmlformats.org/officeDocument/2006/relationships/tags" Target="tags/tag53.xml"/><Relationship Id="rId116" Type="http://schemas.openxmlformats.org/officeDocument/2006/relationships/commentAuthors" Target="commentAuthors.xml"/><Relationship Id="rId115" Type="http://schemas.openxmlformats.org/officeDocument/2006/relationships/tableStyles" Target="tableStyles.xml"/><Relationship Id="rId114" Type="http://schemas.openxmlformats.org/officeDocument/2006/relationships/viewProps" Target="viewProps.xml"/><Relationship Id="rId113" Type="http://schemas.openxmlformats.org/officeDocument/2006/relationships/presProps" Target="presProps.xml"/><Relationship Id="rId112" Type="http://schemas.openxmlformats.org/officeDocument/2006/relationships/handoutMaster" Target="handoutMasters/handoutMaster1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		1 /*border-top-style: solid;</a:t>
            </a:r>
            <a:endParaRPr lang="en-US" altLang="zh-CN"/>
          </a:p>
          <a:p>
            <a:r>
              <a:rPr lang="en-US" altLang="zh-CN"/>
              <a:t>		border-top-color: red;</a:t>
            </a:r>
            <a:endParaRPr lang="en-US" altLang="zh-CN"/>
          </a:p>
          <a:p>
            <a:r>
              <a:rPr lang="en-US" altLang="zh-CN"/>
              <a:t>		border-top-width: 10px;*/</a:t>
            </a:r>
            <a:endParaRPr lang="en-US" altLang="zh-CN"/>
          </a:p>
          <a:p>
            <a:r>
              <a:rPr lang="en-US" altLang="zh-CN"/>
              <a:t>		2 /*border-top: solid red 10px;*/</a:t>
            </a:r>
            <a:endParaRPr lang="en-US" altLang="zh-CN"/>
          </a:p>
          <a:p>
            <a:r>
              <a:rPr lang="en-US" altLang="zh-CN"/>
              <a:t>		3 /*border: solid red 10px;*/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边框宽度：可以覆盖的属性，先设置</a:t>
            </a:r>
            <a:r>
              <a:rPr lang="en-US" altLang="zh-CN"/>
              <a:t>border-width</a:t>
            </a:r>
            <a:r>
              <a:rPr lang="zh-CN" altLang="en-US"/>
              <a:t>四边宽度，再单独设置</a:t>
            </a:r>
            <a:r>
              <a:rPr lang="en-US" altLang="zh-CN"/>
              <a:t>border-top-width</a:t>
            </a:r>
            <a:r>
              <a:rPr lang="zh-CN" altLang="en-US"/>
              <a:t>。反过来则</a:t>
            </a:r>
            <a:r>
              <a:rPr lang="zh-CN" altLang="en-US"/>
              <a:t>不行。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example02.html</a:t>
            </a:r>
            <a:endParaRPr lang="en-US" altLang="zh-CN"/>
          </a:p>
          <a:p>
            <a:r>
              <a:rPr lang="zh-CN" altLang="en-US"/>
              <a:t>使用层叠的方法。分别在不同的顺序，结果也</a:t>
            </a:r>
            <a:r>
              <a:rPr lang="zh-CN" altLang="en-US"/>
              <a:t>不一样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example03.html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类比</a:t>
            </a:r>
            <a:r>
              <a:rPr lang="en-US" altLang="zh-CN"/>
              <a:t>font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顺序没有要求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添加</a:t>
            </a:r>
            <a:r>
              <a:rPr lang="en-US" altLang="zh-CN"/>
              <a:t>border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添加</a:t>
            </a:r>
            <a:r>
              <a:rPr lang="en-US" altLang="zh-CN"/>
              <a:t>padding</a:t>
            </a:r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添加</a:t>
            </a:r>
            <a:r>
              <a:rPr lang="en-US" altLang="zh-CN"/>
              <a:t>margin</a:t>
            </a:r>
            <a:endParaRPr lang="en-US" altLang="zh-CN"/>
          </a:p>
          <a:p>
            <a:r>
              <a:rPr lang="zh-CN" altLang="en-US"/>
              <a:t>【</a:t>
            </a:r>
            <a:r>
              <a:rPr lang="en-US" altLang="zh-CN"/>
              <a:t>dw</a:t>
            </a:r>
            <a:r>
              <a:rPr lang="zh-CN" altLang="en-US"/>
              <a:t>演示】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highlight>
                  <a:srgbClr val="FFFF00"/>
                </a:highlight>
              </a:rPr>
              <a:t>盒子占的宽度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/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高度</a:t>
            </a:r>
            <a:r>
              <a:rPr lang="zh-CN" altLang="en-US">
                <a:highlight>
                  <a:srgbClr val="FFFF00"/>
                </a:highlight>
              </a:rPr>
              <a:t>，</a:t>
            </a:r>
            <a:r>
              <a:rPr lang="en-US" altLang="zh-CN">
                <a:highlight>
                  <a:srgbClr val="FFFF00"/>
                </a:highlight>
              </a:rPr>
              <a:t> + margin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zh-CN" altLang="en-US">
                <a:highlight>
                  <a:srgbClr val="FFFF00"/>
                </a:highlight>
              </a:rPr>
              <a:t>盒子本身的宽度</a:t>
            </a:r>
            <a:r>
              <a:rPr lang="en-US" altLang="zh-CN">
                <a:highlight>
                  <a:srgbClr val="FFFF00"/>
                </a:highlight>
              </a:rPr>
              <a:t>/</a:t>
            </a:r>
            <a:r>
              <a:rPr lang="zh-CN" altLang="en-US">
                <a:highlight>
                  <a:srgbClr val="FFFF00"/>
                </a:highlight>
              </a:rPr>
              <a:t>高度，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不加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与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rgba</a:t>
            </a:r>
            <a:r>
              <a:rPr lang="zh-CN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区别：</a:t>
            </a:r>
            <a:endParaRPr lang="zh-CN" altLang="en-US" b="1" dirty="0" err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  <a:p>
            <a:r>
              <a:rPr lang="zh-CN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一个是背景颜色</a:t>
            </a:r>
            <a:r>
              <a:rPr lang="zh-CN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半透明。</a:t>
            </a:r>
            <a:endParaRPr lang="zh-CN" altLang="en-US" b="1" dirty="0" err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  <a:p>
            <a:r>
              <a:rPr lang="zh-CN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一个是盒子本身半透明，包括盒子里面的内容（文字等）都半透明</a:t>
            </a:r>
            <a:r>
              <a:rPr lang="zh-CN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了。</a:t>
            </a:r>
            <a:endParaRPr lang="zh-CN" altLang="en-US" b="1" dirty="0" err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1. to right/ **deg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颜色值可以是</a:t>
            </a:r>
            <a:r>
              <a:rPr lang="en-US" altLang="zh-CN"/>
              <a:t>2</a:t>
            </a:r>
            <a:r>
              <a:rPr lang="zh-CN" altLang="en-US"/>
              <a:t>个，也可以是</a:t>
            </a:r>
            <a:r>
              <a:rPr lang="zh-CN" altLang="en-US"/>
              <a:t>多个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颜色后面可以添加</a:t>
            </a:r>
            <a:r>
              <a:rPr lang="zh-CN" altLang="en-US"/>
              <a:t>百分比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径向渐变：</a:t>
            </a:r>
            <a:r>
              <a:rPr lang="zh-CN" altLang="en-US"/>
              <a:t>从中心点向外扩散的一个</a:t>
            </a:r>
            <a:r>
              <a:rPr lang="zh-CN" altLang="en-US"/>
              <a:t>渐变</a:t>
            </a:r>
            <a:endParaRPr lang="zh-CN" altLang="en-US"/>
          </a:p>
          <a:p>
            <a:endParaRPr lang="zh-CN" altLang="en-US"/>
          </a:p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渐变形状</a:t>
            </a:r>
            <a:r>
              <a:rPr lang="zh-CN" altLang="en-US"/>
              <a:t>默认是</a:t>
            </a:r>
            <a:r>
              <a:rPr lang="zh-CN" altLang="en-US"/>
              <a:t>椭圆形</a:t>
            </a:r>
            <a:endParaRPr lang="zh-CN" altLang="en-US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渐变形状后面可以加：</a:t>
            </a:r>
            <a:endParaRPr lang="zh-CN" altLang="en-US"/>
          </a:p>
          <a:p>
            <a:r>
              <a:rPr lang="en-US" altLang="zh-CN">
                <a:sym typeface="+mn-ea"/>
              </a:rPr>
              <a:t>at center</a:t>
            </a:r>
            <a:endParaRPr lang="en-US" altLang="zh-CN"/>
          </a:p>
          <a:p>
            <a:r>
              <a:rPr lang="en-US" altLang="zh-CN">
                <a:sym typeface="+mn-ea"/>
              </a:rPr>
              <a:t>at </a:t>
            </a:r>
            <a:r>
              <a:rPr lang="en-US" altLang="zh-CN">
                <a:sym typeface="+mn-ea"/>
              </a:rPr>
              <a:t>left top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at 30px 60px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highlight>
                  <a:srgbClr val="FFFF00"/>
                </a:highlight>
              </a:rPr>
              <a:t>【</a:t>
            </a:r>
            <a:r>
              <a:rPr lang="en-US" altLang="zh-CN">
                <a:highlight>
                  <a:srgbClr val="FFFF00"/>
                </a:highlight>
              </a:rPr>
              <a:t>dw</a:t>
            </a:r>
            <a:r>
              <a:rPr lang="zh-CN" altLang="en-US">
                <a:highlight>
                  <a:srgbClr val="FFFF00"/>
                </a:highlight>
              </a:rPr>
              <a:t>演示】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/>
              <a:t>写两个</a:t>
            </a:r>
            <a:r>
              <a:rPr lang="en-US" altLang="zh-CN"/>
              <a:t>&lt;div&gt;&lt;/div&gt;</a:t>
            </a:r>
            <a:endParaRPr lang="en-US" altLang="zh-CN"/>
          </a:p>
          <a:p>
            <a:r>
              <a:rPr lang="zh-CN" altLang="en-US"/>
              <a:t>并设置</a:t>
            </a:r>
            <a:r>
              <a:rPr lang="en-US" altLang="zh-CN"/>
              <a:t>&lt;style&gt;&lt;/style&gt; </a:t>
            </a:r>
            <a:r>
              <a:rPr lang="zh-CN" altLang="en-US"/>
              <a:t>宽度和高度</a:t>
            </a:r>
            <a:r>
              <a:rPr lang="en-US" altLang="zh-CN"/>
              <a:t>   ---  </a:t>
            </a:r>
            <a:r>
              <a:rPr lang="zh-CN" altLang="en-US"/>
              <a:t>每个</a:t>
            </a:r>
            <a:r>
              <a:rPr lang="zh-CN" altLang="en-US"/>
              <a:t>都独占</a:t>
            </a:r>
            <a:r>
              <a:rPr lang="zh-CN" altLang="en-US"/>
              <a:t>一行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对比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写两个</a:t>
            </a:r>
            <a:r>
              <a:rPr lang="en-US" altLang="zh-CN"/>
              <a:t>&lt;span&gt;&lt;/span&gt;</a:t>
            </a:r>
            <a:endParaRPr lang="en-US" altLang="zh-CN"/>
          </a:p>
          <a:p>
            <a:r>
              <a:rPr lang="zh-CN" altLang="en-US">
                <a:sym typeface="+mn-ea"/>
              </a:rPr>
              <a:t>并设置</a:t>
            </a:r>
            <a:r>
              <a:rPr lang="en-US" altLang="zh-CN">
                <a:sym typeface="+mn-ea"/>
              </a:rPr>
              <a:t>&lt;style&gt;&lt;/style&gt; </a:t>
            </a:r>
            <a:r>
              <a:rPr lang="zh-CN" altLang="en-US">
                <a:sym typeface="+mn-ea"/>
              </a:rPr>
              <a:t>宽度和高度</a:t>
            </a:r>
            <a:r>
              <a:rPr lang="en-US" altLang="zh-CN">
                <a:sym typeface="+mn-ea"/>
              </a:rPr>
              <a:t>   ---  </a:t>
            </a:r>
            <a:r>
              <a:rPr lang="zh-CN" altLang="en-US">
                <a:sym typeface="+mn-ea"/>
              </a:rPr>
              <a:t>在一行内显示，且无法设置</a:t>
            </a:r>
            <a:r>
              <a:rPr lang="zh-CN" altLang="en-US">
                <a:sym typeface="+mn-ea"/>
              </a:rPr>
              <a:t>宽高</a:t>
            </a:r>
            <a:endParaRPr lang="zh-CN" altLang="en-US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行内块元素</a:t>
            </a:r>
            <a:endParaRPr lang="en-US" altLang="zh-CN" dirty="0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img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/&gt;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举例：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既有行内元素的属性：在一行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排列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也有块元素的属性：可以设置宽高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对齐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怎么去设计下面的</a:t>
            </a:r>
            <a:r>
              <a:rPr lang="zh-CN" altLang="en-US"/>
              <a:t>网页：</a:t>
            </a:r>
            <a:endParaRPr lang="zh-CN" altLang="en-US"/>
          </a:p>
          <a:p>
            <a:r>
              <a:rPr lang="zh-CN" altLang="en-US"/>
              <a:t>上：</a:t>
            </a:r>
            <a:r>
              <a:rPr lang="en-US" altLang="zh-CN"/>
              <a:t>H2</a:t>
            </a:r>
            <a:r>
              <a:rPr lang="zh-CN" altLang="en-US"/>
              <a:t>标签</a:t>
            </a:r>
            <a:endParaRPr lang="zh-CN" altLang="en-US"/>
          </a:p>
          <a:p>
            <a:r>
              <a:rPr lang="zh-CN" altLang="en-US"/>
              <a:t>下：很多元素，都在一行</a:t>
            </a:r>
            <a:r>
              <a:rPr lang="en-US" altLang="zh-CN"/>
              <a:t> --&gt; </a:t>
            </a:r>
            <a:r>
              <a:rPr lang="zh-CN" altLang="en-US"/>
              <a:t>使用行内标签。</a:t>
            </a:r>
            <a:r>
              <a:rPr lang="en-US" altLang="zh-CN"/>
              <a:t>  </a:t>
            </a:r>
            <a:r>
              <a:rPr lang="zh-CN" altLang="en-US"/>
              <a:t>首先一个大的</a:t>
            </a:r>
            <a:r>
              <a:rPr lang="en-US" altLang="zh-CN"/>
              <a:t>div</a:t>
            </a:r>
            <a:r>
              <a:rPr lang="zh-CN" altLang="en-US"/>
              <a:t>标签，嵌套若干个</a:t>
            </a:r>
            <a:r>
              <a:rPr lang="zh-CN" altLang="en-US"/>
              <a:t>行内标签。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模式之间是可以相互转换</a:t>
            </a:r>
            <a:r>
              <a:rPr lang="zh-CN" altLang="en-US"/>
              <a:t>的、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inline-block</a:t>
            </a:r>
            <a:r>
              <a:rPr lang="zh-CN" altLang="en-US"/>
              <a:t>的</a:t>
            </a:r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底部对齐，不能顶部</a:t>
            </a:r>
            <a:r>
              <a:rPr lang="zh-CN" altLang="en-US"/>
              <a:t>对齐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中间距离需要通过调整</a:t>
            </a:r>
            <a:r>
              <a:rPr lang="en-US" altLang="zh-CN"/>
              <a:t>margin-left/right</a:t>
            </a:r>
            <a:r>
              <a:rPr lang="zh-CN" altLang="en-US"/>
              <a:t>水平外边距，不同分辨率显示器像素不一样，想要分布在边缘，需要使用</a:t>
            </a:r>
            <a:r>
              <a:rPr lang="en-US" altLang="zh-CN"/>
              <a:t>float</a:t>
            </a:r>
            <a:r>
              <a:rPr lang="zh-CN" altLang="en-US"/>
              <a:t>浮动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多个标签设置</a:t>
            </a:r>
            <a:r>
              <a:rPr lang="zh-CN" altLang="en-US"/>
              <a:t>浮动：</a:t>
            </a:r>
            <a:endParaRPr lang="zh-CN" altLang="en-US"/>
          </a:p>
          <a:p>
            <a:r>
              <a:rPr lang="zh-CN" altLang="en-US"/>
              <a:t>要设置就都设置浮动，</a:t>
            </a:r>
            <a:endParaRPr lang="zh-CN" altLang="en-US"/>
          </a:p>
          <a:p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浮动属性的标签会脱离标准文档流：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在页面中不再占有位置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example22.html:</a:t>
            </a:r>
            <a:endParaRPr lang="en-US" altLang="zh-CN"/>
          </a:p>
          <a:p>
            <a:r>
              <a:rPr lang="zh-CN" altLang="en-US"/>
              <a:t>当</a:t>
            </a:r>
            <a:r>
              <a:rPr lang="zh-CN" altLang="en-US">
                <a:sym typeface="+mn-ea"/>
              </a:rPr>
              <a:t>没有设置</a:t>
            </a:r>
            <a:r>
              <a:rPr lang="zh-CN" altLang="en-US"/>
              <a:t>大盒子的高度时，其高度是由三个子盒子撑开</a:t>
            </a:r>
            <a:r>
              <a:rPr lang="zh-CN" altLang="en-US"/>
              <a:t>的。</a:t>
            </a:r>
            <a:endParaRPr lang="zh-CN" altLang="en-US"/>
          </a:p>
          <a:p>
            <a:r>
              <a:rPr lang="zh-CN" altLang="en-US"/>
              <a:t>当设置了三个子盒子为</a:t>
            </a:r>
            <a:r>
              <a:rPr lang="en-US" altLang="zh-CN"/>
              <a:t>float</a:t>
            </a:r>
            <a:r>
              <a:rPr lang="zh-CN" altLang="en-US"/>
              <a:t>浮动之后，脱离了标准流，高度变为</a:t>
            </a:r>
            <a:r>
              <a:rPr lang="en-US" altLang="zh-CN"/>
              <a:t>0</a:t>
            </a:r>
            <a:r>
              <a:rPr lang="zh-CN" altLang="en-US"/>
              <a:t>，那么相应的大盒子高度也变为</a:t>
            </a:r>
            <a:r>
              <a:rPr lang="en-US" altLang="zh-CN"/>
              <a:t>0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作用：</a:t>
            </a:r>
            <a:endParaRPr lang="zh-CN" altLang="en-US">
              <a:sym typeface="+mn-ea"/>
            </a:endParaRPr>
          </a:p>
          <a:p>
            <a:r>
              <a:rPr lang="en-US" altLang="zh-CN"/>
              <a:t>1. </a:t>
            </a:r>
            <a:r>
              <a:rPr lang="zh-CN" altLang="en-US"/>
              <a:t>清除溢出的部分，隐藏</a:t>
            </a:r>
            <a:r>
              <a:rPr lang="zh-CN" altLang="en-US"/>
              <a:t>内容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清除浮动，包括清除外边距合并</a:t>
            </a:r>
            <a:r>
              <a:rPr lang="zh-CN" altLang="en-US"/>
              <a:t>的问题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absolute: </a:t>
            </a:r>
            <a:r>
              <a:rPr lang="zh-CN" altLang="en-US"/>
              <a:t>制作悬浮菜单、弹出框、关闭按钮等。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相对定位两个特点：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相对于自身原来位置的</a:t>
            </a:r>
            <a:r>
              <a:rPr lang="zh-CN" altLang="en-US"/>
              <a:t>偏移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没有脱离标准流，自己原来的位置还是保留</a:t>
            </a:r>
            <a:r>
              <a:rPr lang="zh-CN" altLang="en-US"/>
              <a:t>的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若父元素不是静态定位</a:t>
            </a:r>
            <a:r>
              <a:rPr lang="en-US" altLang="zh-CN"/>
              <a:t>static, </a:t>
            </a:r>
            <a:r>
              <a:rPr lang="zh-CN" altLang="en-US"/>
              <a:t>绝对定位会依据最近的父元素进行</a:t>
            </a:r>
            <a:r>
              <a:rPr lang="zh-CN" altLang="en-US"/>
              <a:t>定位。</a:t>
            </a:r>
            <a:endParaRPr lang="zh-CN" altLang="en-US"/>
          </a:p>
          <a:p>
            <a:r>
              <a:rPr lang="zh-CN" altLang="en-US"/>
              <a:t>否则会依据</a:t>
            </a:r>
            <a:r>
              <a:rPr lang="en-US" altLang="zh-CN"/>
              <a:t>body</a:t>
            </a:r>
            <a:r>
              <a:rPr lang="zh-CN" altLang="en-US"/>
              <a:t>进行</a:t>
            </a:r>
            <a:r>
              <a:rPr lang="zh-CN" altLang="en-US"/>
              <a:t>定位。</a:t>
            </a:r>
            <a:endParaRPr lang="zh-CN" altLang="en-US"/>
          </a:p>
          <a:p>
            <a:r>
              <a:rPr lang="zh-CN" altLang="en-US"/>
              <a:t>【</a:t>
            </a:r>
            <a:r>
              <a:rPr lang="en-US" altLang="zh-CN"/>
              <a:t>dw</a:t>
            </a:r>
            <a:r>
              <a:rPr lang="zh-CN" altLang="en-US"/>
              <a:t>演示】：先</a:t>
            </a:r>
            <a:r>
              <a:rPr lang="en-US" altLang="zh-CN"/>
              <a:t>absolute</a:t>
            </a:r>
            <a:r>
              <a:rPr lang="zh-CN" altLang="en-US"/>
              <a:t>，后给父元素加上</a:t>
            </a:r>
            <a:r>
              <a:rPr lang="en-US" altLang="zh-CN"/>
              <a:t>position: relative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脱离标准流，</a:t>
            </a:r>
            <a:r>
              <a:rPr lang="zh-CN" altLang="en-US"/>
              <a:t>不占位置，会让</a:t>
            </a:r>
            <a:r>
              <a:rPr lang="en-US" altLang="zh-CN"/>
              <a:t>child-03</a:t>
            </a:r>
            <a:r>
              <a:rPr lang="zh-CN" altLang="en-US"/>
              <a:t>位置占</a:t>
            </a:r>
            <a:r>
              <a:rPr lang="zh-CN" altLang="en-US"/>
              <a:t>上去。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【</a:t>
            </a:r>
            <a:r>
              <a:rPr lang="en-US" altLang="zh-CN"/>
              <a:t>dw</a:t>
            </a:r>
            <a:r>
              <a:rPr lang="zh-CN" altLang="en-US"/>
              <a:t>演示】</a:t>
            </a:r>
            <a:r>
              <a:rPr lang="en-US" altLang="zh-CN"/>
              <a:t> + </a:t>
            </a:r>
            <a:r>
              <a:rPr lang="zh-CN" altLang="en-US"/>
              <a:t>【网页演示】以购物网站为例，导航栏和侧边栏都是固定定位</a:t>
            </a:r>
            <a:r>
              <a:rPr lang="en-US" altLang="zh-CN"/>
              <a:t>fixed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不占位置，段落文字顺序排列，没有图片的</a:t>
            </a:r>
            <a:r>
              <a:rPr lang="zh-CN" altLang="en-US"/>
              <a:t>位置。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8" Type="http://schemas.openxmlformats.org/officeDocument/2006/relationships/notesSlide" Target="../notesSlides/notesSlide30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7" Type="http://schemas.openxmlformats.org/officeDocument/2006/relationships/notesSlide" Target="../notesSlides/notesSlide31.xml"/><Relationship Id="rId16" Type="http://schemas.openxmlformats.org/officeDocument/2006/relationships/slideLayout" Target="../slideLayouts/slideLayout10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2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3.bin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5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4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4" Type="http://schemas.openxmlformats.org/officeDocument/2006/relationships/notesSlide" Target="../notesSlides/notesSlide72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3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5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5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oleObject" Target="../embeddings/oleObject6.bin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8.png"/></Relationships>
</file>

<file path=ppt/slides/_rels/slide9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6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7.bin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9.xml"/></Relationships>
</file>

<file path=ppt/slides/_rels/slide9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9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oleObject" Target="../embeddings/oleObject8.bin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1.xml"/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oleObject" Target="../embeddings/oleObject9.bin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3.xml"/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5.png"/><Relationship Id="rId2" Type="http://schemas.openxmlformats.org/officeDocument/2006/relationships/image" Target="../media/image24.emf"/><Relationship Id="rId1" Type="http://schemas.openxmlformats.org/officeDocument/2006/relationships/oleObject" Target="../embeddings/oleObject10.bin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5.xml"/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oleObject" Target="../embeddings/oleObject11.bin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798205"/>
            <a:ext cx="7706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项目</a:t>
            </a:r>
            <a:r>
              <a:rPr lang="en-US" altLang="zh-CN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4  “</a:t>
            </a:r>
            <a:r>
              <a:rPr lang="zh-CN" altLang="en-US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爱家居”企业网站首页制作</a:t>
            </a:r>
            <a:endParaRPr lang="zh-CN" altLang="en-US" sz="3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2350790" y="3861589"/>
            <a:ext cx="7706107" cy="430312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网页设计与制作项目教程（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HTML+CSS+JavaScript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>
            <p:custDataLst>
              <p:tags r:id="rId1"/>
            </p:custDataLst>
          </p:nvPr>
        </p:nvGrpSpPr>
        <p:grpSpPr>
          <a:xfrm>
            <a:off x="2566814" y="2471122"/>
            <a:ext cx="7293883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>
              <p:custDataLst>
                <p:tags r:id="rId2"/>
              </p:custDataLst>
            </p:nvPr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了解盒子模型的概念，能够举例描述盒子模型结构。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>
              <p:custDataLst>
                <p:tags r:id="rId3"/>
              </p:custDataLst>
            </p:nvPr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>
            <p:custDataLst>
              <p:tags r:id="rId4"/>
            </p:custDataLst>
          </p:nvPr>
        </p:nvGrpSpPr>
        <p:grpSpPr>
          <a:xfrm>
            <a:off x="2566814" y="3341404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>
              <p:custDataLst>
                <p:tags r:id="rId5"/>
              </p:custDataLst>
            </p:nvPr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掌握元素的类型，能够归纳不同元素类型的特点。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>
              <p:custDataLst>
                <p:tags r:id="rId6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7"/>
            </p:custDataLst>
          </p:nvPr>
        </p:nvGrpSpPr>
        <p:grpSpPr>
          <a:xfrm>
            <a:off x="2566814" y="4255804"/>
            <a:ext cx="7248475" cy="685959"/>
            <a:chOff x="978872" y="2570437"/>
            <a:chExt cx="5437064" cy="514350"/>
          </a:xfrm>
        </p:grpSpPr>
        <p:sp>
          <p:nvSpPr>
            <p:cNvPr id="17" name="Pentagon 5"/>
            <p:cNvSpPr/>
            <p:nvPr>
              <p:custDataLst>
                <p:tags r:id="rId8"/>
              </p:custDataLst>
            </p:nvPr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熟悉常见的布局类型，能够总结不同类型布局的差异。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>
              <p:custDataLst>
                <p:tags r:id="rId9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2566814" y="2513510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掌握使用盒子模型相关属性设置不同的盒子模型样式的方法。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3383794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掌握使用浮动和定位属性对页面进行布局的方法。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66814" y="4327691"/>
            <a:ext cx="7248475" cy="685959"/>
            <a:chOff x="978872" y="4108725"/>
            <a:chExt cx="5437064" cy="514350"/>
          </a:xfrm>
        </p:grpSpPr>
        <p:sp>
          <p:nvSpPr>
            <p:cNvPr id="17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掌握清除元素浮动的方法。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项目描述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29293" y="2112072"/>
            <a:ext cx="10322920" cy="38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在互联网时代，企业网站因其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低成本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的优势，被越来越多的企业所使用。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企业网站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作为企业宣传品牌，展示服务与产品的平台，在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中起到了至关重要的作用。“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爱家居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”是一家从事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线下家居销售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的店铺，最近“爱家居”经理老王找到小思，想请小思帮忙制作一个企业网站。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通过前面两个页面的制作，小思已经掌握了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的基础。接到老王的委托后，小思首先制定了这段时间的知识学习计划，包括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元素的类型与转换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等网页布局的基础知识。然后再动手制作“爱家居”企业网站。由于篇幅限制，本项目只讲解“爱家居”企业网站首页的制作过程。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86013" y="2501580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386013" y="3421978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386013" y="4352556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291565" y="2479401"/>
            <a:ext cx="6655710" cy="613062"/>
            <a:chOff x="4315150" y="953426"/>
            <a:chExt cx="4992432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认识盒子模型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91565" y="3405152"/>
            <a:ext cx="6655710" cy="613062"/>
            <a:chOff x="4315150" y="1647579"/>
            <a:chExt cx="4992432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4-2】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盒子模型的基础属性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291565" y="4330903"/>
            <a:ext cx="6655710" cy="613062"/>
            <a:chOff x="4315150" y="2341731"/>
            <a:chExt cx="4992432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4-3】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盒子模型新增属性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86013" y="5288101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291565" y="5271275"/>
            <a:ext cx="6655710" cy="613062"/>
            <a:chOff x="4315150" y="1647579"/>
            <a:chExt cx="4992432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4-4】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元素的类型与转换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96591" y="4252642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396591" y="5123345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08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302143" y="4230463"/>
            <a:ext cx="6645132" cy="613062"/>
            <a:chOff x="4315150" y="953426"/>
            <a:chExt cx="4984497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4-7】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布局及定义基础样式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9844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302143" y="5106519"/>
            <a:ext cx="6645132" cy="613062"/>
            <a:chOff x="4315150" y="1647579"/>
            <a:chExt cx="4984497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3712099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4-8】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“导航及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banner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9844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396591" y="3347607"/>
            <a:ext cx="1192190" cy="614525"/>
            <a:chOff x="2215144" y="3084852"/>
            <a:chExt cx="1244730" cy="844793"/>
          </a:xfrm>
        </p:grpSpPr>
        <p:sp>
          <p:nvSpPr>
            <p:cNvPr id="34" name="平行四边形 33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302143" y="3325954"/>
            <a:ext cx="6645132" cy="613062"/>
            <a:chOff x="4315150" y="2341731"/>
            <a:chExt cx="4917398" cy="540057"/>
          </a:xfrm>
        </p:grpSpPr>
        <p:sp>
          <p:nvSpPr>
            <p:cNvPr id="37" name="矩形 3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4-6】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元素的定位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4917398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396591" y="2484602"/>
            <a:ext cx="1192190" cy="614525"/>
            <a:chOff x="2215144" y="3084852"/>
            <a:chExt cx="1244730" cy="844793"/>
          </a:xfrm>
        </p:grpSpPr>
        <p:sp>
          <p:nvSpPr>
            <p:cNvPr id="40" name="平行四边形 39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302143" y="2462949"/>
            <a:ext cx="6656866" cy="613062"/>
            <a:chOff x="4315150" y="2341731"/>
            <a:chExt cx="4993299" cy="540057"/>
          </a:xfrm>
        </p:grpSpPr>
        <p:sp>
          <p:nvSpPr>
            <p:cNvPr id="43" name="矩形 42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4-5】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元素的浮动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平行四边形 43"/>
            <p:cNvSpPr/>
            <p:nvPr/>
          </p:nvSpPr>
          <p:spPr>
            <a:xfrm>
              <a:off x="4315150" y="2341731"/>
              <a:ext cx="4993299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2396591" y="2652113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09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302143" y="2630460"/>
            <a:ext cx="6645132" cy="613062"/>
            <a:chOff x="4315150" y="2341731"/>
            <a:chExt cx="4984497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4-9】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制作“热门推荐”模块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9844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6591" y="3587658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396591" y="4518236"/>
            <a:ext cx="1192190" cy="614525"/>
            <a:chOff x="2215144" y="3084852"/>
            <a:chExt cx="1244730" cy="844793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302143" y="3570832"/>
            <a:ext cx="6645132" cy="613062"/>
            <a:chOff x="4315150" y="1647579"/>
            <a:chExt cx="4917397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91237"/>
              <a:ext cx="3300673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4-10】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制作“夏日生活”模块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49173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302143" y="4496583"/>
            <a:ext cx="6645132" cy="613062"/>
            <a:chOff x="4315150" y="2341731"/>
            <a:chExt cx="4917397" cy="540057"/>
          </a:xfrm>
        </p:grpSpPr>
        <p:sp>
          <p:nvSpPr>
            <p:cNvPr id="31" name="矩形 30"/>
            <p:cNvSpPr/>
            <p:nvPr/>
          </p:nvSpPr>
          <p:spPr>
            <a:xfrm>
              <a:off x="4841197" y="2498986"/>
              <a:ext cx="4391350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4-11】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制作“版权信息”模块和“悬浮框”模块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2341731"/>
              <a:ext cx="49173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4-1】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是网页布局的基础，读者只有掌握了盒子模型的各种规律，才可以更好地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控制网页中各个元素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。下面将带领读者认识盒子模型。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认识盒子模型</a:t>
            </a:r>
            <a:endParaRPr lang="zh-CN" altLang="en-US" sz="2000" dirty="0"/>
          </a:p>
        </p:txBody>
      </p:sp>
      <p:sp>
        <p:nvSpPr>
          <p:cNvPr id="14" name="云形标注 13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018579" y="2685338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什么是盒子模型？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50326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盒子模型，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能够举例说明盒子模型的构成和作用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65538" name="图片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537" y="1917754"/>
            <a:ext cx="52673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组合 27"/>
          <p:cNvGrpSpPr/>
          <p:nvPr/>
        </p:nvGrpSpPr>
        <p:grpSpPr bwMode="auto">
          <a:xfrm rot="10800000">
            <a:off x="1143692" y="2970769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460937"/>
              <a:ext cx="3736970" cy="1586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在浏览网站时，我们会发现页面的内容都是按照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区域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划分的。页面中的每一块区域分别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承载不同的内容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。因此网页的内容虽然零散，但在版式排列上依然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清晰有条理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54" y="1665288"/>
            <a:ext cx="5556259" cy="368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grpSp>
        <p:nvGrpSpPr>
          <p:cNvPr id="28" name="组合 27"/>
          <p:cNvGrpSpPr/>
          <p:nvPr/>
        </p:nvGrpSpPr>
        <p:grpSpPr bwMode="auto">
          <a:xfrm rot="10800000">
            <a:off x="1143692" y="2572855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309024"/>
              <a:ext cx="3736970" cy="1890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盒子模型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就是把页面中的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元素看作一个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方形的盒子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，也可以理解为一个盛装内容的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容器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。每个盒子（容器）都由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组成。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注意：虽然盒子模型拥有内边距、边框、外边距、宽度和高度这些基本属性，但是并不要求每个盒子模型都必须定义这些属性。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4-2】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基础属性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盒子模型的基础属性包括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、内边距属性、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。通过设置这些属性可使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元素的表现形式更加多样化。下面将带领读者认识盒子模型的基础属性。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的方法，在网页中能够设置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边框宽度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  <a:endPara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43692" y="2948840"/>
          <a:ext cx="9932428" cy="3529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/>
                <a:gridCol w="3812797"/>
                <a:gridCol w="2625294"/>
              </a:tblGrid>
              <a:tr h="60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上边框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下边框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border-bottom-style: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左边框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border-left-style: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365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  <a:endPara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16852" y="2971937"/>
          <a:ext cx="9932428" cy="3682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/>
                <a:gridCol w="3812797"/>
                <a:gridCol w="2625294"/>
              </a:tblGrid>
              <a:tr h="427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 rowSpan="3">
                  <a:txBody>
                    <a:bodyPr/>
                    <a:lstStyle/>
                    <a:p>
                      <a:pPr algn="ctr"/>
                      <a:endParaRPr lang="en-US" altLang="zh-CN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右边框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border-right-color: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综合设置边框样式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无（默认）、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solid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单实线、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dashed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虚线、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dotted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double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双实线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综合设置边框宽度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综合设置边框颜色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颜色英文单词、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#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十六进制颜色值、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r,g,b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r%,g%,b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%)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84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综合设置边框全部属性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四边宽度 四边样式 四边颜色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1737631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边框样式</a:t>
              </a:r>
              <a:endPara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1739218" y="3399881"/>
            <a:ext cx="2468563" cy="1448839"/>
            <a:chOff x="810248" y="3425192"/>
            <a:chExt cx="2468077" cy="145041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45041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1301354" y="3461266"/>
              <a:ext cx="1338564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页面中边框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的风格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左大括号 19"/>
          <p:cNvSpPr/>
          <p:nvPr/>
        </p:nvSpPr>
        <p:spPr bwMode="auto">
          <a:xfrm>
            <a:off x="4395528" y="2385859"/>
            <a:ext cx="114237" cy="3394010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 bwMode="auto">
          <a:xfrm>
            <a:off x="4638417" y="2165198"/>
            <a:ext cx="5975119" cy="373062"/>
            <a:chOff x="3652415" y="2180389"/>
            <a:chExt cx="5976596" cy="372712"/>
          </a:xfrm>
        </p:grpSpPr>
        <p:sp>
          <p:nvSpPr>
            <p:cNvPr id="22" name="任意多边形 21"/>
            <p:cNvSpPr/>
            <p:nvPr/>
          </p:nvSpPr>
          <p:spPr bwMode="auto">
            <a:xfrm>
              <a:off x="3652415" y="2204179"/>
              <a:ext cx="347748" cy="348922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5597787" cy="368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none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：没有边框即忽略所有边框的宽度（默认值）。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 bwMode="auto">
          <a:xfrm>
            <a:off x="4638418" y="3002005"/>
            <a:ext cx="2934269" cy="373063"/>
            <a:chOff x="3652415" y="2180389"/>
            <a:chExt cx="2934644" cy="372797"/>
          </a:xfrm>
        </p:grpSpPr>
        <p:sp>
          <p:nvSpPr>
            <p:cNvPr id="28" name="任意多边形 27"/>
            <p:cNvSpPr/>
            <p:nvPr/>
          </p:nvSpPr>
          <p:spPr bwMode="auto">
            <a:xfrm>
              <a:off x="3652415" y="2204185"/>
              <a:ext cx="347706" cy="349001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55835" cy="369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solid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：边框为单实线。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 bwMode="auto">
          <a:xfrm>
            <a:off x="4638417" y="3838813"/>
            <a:ext cx="2983916" cy="371476"/>
            <a:chOff x="3652415" y="2180389"/>
            <a:chExt cx="2984654" cy="371406"/>
          </a:xfrm>
        </p:grpSpPr>
        <p:sp>
          <p:nvSpPr>
            <p:cNvPr id="35" name="任意多边形 34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605845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dashed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：边框为虚线。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 bwMode="auto">
          <a:xfrm>
            <a:off x="4638418" y="4674035"/>
            <a:ext cx="2693452" cy="371476"/>
            <a:chOff x="3652415" y="2180389"/>
            <a:chExt cx="2694118" cy="371406"/>
          </a:xfrm>
        </p:grpSpPr>
        <p:sp>
          <p:nvSpPr>
            <p:cNvPr id="41" name="任意多边形 40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315309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dotted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：边框为点线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 bwMode="auto">
          <a:xfrm>
            <a:off x="4638418" y="5509257"/>
            <a:ext cx="2956666" cy="371476"/>
            <a:chOff x="3652415" y="2180389"/>
            <a:chExt cx="2957397" cy="371406"/>
          </a:xfrm>
        </p:grpSpPr>
        <p:sp>
          <p:nvSpPr>
            <p:cNvPr id="44" name="任意多边形 43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78588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double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：边框为双实线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1457419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边框颜色</a:t>
              </a:r>
              <a:endPara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1459005" y="3399881"/>
            <a:ext cx="2499617" cy="1821845"/>
            <a:chOff x="810248" y="3425191"/>
            <a:chExt cx="2499124" cy="182382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1"/>
              <a:ext cx="2468077" cy="182382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875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border-color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属性用于设置边框的颜色。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1"/>
            <p:cNvSpPr>
              <a:spLocks noChangeArrowheads="1"/>
            </p:cNvSpPr>
            <p:nvPr/>
          </p:nvSpPr>
          <p:spPr bwMode="auto">
            <a:xfrm>
              <a:off x="818283" y="4373658"/>
              <a:ext cx="2458454" cy="788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#ff0000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rgb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(0,255,0)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左大括号 19"/>
          <p:cNvSpPr/>
          <p:nvPr/>
        </p:nvSpPr>
        <p:spPr bwMode="auto">
          <a:xfrm>
            <a:off x="4115317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72737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138403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 下边框颜色 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 bwMode="auto">
          <a:xfrm rot="16200000">
            <a:off x="8780747" y="2259168"/>
            <a:ext cx="1752190" cy="2543277"/>
            <a:chOff x="5793210" y="3878718"/>
            <a:chExt cx="2728563" cy="3961709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619928" y="5149692"/>
              <a:ext cx="3738142" cy="1643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综合设置四边颜色必须按顺时针顺序采用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值复制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原则。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41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注意：使用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模式设置颜色时，如果括号里面的数值为百分比，必须把“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也加上百分号，写作“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0%”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1435703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边框宽度</a:t>
              </a:r>
              <a:endPara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1437289" y="3399881"/>
            <a:ext cx="2499616" cy="1672060"/>
            <a:chOff x="810248" y="3425192"/>
            <a:chExt cx="2499124" cy="1673873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673873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border-width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用于设置边框的宽度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常用取值单位为像素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左大括号 19"/>
          <p:cNvSpPr/>
          <p:nvPr/>
        </p:nvSpPr>
        <p:spPr bwMode="auto">
          <a:xfrm>
            <a:off x="4093601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51021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454608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：右边框宽度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：下边框宽度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 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下边框宽度 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 bwMode="auto">
          <a:xfrm rot="16200000">
            <a:off x="8759030" y="2259167"/>
            <a:ext cx="1752190" cy="2543276"/>
            <a:chOff x="5793210" y="3878718"/>
            <a:chExt cx="2728563" cy="3961707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361116" y="4890880"/>
              <a:ext cx="3738140" cy="2160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综合设置四边宽度必须按上边框、右边框、下边框、左边框的顺时针顺序书写。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2376521" y="3613324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</a:t>
              </a:r>
              <a:endPara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左大括号 19"/>
          <p:cNvSpPr/>
          <p:nvPr/>
        </p:nvSpPr>
        <p:spPr bwMode="auto">
          <a:xfrm>
            <a:off x="5096492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5253912" y="2790279"/>
            <a:ext cx="4583263" cy="2431448"/>
            <a:chOff x="920750" y="2283718"/>
            <a:chExt cx="549795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549795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4470088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四边宽度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7" name="矩形 6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巧用边框透明色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4657572" y="3186533"/>
            <a:ext cx="56167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在为元素添加边框时，如果需要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将已有的边框设置为不可见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，可使用“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border-color:transparent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样式，此时边框显示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透明色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。当我们需要边框可见时，再设置相应的颜色即可。通过这种设置方式可以保证元素的区域不发生变化。边框透明样式和取消边框样式不同，取消边框样式时，虽然边框也不可见，但是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边框的宽度为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的方法，在网页设计中能够调整内容在盒子中的显示位置。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指的是元素内容与边框之间的距离，也被称为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内填充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用于设置内边距，同边框属性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一样，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属性也是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74917"/>
            <a:chOff x="-569288" y="2283718"/>
            <a:chExt cx="12395214" cy="2475778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5002" y="2450369"/>
              <a:ext cx="5644528" cy="23091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 下内边距 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 bwMode="auto">
          <a:xfrm>
            <a:off x="6578511" y="3321004"/>
            <a:ext cx="2757946" cy="1783627"/>
            <a:chOff x="4999342" y="4596733"/>
            <a:chExt cx="4294756" cy="2778388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757526" y="3838549"/>
              <a:ext cx="2778388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21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取值可为：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Auto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矩形 45"/>
          <p:cNvSpPr>
            <a:spLocks noChangeArrowheads="1"/>
          </p:cNvSpPr>
          <p:nvPr/>
        </p:nvSpPr>
        <p:spPr bwMode="auto">
          <a:xfrm>
            <a:off x="1143691" y="5742801"/>
            <a:ext cx="1020852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注意：我们设置的内边距为百分比，都是相对于父元素宽度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的百分比，随父元素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的变化而变化，和高度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的方法，在网页设计中能够拉开盒子与盒子之间的距离。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元素边框与相邻元素之间的距离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用于设置外边距，它是一个复合属性，与内边距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的用法类似。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31448"/>
            <a:chOff x="-569288" y="2283718"/>
            <a:chExt cx="12395214" cy="2432294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551776"/>
              <a:ext cx="5569534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 下外边距 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 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 bwMode="auto">
          <a:xfrm>
            <a:off x="6578510" y="3321004"/>
            <a:ext cx="2757946" cy="1996889"/>
            <a:chOff x="4999341" y="4596734"/>
            <a:chExt cx="4294756" cy="3110590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591424" y="4004651"/>
              <a:ext cx="3110590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732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取值遵循值复制的原则。与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取值相同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外边距的属性值可以使用负数。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的方法，在网页设计中能够设置背景属性。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在网页设计中，运用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background-color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属性可以设置背景颜色。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）设置背景颜色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19175" y="3155325"/>
            <a:ext cx="10440988" cy="1107886"/>
            <a:chOff x="1019175" y="1680487"/>
            <a:chExt cx="10440988" cy="1107886"/>
          </a:xfrm>
        </p:grpSpPr>
        <p:sp>
          <p:nvSpPr>
            <p:cNvPr id="19" name="圆角矩形 18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网页中的背景图像使用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属性定义。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8"/>
          <p:cNvGrpSpPr/>
          <p:nvPr/>
        </p:nvGrpSpPr>
        <p:grpSpPr bwMode="auto">
          <a:xfrm>
            <a:off x="1019176" y="4987051"/>
            <a:ext cx="10333038" cy="882807"/>
            <a:chOff x="-569288" y="2283718"/>
            <a:chExt cx="12395214" cy="883114"/>
          </a:xfrm>
        </p:grpSpPr>
        <p:sp>
          <p:nvSpPr>
            <p:cNvPr id="25" name="矩形 24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90429" y="2484102"/>
              <a:ext cx="4120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图像路径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); 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2" name="下箭头 1"/>
          <p:cNvSpPr/>
          <p:nvPr/>
        </p:nvSpPr>
        <p:spPr>
          <a:xfrm>
            <a:off x="2094271" y="4439265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350374" y="4425076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在网页设计中，通过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background-repeat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属性来控制背景图像平铺。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）设置背景图像平铺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189795" y="3187719"/>
            <a:ext cx="7448881" cy="3178042"/>
            <a:chOff x="627123" y="2435096"/>
            <a:chExt cx="10756739" cy="3471772"/>
          </a:xfrm>
        </p:grpSpPr>
        <p:sp>
          <p:nvSpPr>
            <p:cNvPr id="29" name="MH_Other_1"/>
            <p:cNvSpPr/>
            <p:nvPr>
              <p:custDataLst>
                <p:tags r:id="rId1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0" name="MH_SubTitle_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500631" y="243509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no-repeat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2" name="MH_Text_4"/>
            <p:cNvSpPr txBox="1"/>
            <p:nvPr>
              <p:custDataLst>
                <p:tags r:id="rId3"/>
              </p:custDataLst>
            </p:nvPr>
          </p:nvSpPr>
          <p:spPr>
            <a:xfrm>
              <a:off x="8500631" y="3180500"/>
              <a:ext cx="2883231" cy="1005120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不平铺（图像位于元素的左上角，只显示一次）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3" name="MH_Other_2"/>
            <p:cNvSpPr/>
            <p:nvPr>
              <p:custDataLst>
                <p:tags r:id="rId4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4" name="MH_SubTitle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1054375" y="2435097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5" name="MH_Text_1"/>
            <p:cNvSpPr txBox="1"/>
            <p:nvPr>
              <p:custDataLst>
                <p:tags r:id="rId6"/>
              </p:custDataLst>
            </p:nvPr>
          </p:nvSpPr>
          <p:spPr>
            <a:xfrm flipH="1">
              <a:off x="627126" y="3180500"/>
              <a:ext cx="3093356" cy="1005120"/>
            </a:xfrm>
            <a:prstGeom prst="rect">
              <a:avLst/>
            </a:prstGeom>
            <a:noFill/>
          </p:spPr>
          <p:txBody>
            <a:bodyPr lIns="0" tIns="0" rIns="0" bIns="0"/>
            <a:lstStyle/>
            <a:p>
              <a:pPr lvl="0" algn="r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沿水平和竖直两个方向平铺（默认值）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6" name="MH_Other_3"/>
            <p:cNvSpPr/>
            <p:nvPr>
              <p:custDataLst>
                <p:tags r:id="rId7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7" name="MH_Other_4"/>
            <p:cNvSpPr/>
            <p:nvPr>
              <p:custDataLst>
                <p:tags r:id="rId8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8" name="MH_Other_5"/>
            <p:cNvSpPr/>
            <p:nvPr>
              <p:custDataLst>
                <p:tags r:id="rId9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9" name="MH_Other_6"/>
            <p:cNvSpPr/>
            <p:nvPr>
              <p:custDataLst>
                <p:tags r:id="rId10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40" name="MH_Other_7"/>
            <p:cNvSpPr/>
            <p:nvPr>
              <p:custDataLst>
                <p:tags r:id="rId11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41" name="MH_Other_8"/>
            <p:cNvSpPr/>
            <p:nvPr>
              <p:custDataLst>
                <p:tags r:id="rId12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42" name="MH_SubTitle_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500631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repeat-y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3" name="MH_Text_3"/>
            <p:cNvSpPr txBox="1"/>
            <p:nvPr>
              <p:custDataLst>
                <p:tags r:id="rId14"/>
              </p:custDataLst>
            </p:nvPr>
          </p:nvSpPr>
          <p:spPr>
            <a:xfrm>
              <a:off x="8500631" y="4900160"/>
              <a:ext cx="2883231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只沿竖直方向平铺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4" name="MH_SubTitle_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1054375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repeat-x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5" name="MH_Text_2"/>
            <p:cNvSpPr txBox="1"/>
            <p:nvPr>
              <p:custDataLst>
                <p:tags r:id="rId16"/>
              </p:custDataLst>
            </p:nvPr>
          </p:nvSpPr>
          <p:spPr>
            <a:xfrm flipH="1">
              <a:off x="627123" y="4900160"/>
              <a:ext cx="3093357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r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只沿水平方向平铺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属性用于定义背景图像的位置。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）设置背景图像的位置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6850" y="3108573"/>
            <a:ext cx="8317873" cy="3169162"/>
            <a:chOff x="1726850" y="1798006"/>
            <a:chExt cx="8317873" cy="3169162"/>
          </a:xfrm>
        </p:grpSpPr>
        <p:sp>
          <p:nvSpPr>
            <p:cNvPr id="46" name="MH_SubTitle_1"/>
            <p:cNvSpPr/>
            <p:nvPr>
              <p:custDataLst>
                <p:tags r:id="rId1"/>
              </p:custDataLst>
            </p:nvPr>
          </p:nvSpPr>
          <p:spPr>
            <a:xfrm>
              <a:off x="2514620" y="1891742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lvl="0" defTabSz="914400"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使用不同单位的数值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MH_Other_1"/>
            <p:cNvSpPr/>
            <p:nvPr>
              <p:custDataLst>
                <p:tags r:id="rId2"/>
              </p:custDataLst>
            </p:nvPr>
          </p:nvSpPr>
          <p:spPr>
            <a:xfrm>
              <a:off x="4633931" y="193206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48" name="MH_Text_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206456" y="1819281"/>
              <a:ext cx="2976027" cy="709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通过数值直接设置图像左上角在元素中的坐标，最常用的单位是像素。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9" name="MH_SubTitle_2"/>
            <p:cNvSpPr/>
            <p:nvPr>
              <p:custDataLst>
                <p:tags r:id="rId4"/>
              </p:custDataLst>
            </p:nvPr>
          </p:nvSpPr>
          <p:spPr>
            <a:xfrm>
              <a:off x="2514620" y="3097288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 使用预定义的关键字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0" name="MH_Other_2"/>
            <p:cNvSpPr/>
            <p:nvPr>
              <p:custDataLst>
                <p:tags r:id="rId5"/>
              </p:custDataLst>
            </p:nvPr>
          </p:nvSpPr>
          <p:spPr>
            <a:xfrm>
              <a:off x="4633931" y="313697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51" name="MH_Text_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206456" y="3024192"/>
              <a:ext cx="2904978" cy="709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通过关键字直接指定背景图像在元素中的对齐方式。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2" name="MH_SubTitle_3"/>
            <p:cNvSpPr/>
            <p:nvPr>
              <p:custDataLst>
                <p:tags r:id="rId7"/>
              </p:custDataLst>
            </p:nvPr>
          </p:nvSpPr>
          <p:spPr>
            <a:xfrm>
              <a:off x="2514620" y="4317544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 使用百分比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3" name="MH_Other_3"/>
            <p:cNvSpPr/>
            <p:nvPr>
              <p:custDataLst>
                <p:tags r:id="rId8"/>
              </p:custDataLst>
            </p:nvPr>
          </p:nvSpPr>
          <p:spPr>
            <a:xfrm>
              <a:off x="4633931" y="4357230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54" name="MH_Text_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206456" y="4246035"/>
              <a:ext cx="2904975" cy="709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通过百分比将背景图像和元素的指定点对齐。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5" name="MH_Title_1"/>
            <p:cNvSpPr/>
            <p:nvPr>
              <p:custDataLst>
                <p:tags r:id="rId10"/>
              </p:custDataLst>
            </p:nvPr>
          </p:nvSpPr>
          <p:spPr>
            <a:xfrm>
              <a:off x="1747596" y="2235607"/>
              <a:ext cx="498260" cy="24177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0" anchor="ctr">
              <a:normAutofit/>
            </a:bodyPr>
            <a:lstStyle/>
            <a:p>
              <a:pPr lvl="0" algn="ctr" defTabSz="914400">
                <a:defRPr/>
              </a:pPr>
              <a:r>
                <a:rPr lang="zh-CN" altLang="en-US" sz="2000" b="1" spc="1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属性取值</a:t>
              </a:r>
              <a:endPara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PA_直接连接符 2"/>
            <p:cNvCxnSpPr/>
            <p:nvPr>
              <p:custDataLst>
                <p:tags r:id="rId11"/>
              </p:custDataLst>
            </p:nvPr>
          </p:nvCxnSpPr>
          <p:spPr>
            <a:xfrm>
              <a:off x="1726850" y="1921805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PA_直接连接符 2"/>
            <p:cNvCxnSpPr/>
            <p:nvPr>
              <p:custDataLst>
                <p:tags r:id="rId12"/>
              </p:custDataLst>
            </p:nvPr>
          </p:nvCxnSpPr>
          <p:spPr>
            <a:xfrm>
              <a:off x="2245856" y="1921803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PA_StraightArrowConnector 4"/>
            <p:cNvCxnSpPr/>
            <p:nvPr>
              <p:custDataLst>
                <p:tags r:id="rId13"/>
              </p:custDataLst>
            </p:nvPr>
          </p:nvCxnSpPr>
          <p:spPr>
            <a:xfrm>
              <a:off x="8111435" y="2147329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PA_StraightArrowConnector 4"/>
            <p:cNvCxnSpPr/>
            <p:nvPr>
              <p:custDataLst>
                <p:tags r:id="rId14"/>
              </p:custDataLst>
            </p:nvPr>
          </p:nvCxnSpPr>
          <p:spPr>
            <a:xfrm>
              <a:off x="8111434" y="3397125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PA_StraightArrowConnector 4"/>
            <p:cNvCxnSpPr/>
            <p:nvPr>
              <p:custDataLst>
                <p:tags r:id="rId15"/>
              </p:custDataLst>
            </p:nvPr>
          </p:nvCxnSpPr>
          <p:spPr>
            <a:xfrm>
              <a:off x="8111431" y="4653364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arrow-on-target_68291"/>
            <p:cNvSpPr>
              <a:spLocks noChangeAspect="1"/>
            </p:cNvSpPr>
            <p:nvPr/>
          </p:nvSpPr>
          <p:spPr bwMode="auto">
            <a:xfrm>
              <a:off x="9435038" y="4357481"/>
              <a:ext cx="609685" cy="609685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62" name="computer-service_78951"/>
            <p:cNvSpPr>
              <a:spLocks noChangeAspect="1"/>
            </p:cNvSpPr>
            <p:nvPr/>
          </p:nvSpPr>
          <p:spPr bwMode="auto">
            <a:xfrm>
              <a:off x="9435038" y="1798006"/>
              <a:ext cx="609685" cy="565858"/>
            </a:xfrm>
            <a:custGeom>
              <a:avLst/>
              <a:gdLst>
                <a:gd name="connsiteX0" fmla="*/ 288132 w 338138"/>
                <a:gd name="connsiteY0" fmla="*/ 223343 h 313831"/>
                <a:gd name="connsiteX1" fmla="*/ 279400 w 338138"/>
                <a:gd name="connsiteY1" fmla="*/ 231281 h 313831"/>
                <a:gd name="connsiteX2" fmla="*/ 288132 w 338138"/>
                <a:gd name="connsiteY2" fmla="*/ 239219 h 313831"/>
                <a:gd name="connsiteX3" fmla="*/ 296864 w 338138"/>
                <a:gd name="connsiteY3" fmla="*/ 231281 h 313831"/>
                <a:gd name="connsiteX4" fmla="*/ 288132 w 338138"/>
                <a:gd name="connsiteY4" fmla="*/ 223343 h 313831"/>
                <a:gd name="connsiteX5" fmla="*/ 261938 w 338138"/>
                <a:gd name="connsiteY5" fmla="*/ 223343 h 313831"/>
                <a:gd name="connsiteX6" fmla="*/ 254000 w 338138"/>
                <a:gd name="connsiteY6" fmla="*/ 231281 h 313831"/>
                <a:gd name="connsiteX7" fmla="*/ 261938 w 338138"/>
                <a:gd name="connsiteY7" fmla="*/ 239219 h 313831"/>
                <a:gd name="connsiteX8" fmla="*/ 269876 w 338138"/>
                <a:gd name="connsiteY8" fmla="*/ 231281 h 313831"/>
                <a:gd name="connsiteX9" fmla="*/ 261938 w 338138"/>
                <a:gd name="connsiteY9" fmla="*/ 223343 h 313831"/>
                <a:gd name="connsiteX10" fmla="*/ 116535 w 338138"/>
                <a:gd name="connsiteY10" fmla="*/ 45543 h 313831"/>
                <a:gd name="connsiteX11" fmla="*/ 141773 w 338138"/>
                <a:gd name="connsiteY11" fmla="*/ 88073 h 313831"/>
                <a:gd name="connsiteX12" fmla="*/ 108565 w 338138"/>
                <a:gd name="connsiteY12" fmla="*/ 102693 h 313831"/>
                <a:gd name="connsiteX13" fmla="*/ 87312 w 338138"/>
                <a:gd name="connsiteY13" fmla="*/ 74783 h 313831"/>
                <a:gd name="connsiteX14" fmla="*/ 116535 w 338138"/>
                <a:gd name="connsiteY14" fmla="*/ 45543 h 313831"/>
                <a:gd name="connsiteX15" fmla="*/ 254349 w 338138"/>
                <a:gd name="connsiteY15" fmla="*/ 30428 h 313831"/>
                <a:gd name="connsiteX16" fmla="*/ 275361 w 338138"/>
                <a:gd name="connsiteY16" fmla="*/ 48787 h 313831"/>
                <a:gd name="connsiteX17" fmla="*/ 255662 w 338138"/>
                <a:gd name="connsiteY17" fmla="*/ 85507 h 313831"/>
                <a:gd name="connsiteX18" fmla="*/ 266168 w 338138"/>
                <a:gd name="connsiteY18" fmla="*/ 89441 h 313831"/>
                <a:gd name="connsiteX19" fmla="*/ 289806 w 338138"/>
                <a:gd name="connsiteY19" fmla="*/ 80261 h 313831"/>
                <a:gd name="connsiteX20" fmla="*/ 287180 w 338138"/>
                <a:gd name="connsiteY20" fmla="*/ 109113 h 313831"/>
                <a:gd name="connsiteX21" fmla="*/ 225458 w 338138"/>
                <a:gd name="connsiteY21" fmla="*/ 111735 h 313831"/>
                <a:gd name="connsiteX22" fmla="*/ 92823 w 338138"/>
                <a:gd name="connsiteY22" fmla="*/ 166815 h 313831"/>
                <a:gd name="connsiteX23" fmla="*/ 75751 w 338138"/>
                <a:gd name="connsiteY23" fmla="*/ 127472 h 313831"/>
                <a:gd name="connsiteX24" fmla="*/ 208386 w 338138"/>
                <a:gd name="connsiteY24" fmla="*/ 72393 h 313831"/>
                <a:gd name="connsiteX25" fmla="*/ 242530 w 338138"/>
                <a:gd name="connsiteY25" fmla="*/ 33050 h 313831"/>
                <a:gd name="connsiteX26" fmla="*/ 254349 w 338138"/>
                <a:gd name="connsiteY26" fmla="*/ 30428 h 313831"/>
                <a:gd name="connsiteX27" fmla="*/ 186871 w 338138"/>
                <a:gd name="connsiteY27" fmla="*/ 24906 h 313831"/>
                <a:gd name="connsiteX28" fmla="*/ 231775 w 338138"/>
                <a:gd name="connsiteY28" fmla="*/ 24906 h 313831"/>
                <a:gd name="connsiteX29" fmla="*/ 207282 w 338138"/>
                <a:gd name="connsiteY29" fmla="*/ 48190 h 313831"/>
                <a:gd name="connsiteX30" fmla="*/ 201839 w 338138"/>
                <a:gd name="connsiteY30" fmla="*/ 59831 h 313831"/>
                <a:gd name="connsiteX31" fmla="*/ 184150 w 338138"/>
                <a:gd name="connsiteY31" fmla="*/ 45603 h 313831"/>
                <a:gd name="connsiteX32" fmla="*/ 186871 w 338138"/>
                <a:gd name="connsiteY32" fmla="*/ 24906 h 313831"/>
                <a:gd name="connsiteX33" fmla="*/ 18492 w 338138"/>
                <a:gd name="connsiteY33" fmla="*/ 24906 h 313831"/>
                <a:gd name="connsiteX34" fmla="*/ 43588 w 338138"/>
                <a:gd name="connsiteY34" fmla="*/ 24906 h 313831"/>
                <a:gd name="connsiteX35" fmla="*/ 46230 w 338138"/>
                <a:gd name="connsiteY35" fmla="*/ 46015 h 313831"/>
                <a:gd name="connsiteX36" fmla="*/ 29059 w 338138"/>
                <a:gd name="connsiteY36" fmla="*/ 63166 h 313831"/>
                <a:gd name="connsiteX37" fmla="*/ 31700 w 338138"/>
                <a:gd name="connsiteY37" fmla="*/ 96148 h 313831"/>
                <a:gd name="connsiteX38" fmla="*/ 31700 w 338138"/>
                <a:gd name="connsiteY38" fmla="*/ 206969 h 313831"/>
                <a:gd name="connsiteX39" fmla="*/ 39626 w 338138"/>
                <a:gd name="connsiteY39" fmla="*/ 214884 h 313831"/>
                <a:gd name="connsiteX40" fmla="*/ 298512 w 338138"/>
                <a:gd name="connsiteY40" fmla="*/ 214884 h 313831"/>
                <a:gd name="connsiteX41" fmla="*/ 306438 w 338138"/>
                <a:gd name="connsiteY41" fmla="*/ 206969 h 313831"/>
                <a:gd name="connsiteX42" fmla="*/ 306438 w 338138"/>
                <a:gd name="connsiteY42" fmla="*/ 104064 h 313831"/>
                <a:gd name="connsiteX43" fmla="*/ 306438 w 338138"/>
                <a:gd name="connsiteY43" fmla="*/ 77678 h 313831"/>
                <a:gd name="connsiteX44" fmla="*/ 274737 w 338138"/>
                <a:gd name="connsiteY44" fmla="*/ 61846 h 313831"/>
                <a:gd name="connsiteX45" fmla="*/ 281341 w 338138"/>
                <a:gd name="connsiteY45" fmla="*/ 59208 h 313831"/>
                <a:gd name="connsiteX46" fmla="*/ 280021 w 338138"/>
                <a:gd name="connsiteY46" fmla="*/ 24906 h 313831"/>
                <a:gd name="connsiteX47" fmla="*/ 319646 w 338138"/>
                <a:gd name="connsiteY47" fmla="*/ 24906 h 313831"/>
                <a:gd name="connsiteX48" fmla="*/ 338138 w 338138"/>
                <a:gd name="connsiteY48" fmla="*/ 43376 h 313831"/>
                <a:gd name="connsiteX49" fmla="*/ 338138 w 338138"/>
                <a:gd name="connsiteY49" fmla="*/ 234674 h 313831"/>
                <a:gd name="connsiteX50" fmla="*/ 319646 w 338138"/>
                <a:gd name="connsiteY50" fmla="*/ 251825 h 313831"/>
                <a:gd name="connsiteX51" fmla="*/ 200769 w 338138"/>
                <a:gd name="connsiteY51" fmla="*/ 251825 h 313831"/>
                <a:gd name="connsiteX52" fmla="*/ 216620 w 338138"/>
                <a:gd name="connsiteY52" fmla="*/ 290084 h 313831"/>
                <a:gd name="connsiteX53" fmla="*/ 224545 w 338138"/>
                <a:gd name="connsiteY53" fmla="*/ 290084 h 313831"/>
                <a:gd name="connsiteX54" fmla="*/ 235112 w 338138"/>
                <a:gd name="connsiteY54" fmla="*/ 301958 h 313831"/>
                <a:gd name="connsiteX55" fmla="*/ 224545 w 338138"/>
                <a:gd name="connsiteY55" fmla="*/ 313831 h 313831"/>
                <a:gd name="connsiteX56" fmla="*/ 113593 w 338138"/>
                <a:gd name="connsiteY56" fmla="*/ 313831 h 313831"/>
                <a:gd name="connsiteX57" fmla="*/ 103026 w 338138"/>
                <a:gd name="connsiteY57" fmla="*/ 301958 h 313831"/>
                <a:gd name="connsiteX58" fmla="*/ 113593 w 338138"/>
                <a:gd name="connsiteY58" fmla="*/ 290084 h 313831"/>
                <a:gd name="connsiteX59" fmla="*/ 121518 w 338138"/>
                <a:gd name="connsiteY59" fmla="*/ 290084 h 313831"/>
                <a:gd name="connsiteX60" fmla="*/ 137369 w 338138"/>
                <a:gd name="connsiteY60" fmla="*/ 251825 h 313831"/>
                <a:gd name="connsiteX61" fmla="*/ 18492 w 338138"/>
                <a:gd name="connsiteY61" fmla="*/ 251825 h 313831"/>
                <a:gd name="connsiteX62" fmla="*/ 0 w 338138"/>
                <a:gd name="connsiteY62" fmla="*/ 234674 h 313831"/>
                <a:gd name="connsiteX63" fmla="*/ 0 w 338138"/>
                <a:gd name="connsiteY63" fmla="*/ 43376 h 313831"/>
                <a:gd name="connsiteX64" fmla="*/ 18492 w 338138"/>
                <a:gd name="connsiteY64" fmla="*/ 24906 h 313831"/>
                <a:gd name="connsiteX65" fmla="*/ 109666 w 338138"/>
                <a:gd name="connsiteY65" fmla="*/ 1 h 313831"/>
                <a:gd name="connsiteX66" fmla="*/ 126932 w 338138"/>
                <a:gd name="connsiteY66" fmla="*/ 267 h 313831"/>
                <a:gd name="connsiteX67" fmla="*/ 133580 w 338138"/>
                <a:gd name="connsiteY67" fmla="*/ 18637 h 313831"/>
                <a:gd name="connsiteX68" fmla="*/ 144218 w 338138"/>
                <a:gd name="connsiteY68" fmla="*/ 22573 h 313831"/>
                <a:gd name="connsiteX69" fmla="*/ 177460 w 338138"/>
                <a:gd name="connsiteY69" fmla="*/ 29134 h 313831"/>
                <a:gd name="connsiteX70" fmla="*/ 168152 w 338138"/>
                <a:gd name="connsiteY70" fmla="*/ 47504 h 313831"/>
                <a:gd name="connsiteX71" fmla="*/ 173471 w 338138"/>
                <a:gd name="connsiteY71" fmla="*/ 58001 h 313831"/>
                <a:gd name="connsiteX72" fmla="*/ 192087 w 338138"/>
                <a:gd name="connsiteY72" fmla="*/ 67186 h 313831"/>
                <a:gd name="connsiteX73" fmla="*/ 154855 w 338138"/>
                <a:gd name="connsiteY73" fmla="*/ 82931 h 313831"/>
                <a:gd name="connsiteX74" fmla="*/ 116294 w 338138"/>
                <a:gd name="connsiteY74" fmla="*/ 35695 h 313831"/>
                <a:gd name="connsiteX75" fmla="*/ 76403 w 338138"/>
                <a:gd name="connsiteY75" fmla="*/ 75059 h 313831"/>
                <a:gd name="connsiteX76" fmla="*/ 93689 w 338138"/>
                <a:gd name="connsiteY76" fmla="*/ 107862 h 313831"/>
                <a:gd name="connsiteX77" fmla="*/ 59117 w 338138"/>
                <a:gd name="connsiteY77" fmla="*/ 124919 h 313831"/>
                <a:gd name="connsiteX78" fmla="*/ 63106 w 338138"/>
                <a:gd name="connsiteY78" fmla="*/ 102613 h 313831"/>
                <a:gd name="connsiteX79" fmla="*/ 59117 w 338138"/>
                <a:gd name="connsiteY79" fmla="*/ 92116 h 313831"/>
                <a:gd name="connsiteX80" fmla="*/ 40501 w 338138"/>
                <a:gd name="connsiteY80" fmla="*/ 63249 h 313831"/>
                <a:gd name="connsiteX81" fmla="*/ 59117 w 338138"/>
                <a:gd name="connsiteY81" fmla="*/ 58001 h 313831"/>
                <a:gd name="connsiteX82" fmla="*/ 63106 w 338138"/>
                <a:gd name="connsiteY82" fmla="*/ 47504 h 313831"/>
                <a:gd name="connsiteX83" fmla="*/ 69755 w 338138"/>
                <a:gd name="connsiteY83" fmla="*/ 14700 h 313831"/>
                <a:gd name="connsiteX84" fmla="*/ 88370 w 338138"/>
                <a:gd name="connsiteY84" fmla="*/ 22573 h 313831"/>
                <a:gd name="connsiteX85" fmla="*/ 99008 w 338138"/>
                <a:gd name="connsiteY85" fmla="*/ 18637 h 313831"/>
                <a:gd name="connsiteX86" fmla="*/ 109666 w 338138"/>
                <a:gd name="connsiteY86" fmla="*/ 1 h 31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8138" h="313831">
                  <a:moveTo>
                    <a:pt x="288132" y="223343"/>
                  </a:moveTo>
                  <a:cubicBezTo>
                    <a:pt x="283309" y="223343"/>
                    <a:pt x="279400" y="226897"/>
                    <a:pt x="279400" y="231281"/>
                  </a:cubicBezTo>
                  <a:cubicBezTo>
                    <a:pt x="279400" y="235665"/>
                    <a:pt x="283309" y="239219"/>
                    <a:pt x="288132" y="239219"/>
                  </a:cubicBezTo>
                  <a:cubicBezTo>
                    <a:pt x="292955" y="239219"/>
                    <a:pt x="296864" y="235665"/>
                    <a:pt x="296864" y="231281"/>
                  </a:cubicBezTo>
                  <a:cubicBezTo>
                    <a:pt x="296864" y="226897"/>
                    <a:pt x="292955" y="223343"/>
                    <a:pt x="288132" y="223343"/>
                  </a:cubicBezTo>
                  <a:close/>
                  <a:moveTo>
                    <a:pt x="261938" y="223343"/>
                  </a:moveTo>
                  <a:cubicBezTo>
                    <a:pt x="257554" y="223343"/>
                    <a:pt x="254000" y="226897"/>
                    <a:pt x="254000" y="231281"/>
                  </a:cubicBezTo>
                  <a:cubicBezTo>
                    <a:pt x="254000" y="235665"/>
                    <a:pt x="257554" y="239219"/>
                    <a:pt x="261938" y="239219"/>
                  </a:cubicBezTo>
                  <a:cubicBezTo>
                    <a:pt x="266322" y="239219"/>
                    <a:pt x="269876" y="235665"/>
                    <a:pt x="269876" y="231281"/>
                  </a:cubicBezTo>
                  <a:cubicBezTo>
                    <a:pt x="269876" y="226897"/>
                    <a:pt x="266322" y="223343"/>
                    <a:pt x="261938" y="223343"/>
                  </a:cubicBezTo>
                  <a:close/>
                  <a:moveTo>
                    <a:pt x="116535" y="45543"/>
                  </a:moveTo>
                  <a:cubicBezTo>
                    <a:pt x="137788" y="45543"/>
                    <a:pt x="152400" y="68137"/>
                    <a:pt x="141773" y="88073"/>
                  </a:cubicBezTo>
                  <a:cubicBezTo>
                    <a:pt x="141773" y="88073"/>
                    <a:pt x="141773" y="88073"/>
                    <a:pt x="108565" y="102693"/>
                  </a:cubicBezTo>
                  <a:cubicBezTo>
                    <a:pt x="96610" y="98706"/>
                    <a:pt x="87312" y="88073"/>
                    <a:pt x="87312" y="74783"/>
                  </a:cubicBezTo>
                  <a:cubicBezTo>
                    <a:pt x="87312" y="58834"/>
                    <a:pt x="100595" y="45543"/>
                    <a:pt x="116535" y="45543"/>
                  </a:cubicBezTo>
                  <a:close/>
                  <a:moveTo>
                    <a:pt x="254349" y="30428"/>
                  </a:moveTo>
                  <a:cubicBezTo>
                    <a:pt x="271421" y="26493"/>
                    <a:pt x="284553" y="44853"/>
                    <a:pt x="275361" y="48787"/>
                  </a:cubicBezTo>
                  <a:cubicBezTo>
                    <a:pt x="242530" y="63213"/>
                    <a:pt x="243843" y="57967"/>
                    <a:pt x="255662" y="85507"/>
                  </a:cubicBezTo>
                  <a:cubicBezTo>
                    <a:pt x="256976" y="89441"/>
                    <a:pt x="262228" y="92064"/>
                    <a:pt x="266168" y="89441"/>
                  </a:cubicBezTo>
                  <a:cubicBezTo>
                    <a:pt x="266168" y="89441"/>
                    <a:pt x="266168" y="89441"/>
                    <a:pt x="289806" y="80261"/>
                  </a:cubicBezTo>
                  <a:cubicBezTo>
                    <a:pt x="297685" y="76327"/>
                    <a:pt x="301625" y="99933"/>
                    <a:pt x="287180" y="109113"/>
                  </a:cubicBezTo>
                  <a:cubicBezTo>
                    <a:pt x="260915" y="124850"/>
                    <a:pt x="259602" y="123538"/>
                    <a:pt x="225458" y="111735"/>
                  </a:cubicBezTo>
                  <a:cubicBezTo>
                    <a:pt x="225458" y="111735"/>
                    <a:pt x="225458" y="111735"/>
                    <a:pt x="92823" y="166815"/>
                  </a:cubicBezTo>
                  <a:cubicBezTo>
                    <a:pt x="66559" y="177306"/>
                    <a:pt x="50800" y="137964"/>
                    <a:pt x="75751" y="127472"/>
                  </a:cubicBezTo>
                  <a:cubicBezTo>
                    <a:pt x="75751" y="127472"/>
                    <a:pt x="75751" y="127472"/>
                    <a:pt x="208386" y="72393"/>
                  </a:cubicBezTo>
                  <a:cubicBezTo>
                    <a:pt x="217579" y="54033"/>
                    <a:pt x="222832" y="38296"/>
                    <a:pt x="242530" y="33050"/>
                  </a:cubicBezTo>
                  <a:cubicBezTo>
                    <a:pt x="242530" y="33050"/>
                    <a:pt x="242530" y="33050"/>
                    <a:pt x="254349" y="30428"/>
                  </a:cubicBezTo>
                  <a:close/>
                  <a:moveTo>
                    <a:pt x="186871" y="24906"/>
                  </a:moveTo>
                  <a:cubicBezTo>
                    <a:pt x="186871" y="24906"/>
                    <a:pt x="186871" y="24906"/>
                    <a:pt x="231775" y="24906"/>
                  </a:cubicBezTo>
                  <a:cubicBezTo>
                    <a:pt x="220889" y="30080"/>
                    <a:pt x="212725" y="37841"/>
                    <a:pt x="207282" y="48190"/>
                  </a:cubicBezTo>
                  <a:cubicBezTo>
                    <a:pt x="207282" y="48190"/>
                    <a:pt x="207282" y="48190"/>
                    <a:pt x="201839" y="59831"/>
                  </a:cubicBezTo>
                  <a:cubicBezTo>
                    <a:pt x="200479" y="52070"/>
                    <a:pt x="193675" y="45603"/>
                    <a:pt x="184150" y="45603"/>
                  </a:cubicBezTo>
                  <a:cubicBezTo>
                    <a:pt x="190954" y="39135"/>
                    <a:pt x="190954" y="31374"/>
                    <a:pt x="186871" y="24906"/>
                  </a:cubicBezTo>
                  <a:close/>
                  <a:moveTo>
                    <a:pt x="18492" y="24906"/>
                  </a:moveTo>
                  <a:cubicBezTo>
                    <a:pt x="18492" y="24906"/>
                    <a:pt x="18492" y="24906"/>
                    <a:pt x="43588" y="24906"/>
                  </a:cubicBezTo>
                  <a:cubicBezTo>
                    <a:pt x="39626" y="32822"/>
                    <a:pt x="40946" y="40738"/>
                    <a:pt x="46230" y="46015"/>
                  </a:cubicBezTo>
                  <a:cubicBezTo>
                    <a:pt x="36984" y="46015"/>
                    <a:pt x="29059" y="53931"/>
                    <a:pt x="29059" y="63166"/>
                  </a:cubicBezTo>
                  <a:cubicBezTo>
                    <a:pt x="29059" y="82955"/>
                    <a:pt x="27738" y="89552"/>
                    <a:pt x="31700" y="96148"/>
                  </a:cubicBezTo>
                  <a:cubicBezTo>
                    <a:pt x="31700" y="96148"/>
                    <a:pt x="31700" y="96148"/>
                    <a:pt x="31700" y="206969"/>
                  </a:cubicBezTo>
                  <a:cubicBezTo>
                    <a:pt x="31700" y="210926"/>
                    <a:pt x="35663" y="214884"/>
                    <a:pt x="39626" y="214884"/>
                  </a:cubicBezTo>
                  <a:cubicBezTo>
                    <a:pt x="39626" y="214884"/>
                    <a:pt x="39626" y="214884"/>
                    <a:pt x="298512" y="214884"/>
                  </a:cubicBezTo>
                  <a:cubicBezTo>
                    <a:pt x="302475" y="214884"/>
                    <a:pt x="306438" y="210926"/>
                    <a:pt x="306438" y="206969"/>
                  </a:cubicBezTo>
                  <a:cubicBezTo>
                    <a:pt x="306438" y="206969"/>
                    <a:pt x="306438" y="206969"/>
                    <a:pt x="306438" y="104064"/>
                  </a:cubicBezTo>
                  <a:cubicBezTo>
                    <a:pt x="309079" y="96148"/>
                    <a:pt x="310400" y="86913"/>
                    <a:pt x="306438" y="77678"/>
                  </a:cubicBezTo>
                  <a:cubicBezTo>
                    <a:pt x="306438" y="59208"/>
                    <a:pt x="306438" y="61846"/>
                    <a:pt x="274737" y="61846"/>
                  </a:cubicBezTo>
                  <a:cubicBezTo>
                    <a:pt x="274737" y="61846"/>
                    <a:pt x="274737" y="61846"/>
                    <a:pt x="281341" y="59208"/>
                  </a:cubicBezTo>
                  <a:cubicBezTo>
                    <a:pt x="293229" y="53931"/>
                    <a:pt x="294550" y="38099"/>
                    <a:pt x="280021" y="24906"/>
                  </a:cubicBezTo>
                  <a:cubicBezTo>
                    <a:pt x="280021" y="24906"/>
                    <a:pt x="280021" y="24906"/>
                    <a:pt x="319646" y="24906"/>
                  </a:cubicBezTo>
                  <a:cubicBezTo>
                    <a:pt x="330213" y="24906"/>
                    <a:pt x="338138" y="34141"/>
                    <a:pt x="338138" y="43376"/>
                  </a:cubicBezTo>
                  <a:cubicBezTo>
                    <a:pt x="338138" y="43376"/>
                    <a:pt x="338138" y="43376"/>
                    <a:pt x="338138" y="234674"/>
                  </a:cubicBezTo>
                  <a:cubicBezTo>
                    <a:pt x="338138" y="243909"/>
                    <a:pt x="330213" y="251825"/>
                    <a:pt x="319646" y="251825"/>
                  </a:cubicBezTo>
                  <a:cubicBezTo>
                    <a:pt x="319646" y="251825"/>
                    <a:pt x="319646" y="251825"/>
                    <a:pt x="200769" y="251825"/>
                  </a:cubicBezTo>
                  <a:cubicBezTo>
                    <a:pt x="200769" y="251825"/>
                    <a:pt x="200769" y="251825"/>
                    <a:pt x="216620" y="290084"/>
                  </a:cubicBezTo>
                  <a:cubicBezTo>
                    <a:pt x="216620" y="290084"/>
                    <a:pt x="216620" y="290084"/>
                    <a:pt x="224545" y="290084"/>
                  </a:cubicBezTo>
                  <a:cubicBezTo>
                    <a:pt x="229828" y="290084"/>
                    <a:pt x="235112" y="295361"/>
                    <a:pt x="235112" y="301958"/>
                  </a:cubicBezTo>
                  <a:cubicBezTo>
                    <a:pt x="235112" y="308554"/>
                    <a:pt x="229828" y="313831"/>
                    <a:pt x="224545" y="313831"/>
                  </a:cubicBezTo>
                  <a:cubicBezTo>
                    <a:pt x="224545" y="313831"/>
                    <a:pt x="224545" y="313831"/>
                    <a:pt x="113593" y="313831"/>
                  </a:cubicBezTo>
                  <a:cubicBezTo>
                    <a:pt x="108310" y="313831"/>
                    <a:pt x="103026" y="308554"/>
                    <a:pt x="103026" y="301958"/>
                  </a:cubicBezTo>
                  <a:cubicBezTo>
                    <a:pt x="103026" y="295361"/>
                    <a:pt x="108310" y="290084"/>
                    <a:pt x="113593" y="290084"/>
                  </a:cubicBezTo>
                  <a:cubicBezTo>
                    <a:pt x="113593" y="290084"/>
                    <a:pt x="113593" y="290084"/>
                    <a:pt x="121518" y="290084"/>
                  </a:cubicBezTo>
                  <a:cubicBezTo>
                    <a:pt x="121518" y="290084"/>
                    <a:pt x="121518" y="290084"/>
                    <a:pt x="137369" y="251825"/>
                  </a:cubicBezTo>
                  <a:cubicBezTo>
                    <a:pt x="137369" y="251825"/>
                    <a:pt x="137369" y="251825"/>
                    <a:pt x="18492" y="251825"/>
                  </a:cubicBezTo>
                  <a:cubicBezTo>
                    <a:pt x="7925" y="251825"/>
                    <a:pt x="0" y="243909"/>
                    <a:pt x="0" y="234674"/>
                  </a:cubicBezTo>
                  <a:cubicBezTo>
                    <a:pt x="0" y="234674"/>
                    <a:pt x="0" y="234674"/>
                    <a:pt x="0" y="43376"/>
                  </a:cubicBezTo>
                  <a:cubicBezTo>
                    <a:pt x="0" y="34141"/>
                    <a:pt x="7925" y="24906"/>
                    <a:pt x="18492" y="24906"/>
                  </a:cubicBezTo>
                  <a:close/>
                  <a:moveTo>
                    <a:pt x="109666" y="1"/>
                  </a:moveTo>
                  <a:cubicBezTo>
                    <a:pt x="113718" y="21"/>
                    <a:pt x="119286" y="267"/>
                    <a:pt x="126932" y="267"/>
                  </a:cubicBezTo>
                  <a:cubicBezTo>
                    <a:pt x="134910" y="267"/>
                    <a:pt x="133580" y="10764"/>
                    <a:pt x="133580" y="18637"/>
                  </a:cubicBezTo>
                  <a:cubicBezTo>
                    <a:pt x="137569" y="19949"/>
                    <a:pt x="140229" y="21261"/>
                    <a:pt x="144218" y="22573"/>
                  </a:cubicBezTo>
                  <a:cubicBezTo>
                    <a:pt x="158845" y="6828"/>
                    <a:pt x="154855" y="8140"/>
                    <a:pt x="177460" y="29134"/>
                  </a:cubicBezTo>
                  <a:cubicBezTo>
                    <a:pt x="182779" y="35695"/>
                    <a:pt x="174801" y="40943"/>
                    <a:pt x="168152" y="47504"/>
                  </a:cubicBezTo>
                  <a:cubicBezTo>
                    <a:pt x="170812" y="50128"/>
                    <a:pt x="172142" y="54065"/>
                    <a:pt x="173471" y="58001"/>
                  </a:cubicBezTo>
                  <a:cubicBezTo>
                    <a:pt x="188098" y="58001"/>
                    <a:pt x="192087" y="55377"/>
                    <a:pt x="192087" y="67186"/>
                  </a:cubicBezTo>
                  <a:cubicBezTo>
                    <a:pt x="192087" y="67186"/>
                    <a:pt x="192087" y="67186"/>
                    <a:pt x="154855" y="82931"/>
                  </a:cubicBezTo>
                  <a:cubicBezTo>
                    <a:pt x="160174" y="58001"/>
                    <a:pt x="140229" y="35695"/>
                    <a:pt x="116294" y="35695"/>
                  </a:cubicBezTo>
                  <a:cubicBezTo>
                    <a:pt x="93689" y="35695"/>
                    <a:pt x="76403" y="52753"/>
                    <a:pt x="76403" y="75059"/>
                  </a:cubicBezTo>
                  <a:cubicBezTo>
                    <a:pt x="76403" y="88180"/>
                    <a:pt x="83052" y="101301"/>
                    <a:pt x="93689" y="107862"/>
                  </a:cubicBezTo>
                  <a:cubicBezTo>
                    <a:pt x="73744" y="117047"/>
                    <a:pt x="67095" y="118359"/>
                    <a:pt x="59117" y="124919"/>
                  </a:cubicBezTo>
                  <a:cubicBezTo>
                    <a:pt x="48479" y="114422"/>
                    <a:pt x="49809" y="115734"/>
                    <a:pt x="63106" y="102613"/>
                  </a:cubicBezTo>
                  <a:cubicBezTo>
                    <a:pt x="61776" y="98677"/>
                    <a:pt x="60447" y="96053"/>
                    <a:pt x="59117" y="92116"/>
                  </a:cubicBezTo>
                  <a:cubicBezTo>
                    <a:pt x="36512" y="92116"/>
                    <a:pt x="40501" y="94740"/>
                    <a:pt x="40501" y="63249"/>
                  </a:cubicBezTo>
                  <a:cubicBezTo>
                    <a:pt x="40501" y="55377"/>
                    <a:pt x="51139" y="58001"/>
                    <a:pt x="59117" y="58001"/>
                  </a:cubicBezTo>
                  <a:cubicBezTo>
                    <a:pt x="60447" y="54065"/>
                    <a:pt x="61776" y="50128"/>
                    <a:pt x="63106" y="47504"/>
                  </a:cubicBezTo>
                  <a:cubicBezTo>
                    <a:pt x="47150" y="31759"/>
                    <a:pt x="48479" y="35695"/>
                    <a:pt x="69755" y="14700"/>
                  </a:cubicBezTo>
                  <a:cubicBezTo>
                    <a:pt x="76403" y="8140"/>
                    <a:pt x="81722" y="17325"/>
                    <a:pt x="88370" y="22573"/>
                  </a:cubicBezTo>
                  <a:cubicBezTo>
                    <a:pt x="91030" y="21261"/>
                    <a:pt x="95019" y="19949"/>
                    <a:pt x="99008" y="18637"/>
                  </a:cubicBezTo>
                  <a:cubicBezTo>
                    <a:pt x="99008" y="1907"/>
                    <a:pt x="97512" y="-61"/>
                    <a:pt x="10966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63" name="graph_134483"/>
            <p:cNvSpPr>
              <a:spLocks noChangeAspect="1"/>
            </p:cNvSpPr>
            <p:nvPr/>
          </p:nvSpPr>
          <p:spPr bwMode="auto">
            <a:xfrm>
              <a:off x="9435038" y="3005673"/>
              <a:ext cx="609685" cy="555432"/>
            </a:xfrm>
            <a:custGeom>
              <a:avLst/>
              <a:gdLst>
                <a:gd name="connsiteX0" fmla="*/ 260506 w 331788"/>
                <a:gd name="connsiteY0" fmla="*/ 76839 h 302264"/>
                <a:gd name="connsiteX1" fmla="*/ 326604 w 331788"/>
                <a:gd name="connsiteY1" fmla="*/ 76839 h 302264"/>
                <a:gd name="connsiteX2" fmla="*/ 326604 w 331788"/>
                <a:gd name="connsiteY2" fmla="*/ 291959 h 302264"/>
                <a:gd name="connsiteX3" fmla="*/ 331788 w 331788"/>
                <a:gd name="connsiteY3" fmla="*/ 297111 h 302264"/>
                <a:gd name="connsiteX4" fmla="*/ 326604 w 331788"/>
                <a:gd name="connsiteY4" fmla="*/ 302264 h 302264"/>
                <a:gd name="connsiteX5" fmla="*/ 5184 w 331788"/>
                <a:gd name="connsiteY5" fmla="*/ 302264 h 302264"/>
                <a:gd name="connsiteX6" fmla="*/ 0 w 331788"/>
                <a:gd name="connsiteY6" fmla="*/ 297111 h 302264"/>
                <a:gd name="connsiteX7" fmla="*/ 5184 w 331788"/>
                <a:gd name="connsiteY7" fmla="*/ 291959 h 302264"/>
                <a:gd name="connsiteX8" fmla="*/ 11664 w 331788"/>
                <a:gd name="connsiteY8" fmla="*/ 291959 h 302264"/>
                <a:gd name="connsiteX9" fmla="*/ 11664 w 331788"/>
                <a:gd name="connsiteY9" fmla="*/ 214670 h 302264"/>
                <a:gd name="connsiteX10" fmla="*/ 77763 w 331788"/>
                <a:gd name="connsiteY10" fmla="*/ 214670 h 302264"/>
                <a:gd name="connsiteX11" fmla="*/ 77763 w 331788"/>
                <a:gd name="connsiteY11" fmla="*/ 291959 h 302264"/>
                <a:gd name="connsiteX12" fmla="*/ 94612 w 331788"/>
                <a:gd name="connsiteY12" fmla="*/ 291959 h 302264"/>
                <a:gd name="connsiteX13" fmla="*/ 94612 w 331788"/>
                <a:gd name="connsiteY13" fmla="*/ 165721 h 302264"/>
                <a:gd name="connsiteX14" fmla="*/ 160710 w 331788"/>
                <a:gd name="connsiteY14" fmla="*/ 165721 h 302264"/>
                <a:gd name="connsiteX15" fmla="*/ 160710 w 331788"/>
                <a:gd name="connsiteY15" fmla="*/ 291959 h 302264"/>
                <a:gd name="connsiteX16" fmla="*/ 177559 w 331788"/>
                <a:gd name="connsiteY16" fmla="*/ 291959 h 302264"/>
                <a:gd name="connsiteX17" fmla="*/ 177559 w 331788"/>
                <a:gd name="connsiteY17" fmla="*/ 121924 h 302264"/>
                <a:gd name="connsiteX18" fmla="*/ 243657 w 331788"/>
                <a:gd name="connsiteY18" fmla="*/ 121924 h 302264"/>
                <a:gd name="connsiteX19" fmla="*/ 243657 w 331788"/>
                <a:gd name="connsiteY19" fmla="*/ 291959 h 302264"/>
                <a:gd name="connsiteX20" fmla="*/ 260506 w 331788"/>
                <a:gd name="connsiteY20" fmla="*/ 291959 h 302264"/>
                <a:gd name="connsiteX21" fmla="*/ 260506 w 331788"/>
                <a:gd name="connsiteY21" fmla="*/ 76839 h 302264"/>
                <a:gd name="connsiteX22" fmla="*/ 212230 w 331788"/>
                <a:gd name="connsiteY22" fmla="*/ 334 h 302264"/>
                <a:gd name="connsiteX23" fmla="*/ 259954 w 331788"/>
                <a:gd name="connsiteY23" fmla="*/ 4179 h 302264"/>
                <a:gd name="connsiteX24" fmla="*/ 261244 w 331788"/>
                <a:gd name="connsiteY24" fmla="*/ 5460 h 302264"/>
                <a:gd name="connsiteX25" fmla="*/ 262534 w 331788"/>
                <a:gd name="connsiteY25" fmla="*/ 5460 h 302264"/>
                <a:gd name="connsiteX26" fmla="*/ 263823 w 331788"/>
                <a:gd name="connsiteY26" fmla="*/ 6742 h 302264"/>
                <a:gd name="connsiteX27" fmla="*/ 263823 w 331788"/>
                <a:gd name="connsiteY27" fmla="*/ 8024 h 302264"/>
                <a:gd name="connsiteX28" fmla="*/ 265113 w 331788"/>
                <a:gd name="connsiteY28" fmla="*/ 8024 h 302264"/>
                <a:gd name="connsiteX29" fmla="*/ 265113 w 331788"/>
                <a:gd name="connsiteY29" fmla="*/ 9305 h 302264"/>
                <a:gd name="connsiteX30" fmla="*/ 265113 w 331788"/>
                <a:gd name="connsiteY30" fmla="*/ 10587 h 302264"/>
                <a:gd name="connsiteX31" fmla="*/ 265113 w 331788"/>
                <a:gd name="connsiteY31" fmla="*/ 11869 h 302264"/>
                <a:gd name="connsiteX32" fmla="*/ 263823 w 331788"/>
                <a:gd name="connsiteY32" fmla="*/ 11869 h 302264"/>
                <a:gd name="connsiteX33" fmla="*/ 244476 w 331788"/>
                <a:gd name="connsiteY33" fmla="*/ 55445 h 302264"/>
                <a:gd name="connsiteX34" fmla="*/ 239316 w 331788"/>
                <a:gd name="connsiteY34" fmla="*/ 58008 h 302264"/>
                <a:gd name="connsiteX35" fmla="*/ 238026 w 331788"/>
                <a:gd name="connsiteY35" fmla="*/ 58008 h 302264"/>
                <a:gd name="connsiteX36" fmla="*/ 234157 w 331788"/>
                <a:gd name="connsiteY36" fmla="*/ 50318 h 302264"/>
                <a:gd name="connsiteX37" fmla="*/ 247055 w 331788"/>
                <a:gd name="connsiteY37" fmla="*/ 23403 h 302264"/>
                <a:gd name="connsiteX38" fmla="*/ 47129 w 331788"/>
                <a:gd name="connsiteY38" fmla="*/ 137470 h 302264"/>
                <a:gd name="connsiteX39" fmla="*/ 44549 w 331788"/>
                <a:gd name="connsiteY39" fmla="*/ 138752 h 302264"/>
                <a:gd name="connsiteX40" fmla="*/ 40680 w 331788"/>
                <a:gd name="connsiteY40" fmla="*/ 136189 h 302264"/>
                <a:gd name="connsiteX41" fmla="*/ 41970 w 331788"/>
                <a:gd name="connsiteY41" fmla="*/ 128499 h 302264"/>
                <a:gd name="connsiteX42" fmla="*/ 241896 w 331788"/>
                <a:gd name="connsiteY42" fmla="*/ 13150 h 302264"/>
                <a:gd name="connsiteX43" fmla="*/ 212230 w 331788"/>
                <a:gd name="connsiteY43" fmla="*/ 10587 h 302264"/>
                <a:gd name="connsiteX44" fmla="*/ 207070 w 331788"/>
                <a:gd name="connsiteY44" fmla="*/ 5460 h 302264"/>
                <a:gd name="connsiteX45" fmla="*/ 212230 w 331788"/>
                <a:gd name="connsiteY45" fmla="*/ 334 h 30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1788" h="302264">
                  <a:moveTo>
                    <a:pt x="260506" y="76839"/>
                  </a:moveTo>
                  <a:cubicBezTo>
                    <a:pt x="260506" y="76839"/>
                    <a:pt x="260506" y="76839"/>
                    <a:pt x="326604" y="76839"/>
                  </a:cubicBezTo>
                  <a:cubicBezTo>
                    <a:pt x="326604" y="76839"/>
                    <a:pt x="326604" y="76839"/>
                    <a:pt x="326604" y="291959"/>
                  </a:cubicBezTo>
                  <a:cubicBezTo>
                    <a:pt x="329196" y="291959"/>
                    <a:pt x="331788" y="294535"/>
                    <a:pt x="331788" y="297111"/>
                  </a:cubicBezTo>
                  <a:cubicBezTo>
                    <a:pt x="331788" y="299688"/>
                    <a:pt x="329196" y="302264"/>
                    <a:pt x="326604" y="302264"/>
                  </a:cubicBezTo>
                  <a:cubicBezTo>
                    <a:pt x="326604" y="302264"/>
                    <a:pt x="326604" y="302264"/>
                    <a:pt x="5184" y="302264"/>
                  </a:cubicBezTo>
                  <a:cubicBezTo>
                    <a:pt x="2592" y="302264"/>
                    <a:pt x="0" y="299688"/>
                    <a:pt x="0" y="297111"/>
                  </a:cubicBezTo>
                  <a:cubicBezTo>
                    <a:pt x="0" y="294535"/>
                    <a:pt x="2592" y="291959"/>
                    <a:pt x="5184" y="291959"/>
                  </a:cubicBezTo>
                  <a:cubicBezTo>
                    <a:pt x="5184" y="291959"/>
                    <a:pt x="5184" y="291959"/>
                    <a:pt x="11664" y="291959"/>
                  </a:cubicBezTo>
                  <a:cubicBezTo>
                    <a:pt x="11664" y="291959"/>
                    <a:pt x="11664" y="291959"/>
                    <a:pt x="11664" y="214670"/>
                  </a:cubicBezTo>
                  <a:cubicBezTo>
                    <a:pt x="11664" y="214670"/>
                    <a:pt x="11664" y="214670"/>
                    <a:pt x="77763" y="214670"/>
                  </a:cubicBezTo>
                  <a:cubicBezTo>
                    <a:pt x="77763" y="214670"/>
                    <a:pt x="77763" y="214670"/>
                    <a:pt x="77763" y="291959"/>
                  </a:cubicBezTo>
                  <a:cubicBezTo>
                    <a:pt x="77763" y="291959"/>
                    <a:pt x="77763" y="291959"/>
                    <a:pt x="94612" y="291959"/>
                  </a:cubicBezTo>
                  <a:cubicBezTo>
                    <a:pt x="94612" y="291959"/>
                    <a:pt x="94612" y="291959"/>
                    <a:pt x="94612" y="165721"/>
                  </a:cubicBezTo>
                  <a:cubicBezTo>
                    <a:pt x="94612" y="165721"/>
                    <a:pt x="94612" y="165721"/>
                    <a:pt x="160710" y="165721"/>
                  </a:cubicBezTo>
                  <a:cubicBezTo>
                    <a:pt x="160710" y="165721"/>
                    <a:pt x="160710" y="165721"/>
                    <a:pt x="160710" y="291959"/>
                  </a:cubicBezTo>
                  <a:cubicBezTo>
                    <a:pt x="160710" y="291959"/>
                    <a:pt x="160710" y="291959"/>
                    <a:pt x="177559" y="291959"/>
                  </a:cubicBezTo>
                  <a:cubicBezTo>
                    <a:pt x="177559" y="291959"/>
                    <a:pt x="177559" y="291959"/>
                    <a:pt x="177559" y="121924"/>
                  </a:cubicBezTo>
                  <a:cubicBezTo>
                    <a:pt x="177559" y="121924"/>
                    <a:pt x="177559" y="121924"/>
                    <a:pt x="243657" y="121924"/>
                  </a:cubicBezTo>
                  <a:cubicBezTo>
                    <a:pt x="243657" y="121924"/>
                    <a:pt x="243657" y="121924"/>
                    <a:pt x="243657" y="291959"/>
                  </a:cubicBezTo>
                  <a:cubicBezTo>
                    <a:pt x="243657" y="291959"/>
                    <a:pt x="243657" y="291959"/>
                    <a:pt x="260506" y="291959"/>
                  </a:cubicBezTo>
                  <a:cubicBezTo>
                    <a:pt x="260506" y="291959"/>
                    <a:pt x="260506" y="291959"/>
                    <a:pt x="260506" y="76839"/>
                  </a:cubicBezTo>
                  <a:close/>
                  <a:moveTo>
                    <a:pt x="212230" y="334"/>
                  </a:moveTo>
                  <a:cubicBezTo>
                    <a:pt x="212230" y="334"/>
                    <a:pt x="212230" y="334"/>
                    <a:pt x="259954" y="4179"/>
                  </a:cubicBezTo>
                  <a:cubicBezTo>
                    <a:pt x="259954" y="4179"/>
                    <a:pt x="261244" y="4179"/>
                    <a:pt x="261244" y="5460"/>
                  </a:cubicBezTo>
                  <a:cubicBezTo>
                    <a:pt x="262534" y="5460"/>
                    <a:pt x="262534" y="5460"/>
                    <a:pt x="262534" y="5460"/>
                  </a:cubicBezTo>
                  <a:cubicBezTo>
                    <a:pt x="262534" y="5460"/>
                    <a:pt x="263823" y="6742"/>
                    <a:pt x="263823" y="6742"/>
                  </a:cubicBezTo>
                  <a:cubicBezTo>
                    <a:pt x="263823" y="6742"/>
                    <a:pt x="263823" y="8024"/>
                    <a:pt x="263823" y="8024"/>
                  </a:cubicBezTo>
                  <a:cubicBezTo>
                    <a:pt x="263823" y="8024"/>
                    <a:pt x="265113" y="8024"/>
                    <a:pt x="265113" y="8024"/>
                  </a:cubicBezTo>
                  <a:cubicBezTo>
                    <a:pt x="265113" y="8024"/>
                    <a:pt x="265113" y="8024"/>
                    <a:pt x="265113" y="9305"/>
                  </a:cubicBezTo>
                  <a:cubicBezTo>
                    <a:pt x="265113" y="9305"/>
                    <a:pt x="265113" y="10587"/>
                    <a:pt x="265113" y="10587"/>
                  </a:cubicBezTo>
                  <a:cubicBezTo>
                    <a:pt x="265113" y="10587"/>
                    <a:pt x="265113" y="11869"/>
                    <a:pt x="265113" y="11869"/>
                  </a:cubicBezTo>
                  <a:cubicBezTo>
                    <a:pt x="263823" y="11869"/>
                    <a:pt x="263823" y="11869"/>
                    <a:pt x="263823" y="11869"/>
                  </a:cubicBezTo>
                  <a:cubicBezTo>
                    <a:pt x="263823" y="11869"/>
                    <a:pt x="263823" y="11869"/>
                    <a:pt x="244476" y="55445"/>
                  </a:cubicBezTo>
                  <a:cubicBezTo>
                    <a:pt x="244476" y="56726"/>
                    <a:pt x="241896" y="58008"/>
                    <a:pt x="239316" y="58008"/>
                  </a:cubicBezTo>
                  <a:cubicBezTo>
                    <a:pt x="239316" y="58008"/>
                    <a:pt x="238026" y="58008"/>
                    <a:pt x="238026" y="58008"/>
                  </a:cubicBezTo>
                  <a:cubicBezTo>
                    <a:pt x="234157" y="56726"/>
                    <a:pt x="232867" y="52881"/>
                    <a:pt x="234157" y="50318"/>
                  </a:cubicBezTo>
                  <a:cubicBezTo>
                    <a:pt x="234157" y="50318"/>
                    <a:pt x="234157" y="50318"/>
                    <a:pt x="247055" y="23403"/>
                  </a:cubicBezTo>
                  <a:cubicBezTo>
                    <a:pt x="247055" y="23403"/>
                    <a:pt x="247055" y="23403"/>
                    <a:pt x="47129" y="137470"/>
                  </a:cubicBezTo>
                  <a:cubicBezTo>
                    <a:pt x="47129" y="138752"/>
                    <a:pt x="45839" y="138752"/>
                    <a:pt x="44549" y="138752"/>
                  </a:cubicBezTo>
                  <a:cubicBezTo>
                    <a:pt x="43260" y="138752"/>
                    <a:pt x="40680" y="137470"/>
                    <a:pt x="40680" y="136189"/>
                  </a:cubicBezTo>
                  <a:cubicBezTo>
                    <a:pt x="38100" y="133625"/>
                    <a:pt x="39390" y="129780"/>
                    <a:pt x="41970" y="128499"/>
                  </a:cubicBezTo>
                  <a:cubicBezTo>
                    <a:pt x="41970" y="128499"/>
                    <a:pt x="41970" y="128499"/>
                    <a:pt x="241896" y="13150"/>
                  </a:cubicBezTo>
                  <a:cubicBezTo>
                    <a:pt x="241896" y="13150"/>
                    <a:pt x="241896" y="13150"/>
                    <a:pt x="212230" y="10587"/>
                  </a:cubicBezTo>
                  <a:cubicBezTo>
                    <a:pt x="208360" y="10587"/>
                    <a:pt x="207070" y="8024"/>
                    <a:pt x="207070" y="5460"/>
                  </a:cubicBezTo>
                  <a:cubicBezTo>
                    <a:pt x="207070" y="1615"/>
                    <a:pt x="209650" y="-948"/>
                    <a:pt x="212230" y="33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background-attachment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属性可以将背景图像固定。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）设置背景图像固定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原创设计师QQ598969553          _3"/>
          <p:cNvSpPr/>
          <p:nvPr/>
        </p:nvSpPr>
        <p:spPr>
          <a:xfrm>
            <a:off x="1019175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原创设计师QQ598969553          _4"/>
          <p:cNvSpPr/>
          <p:nvPr/>
        </p:nvSpPr>
        <p:spPr>
          <a:xfrm>
            <a:off x="135255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图像随页面一起滚动（默认值）。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原创设计师QQ598969553          _6"/>
          <p:cNvSpPr/>
          <p:nvPr/>
        </p:nvSpPr>
        <p:spPr>
          <a:xfrm>
            <a:off x="1674781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原创设计师QQ598969553          _3"/>
          <p:cNvSpPr/>
          <p:nvPr/>
        </p:nvSpPr>
        <p:spPr>
          <a:xfrm>
            <a:off x="6761482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原创设计师QQ598969553          _6"/>
          <p:cNvSpPr/>
          <p:nvPr/>
        </p:nvSpPr>
        <p:spPr>
          <a:xfrm>
            <a:off x="7417088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原创设计师QQ598969553          _7"/>
          <p:cNvSpPr txBox="1"/>
          <p:nvPr/>
        </p:nvSpPr>
        <p:spPr>
          <a:xfrm>
            <a:off x="1915552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scroll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原创设计师QQ598969553          _7"/>
          <p:cNvSpPr txBox="1"/>
          <p:nvPr/>
        </p:nvSpPr>
        <p:spPr>
          <a:xfrm>
            <a:off x="7657859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fixed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原创设计师QQ598969553          _4"/>
          <p:cNvSpPr/>
          <p:nvPr/>
        </p:nvSpPr>
        <p:spPr>
          <a:xfrm>
            <a:off x="715214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图像固定在屏幕上，不随页面滚动。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我们可以将背景相关的样式都综合定义在一个复合属性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）综合设置元素的背景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8"/>
          <p:cNvGrpSpPr/>
          <p:nvPr/>
        </p:nvGrpSpPr>
        <p:grpSpPr bwMode="auto">
          <a:xfrm>
            <a:off x="1019176" y="3533913"/>
            <a:ext cx="10333038" cy="882807"/>
            <a:chOff x="-569288" y="2283718"/>
            <a:chExt cx="12395214" cy="883114"/>
          </a:xfrm>
        </p:grpSpPr>
        <p:sp>
          <p:nvSpPr>
            <p:cNvPr id="20" name="矩形 19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0429" y="2484102"/>
              <a:ext cx="5441545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背景色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")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平铺 定位 固定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22" name="下箭头 21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宽度属性和高度属性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的方法，在网页设计中能够对盒子的大小进行控制。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03159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可以对盒子的大小进行控制。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的属性值可以为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或相对于父元素的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，实际工作中最常用的是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像素值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8" name="原创设计师QQ598969553          _3"/>
          <p:cNvSpPr/>
          <p:nvPr/>
        </p:nvSpPr>
        <p:spPr>
          <a:xfrm>
            <a:off x="1642745" y="3575050"/>
            <a:ext cx="9297670" cy="203073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原创设计师QQ598969553          _4"/>
          <p:cNvSpPr/>
          <p:nvPr/>
        </p:nvSpPr>
        <p:spPr>
          <a:xfrm>
            <a:off x="1949450" y="3966210"/>
            <a:ext cx="8540115" cy="13627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所占宽度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width+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左右外边距之和。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所占高度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height+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上下外边距之和。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注：计算盒子本身宽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时，不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加外边距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原创设计师QQ598969553          _6"/>
          <p:cNvSpPr/>
          <p:nvPr/>
        </p:nvSpPr>
        <p:spPr>
          <a:xfrm>
            <a:off x="4418410" y="3340927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原创设计师QQ598969553          _7"/>
          <p:cNvSpPr txBox="1"/>
          <p:nvPr/>
        </p:nvSpPr>
        <p:spPr>
          <a:xfrm>
            <a:off x="4649656" y="3390725"/>
            <a:ext cx="279797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计算原则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原创设计师QQ598969553          _4"/>
          <p:cNvSpPr/>
          <p:nvPr/>
        </p:nvSpPr>
        <p:spPr>
          <a:xfrm>
            <a:off x="1216852" y="5480904"/>
            <a:ext cx="9859268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注意：宽度属性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width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和高度属性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height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仅适用于块级元素，对行内元素无效。特殊的行内元素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img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&lt;input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除外。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4-3】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新增属性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为了丰富网页的样式功能，去除一些冗余的样式代码，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中添加了一些新的盒子模型属性。例如，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颜色透明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等。下面将详细介绍这些全新的的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颜色透明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的方法，能够使用不同的属性设置透明度。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ko-KR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它是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模式的延伸。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模式是在红、绿、蓝三原色的基础上添加了透明度参数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rgba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模式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251647" y="3865165"/>
              <a:ext cx="2719767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rgba(r,g,b,alpha);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579366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ko-KR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能够使任何元素呈现出透明效果。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opacity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属性作用范围要比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模式大得多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opacity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属性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316173" y="3865165"/>
              <a:ext cx="2319444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opacity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432033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256530" y="5015230"/>
            <a:ext cx="6096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与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rgba</a:t>
            </a:r>
            <a:r>
              <a:rPr lang="zh-CN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区别：</a:t>
            </a:r>
            <a:endParaRPr lang="zh-CN" altLang="en-US" sz="2000" dirty="0" err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  <a:p>
            <a:r>
              <a:rPr lang="zh-CN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一个是背景颜色半透明。</a:t>
            </a:r>
            <a:endParaRPr lang="zh-CN" altLang="en-US" sz="2000" dirty="0" err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  <a:p>
            <a:r>
              <a:rPr lang="zh-CN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一个是盒子本身半透明，包括盒子里面的内容（文字等）都半透明了。</a:t>
            </a:r>
            <a:endParaRPr lang="zh-CN" altLang="en-US" sz="2000" dirty="0" err="1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圆角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的方法，能够将矩形边框四角圆角化。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2059991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border-radius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可以将矩形边框四角圆角化，实现圆角效果。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346980" y="3654684"/>
            <a:ext cx="4346454" cy="2056004"/>
            <a:chOff x="-569288" y="2283718"/>
            <a:chExt cx="12395214" cy="2056719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056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8312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border-radius: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4/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21" name="下箭头 20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021901" y="3194681"/>
          <a:ext cx="3329796" cy="3212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1" imgW="4660900" imgH="4495800" progId="Visio.Drawing.11">
                  <p:embed/>
                </p:oleObj>
              </mc:Choice>
              <mc:Fallback>
                <p:oleObj name="" r:id="rId1" imgW="4660900" imgH="44958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901" y="3194681"/>
                        <a:ext cx="3329796" cy="3212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阴影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的方法，在网页设计中能够为元素添加阴影。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79034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1904714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box-shadow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属性可以轻松实现阴影的添加。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872483"/>
            <a:ext cx="10005233" cy="987837"/>
            <a:chOff x="-569288" y="2283718"/>
            <a:chExt cx="12395214" cy="98818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8" y="2484102"/>
              <a:ext cx="10711315" cy="7877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box-shadow: h-shadow v-shadow blur spread color outset;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88103" y="3832655"/>
          <a:ext cx="9943338" cy="2622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0734"/>
                <a:gridCol w="6172604"/>
              </a:tblGrid>
              <a:tr h="4805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表示水平阴影的位置，可以为负值（必选属性）。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表示垂直阴影的位置，可以为负值（必选属性）。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blur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阴影模糊半径（可选属性）。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spread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阴影扩展半径，不能为负值（可选属性）。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阴影颜色（可选属性）。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outset/ inset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默认为外阴影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内阴影（可选属性）。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渐变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的方法，在网页设计中能够为元素设置阴影。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渐变角度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676846" y="3686689"/>
          <a:ext cx="3800475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" r:id="rId1" imgW="6057900" imgH="4711700" progId="Visio.Drawing.11">
                  <p:embed/>
                </p:oleObj>
              </mc:Choice>
              <mc:Fallback>
                <p:oleObj name="" r:id="rId1" imgW="6057900" imgH="47117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846" y="3686689"/>
                        <a:ext cx="3800475" cy="295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颜色值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45"/>
          <p:cNvGrpSpPr/>
          <p:nvPr/>
        </p:nvGrpSpPr>
        <p:grpSpPr bwMode="auto">
          <a:xfrm>
            <a:off x="6477981" y="3695781"/>
            <a:ext cx="2655887" cy="2806700"/>
            <a:chOff x="2714194" y="995130"/>
            <a:chExt cx="2681008" cy="2638958"/>
          </a:xfrm>
        </p:grpSpPr>
        <p:sp>
          <p:nvSpPr>
            <p:cNvPr id="38" name="椭圆 3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，初始颜色和结束颜色之间可以添加多个颜色值，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各颜色值之间用“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,”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38148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渐变形状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6178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579435" y="4605506"/>
            <a:ext cx="6092825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像素值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/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百分比：用于定义形状的水平和垂直半径。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circle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：指定圆形的径向渐变。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ellipse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：指定椭圆形的径向渐变。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13680" y="38823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从中心点向外扩散的一个渐变</a:t>
            </a: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0895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圆心位置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408419" y="5006990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003963" y="4034087"/>
            <a:ext cx="64562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像素值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百分比：定义圆心的水平和垂直坐标，可以为负值。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left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：设置左边为径向渐变圆心的横坐标值。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center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：设置中间为径向渐变圆心的横坐标值或纵坐标。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right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：设置右边为径向渐变圆心的横坐标值。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top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：设置顶部为径向渐变圆心的纵标值。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bottom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：设置底部为径向渐变圆心的纵标值。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35764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颜色值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635230" y="5006990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45"/>
          <p:cNvGrpSpPr/>
          <p:nvPr/>
        </p:nvGrpSpPr>
        <p:grpSpPr bwMode="auto">
          <a:xfrm>
            <a:off x="6477981" y="3695781"/>
            <a:ext cx="2655887" cy="2806700"/>
            <a:chOff x="2714194" y="995130"/>
            <a:chExt cx="2681008" cy="2638958"/>
          </a:xfrm>
        </p:grpSpPr>
        <p:sp>
          <p:nvSpPr>
            <p:cNvPr id="38" name="椭圆 3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，初始颜色和结束颜色之间可以添加多个颜色值，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各颜色值之间用“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,”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background-image:repeating-linear-gradient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样式可以设置重复渐变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效果。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）重复渐变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5618564" y="4006978"/>
            <a:ext cx="5210203" cy="1388967"/>
            <a:chOff x="1396443" y="2283717"/>
            <a:chExt cx="10429481" cy="1389451"/>
          </a:xfrm>
        </p:grpSpPr>
        <p:sp>
          <p:nvSpPr>
            <p:cNvPr id="29" name="矩形 28"/>
            <p:cNvSpPr/>
            <p:nvPr/>
          </p:nvSpPr>
          <p:spPr>
            <a:xfrm>
              <a:off x="1396443" y="2283717"/>
              <a:ext cx="10429481" cy="1389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052624" y="2484107"/>
              <a:ext cx="9049120" cy="8312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background-image:repeating-linear-gradient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46464" y="3464744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重复线性渐变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45930" y="4437647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）重复渐变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5515048" y="3867600"/>
            <a:ext cx="5210203" cy="1603936"/>
            <a:chOff x="1396443" y="2283717"/>
            <a:chExt cx="10429481" cy="1604495"/>
          </a:xfrm>
        </p:grpSpPr>
        <p:sp>
          <p:nvSpPr>
            <p:cNvPr id="29" name="矩形 28"/>
            <p:cNvSpPr/>
            <p:nvPr/>
          </p:nvSpPr>
          <p:spPr>
            <a:xfrm>
              <a:off x="1396443" y="2283717"/>
              <a:ext cx="10429481" cy="16044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052624" y="2484107"/>
              <a:ext cx="9049120" cy="11572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background-image:repeating-radial-gradient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46464" y="3464744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重复径向渐变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45930" y="4437647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8"/>
          <p:cNvSpPr txBox="1"/>
          <p:nvPr/>
        </p:nvSpPr>
        <p:spPr>
          <a:xfrm>
            <a:off x="1642737" y="2209865"/>
            <a:ext cx="929792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background-image:repeating-linear-gradient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（参数值）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样式可以设置重复渐变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4-4】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类型与转换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前面的项目章节介绍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属性时，经常会提到“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仅适用于块级元素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”，那么究竟什么是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块级元素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标签语言中元素又是如何分类的呢？下面将对元素的类型与转换进行详细讲解。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62506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块元素和行内元素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的特点和作用，能够说出两者的差异。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cxnSp>
        <p:nvCxnSpPr>
          <p:cNvPr id="9" name="直接连接符 41"/>
          <p:cNvCxnSpPr/>
          <p:nvPr/>
        </p:nvCxnSpPr>
        <p:spPr>
          <a:xfrm flipH="1">
            <a:off x="3689671" y="206702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42"/>
          <p:cNvCxnSpPr/>
          <p:nvPr/>
        </p:nvCxnSpPr>
        <p:spPr>
          <a:xfrm flipH="1">
            <a:off x="3689671" y="3807803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43"/>
          <p:cNvCxnSpPr/>
          <p:nvPr/>
        </p:nvCxnSpPr>
        <p:spPr>
          <a:xfrm flipH="1">
            <a:off x="3689671" y="552087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44"/>
          <p:cNvCxnSpPr/>
          <p:nvPr/>
        </p:nvCxnSpPr>
        <p:spPr>
          <a:xfrm>
            <a:off x="3689671" y="2067024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椭圆 14"/>
          <p:cNvSpPr/>
          <p:nvPr/>
        </p:nvSpPr>
        <p:spPr>
          <a:xfrm>
            <a:off x="4883204" y="153534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883204" y="325393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883204" y="49473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965817" y="3345904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176"/>
          <p:cNvSpPr>
            <a:spLocks noEditPoints="1"/>
          </p:cNvSpPr>
          <p:nvPr/>
        </p:nvSpPr>
        <p:spPr bwMode="auto">
          <a:xfrm>
            <a:off x="5160853" y="3560777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975178" y="162731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5816" y="505898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175"/>
          <p:cNvSpPr>
            <a:spLocks noEditPoints="1"/>
          </p:cNvSpPr>
          <p:nvPr/>
        </p:nvSpPr>
        <p:spPr bwMode="auto">
          <a:xfrm>
            <a:off x="5190486" y="518583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168"/>
          <p:cNvSpPr>
            <a:spLocks noEditPoints="1"/>
          </p:cNvSpPr>
          <p:nvPr/>
        </p:nvSpPr>
        <p:spPr bwMode="auto">
          <a:xfrm>
            <a:off x="5160852" y="175904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33"/>
          <p:cNvSpPr txBox="1"/>
          <p:nvPr/>
        </p:nvSpPr>
        <p:spPr>
          <a:xfrm>
            <a:off x="6290996" y="2050068"/>
            <a:ext cx="4076056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每个块元素都会独自占据一行或多行。块元素可以设置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宽度、高度、对齐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等属性。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9"/>
          <p:cNvSpPr txBox="1"/>
          <p:nvPr/>
        </p:nvSpPr>
        <p:spPr>
          <a:xfrm>
            <a:off x="6302445" y="162731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33"/>
          <p:cNvSpPr txBox="1"/>
          <p:nvPr/>
        </p:nvSpPr>
        <p:spPr>
          <a:xfrm>
            <a:off x="6302445" y="3791431"/>
            <a:ext cx="4076056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常用于网页布局和网页结构的搭建。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文本框 9"/>
          <p:cNvSpPr txBox="1"/>
          <p:nvPr/>
        </p:nvSpPr>
        <p:spPr>
          <a:xfrm>
            <a:off x="6313894" y="336867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33"/>
          <p:cNvSpPr txBox="1"/>
          <p:nvPr/>
        </p:nvSpPr>
        <p:spPr>
          <a:xfrm>
            <a:off x="6313894" y="5489742"/>
            <a:ext cx="4076056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常见的块元素有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&lt;h1&gt;~&lt;h6&gt;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&lt;div&gt;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&lt;li&gt;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文本框 9"/>
          <p:cNvSpPr txBox="1"/>
          <p:nvPr/>
        </p:nvSpPr>
        <p:spPr>
          <a:xfrm>
            <a:off x="6325343" y="506699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常见的块元素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9"/>
          <p:cNvSpPr txBox="1"/>
          <p:nvPr/>
        </p:nvSpPr>
        <p:spPr>
          <a:xfrm>
            <a:off x="2139351" y="3590894"/>
            <a:ext cx="1249351" cy="545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cxnSp>
        <p:nvCxnSpPr>
          <p:cNvPr id="9" name="直接连接符 41"/>
          <p:cNvCxnSpPr/>
          <p:nvPr/>
        </p:nvCxnSpPr>
        <p:spPr>
          <a:xfrm flipH="1">
            <a:off x="3689671" y="206702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42"/>
          <p:cNvCxnSpPr/>
          <p:nvPr/>
        </p:nvCxnSpPr>
        <p:spPr>
          <a:xfrm flipH="1">
            <a:off x="3689671" y="3807803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43"/>
          <p:cNvCxnSpPr/>
          <p:nvPr/>
        </p:nvCxnSpPr>
        <p:spPr>
          <a:xfrm flipH="1">
            <a:off x="3689671" y="552087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44"/>
          <p:cNvCxnSpPr/>
          <p:nvPr/>
        </p:nvCxnSpPr>
        <p:spPr>
          <a:xfrm>
            <a:off x="3689671" y="2067024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椭圆 14"/>
          <p:cNvSpPr/>
          <p:nvPr/>
        </p:nvSpPr>
        <p:spPr>
          <a:xfrm>
            <a:off x="4883204" y="153534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883204" y="325393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883204" y="49473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965817" y="3345904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176"/>
          <p:cNvSpPr>
            <a:spLocks noEditPoints="1"/>
          </p:cNvSpPr>
          <p:nvPr/>
        </p:nvSpPr>
        <p:spPr bwMode="auto">
          <a:xfrm>
            <a:off x="5160853" y="3560777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975178" y="162731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5816" y="505898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175"/>
          <p:cNvSpPr>
            <a:spLocks noEditPoints="1"/>
          </p:cNvSpPr>
          <p:nvPr/>
        </p:nvSpPr>
        <p:spPr bwMode="auto">
          <a:xfrm>
            <a:off x="5190486" y="518583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168"/>
          <p:cNvSpPr>
            <a:spLocks noEditPoints="1"/>
          </p:cNvSpPr>
          <p:nvPr/>
        </p:nvSpPr>
        <p:spPr bwMode="auto">
          <a:xfrm>
            <a:off x="5160852" y="175904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33"/>
          <p:cNvSpPr txBox="1"/>
          <p:nvPr/>
        </p:nvSpPr>
        <p:spPr>
          <a:xfrm>
            <a:off x="6290996" y="2050068"/>
            <a:ext cx="407605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不会独自占据一行。不可以设置宽度、高度、对齐等属性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9"/>
          <p:cNvSpPr txBox="1"/>
          <p:nvPr/>
        </p:nvSpPr>
        <p:spPr>
          <a:xfrm>
            <a:off x="6302445" y="162731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33"/>
          <p:cNvSpPr txBox="1"/>
          <p:nvPr/>
        </p:nvSpPr>
        <p:spPr>
          <a:xfrm>
            <a:off x="6302445" y="3791431"/>
            <a:ext cx="4076056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用于控制页面中文本的样式。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文本框 9"/>
          <p:cNvSpPr txBox="1"/>
          <p:nvPr/>
        </p:nvSpPr>
        <p:spPr>
          <a:xfrm>
            <a:off x="6313894" y="336867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33"/>
          <p:cNvSpPr txBox="1"/>
          <p:nvPr/>
        </p:nvSpPr>
        <p:spPr>
          <a:xfrm>
            <a:off x="6313894" y="5489742"/>
            <a:ext cx="4076056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常见的行内元素有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&lt;strong&gt;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&lt;b&gt;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&lt;del&gt;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&lt;ins&gt;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&lt;u&gt;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&lt;a&gt;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&lt;font&gt;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文本框 9"/>
          <p:cNvSpPr txBox="1"/>
          <p:nvPr/>
        </p:nvSpPr>
        <p:spPr>
          <a:xfrm>
            <a:off x="6325343" y="506699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常见的块元素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9"/>
          <p:cNvSpPr txBox="1"/>
          <p:nvPr/>
        </p:nvSpPr>
        <p:spPr>
          <a:xfrm>
            <a:off x="1777043" y="3590894"/>
            <a:ext cx="1611660" cy="545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行内元素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sp>
        <p:nvSpPr>
          <p:cNvPr id="33" name="文本框 9"/>
          <p:cNvSpPr txBox="1"/>
          <p:nvPr/>
        </p:nvSpPr>
        <p:spPr>
          <a:xfrm>
            <a:off x="1143691" y="2893133"/>
            <a:ext cx="10053396" cy="10577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zh-CN" dirty="0">
                <a:solidFill>
                  <a:srgbClr val="FF0000"/>
                </a:solidFill>
              </a:rPr>
              <a:t>在行内元素中有几个特殊的标签。例如，</a:t>
            </a: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img</a:t>
            </a:r>
            <a:r>
              <a:rPr lang="en-US" altLang="zh-CN" dirty="0">
                <a:solidFill>
                  <a:srgbClr val="FF0000"/>
                </a:solidFill>
              </a:rPr>
              <a:t> /&gt;</a:t>
            </a:r>
            <a:r>
              <a:rPr lang="zh-CN" altLang="zh-CN" dirty="0">
                <a:solidFill>
                  <a:srgbClr val="FF0000"/>
                </a:solidFill>
              </a:rPr>
              <a:t>标签和</a:t>
            </a:r>
            <a:r>
              <a:rPr lang="en-US" altLang="zh-CN" dirty="0">
                <a:solidFill>
                  <a:srgbClr val="FF0000"/>
                </a:solidFill>
              </a:rPr>
              <a:t>&lt;input /&gt;</a:t>
            </a:r>
            <a:r>
              <a:rPr lang="zh-CN" altLang="zh-CN" dirty="0">
                <a:solidFill>
                  <a:srgbClr val="FF0000"/>
                </a:solidFill>
              </a:rPr>
              <a:t>标签。这些特殊的行内元素可以设置宽度、高度和对齐属性，因此它们也被称为行内块元素。</a:t>
            </a:r>
            <a:endParaRPr lang="zh-CN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1493137" y="355239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&lt;span&gt;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的使用方法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并能在网页中熟练应用。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946017"/>
            <a:chOff x="1019175" y="1680487"/>
            <a:chExt cx="10440988" cy="1946017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8"/>
              <a:ext cx="10440988" cy="192535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标签属于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&lt;/span&gt;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只能包含文本和各种行内标签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标签没有固定的表现形式，通常可配合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使用。当我们对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时，该标签才会产生视觉上的变化。</a:t>
              </a:r>
              <a:r>
                <a:rPr lang="zh-CN" altLang="en-US" sz="1600" dirty="0">
                  <a:solidFill>
                    <a:srgbClr val="595959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在搭建</a:t>
              </a:r>
              <a:r>
                <a:rPr lang="en-US" altLang="zh-CN" sz="1600" dirty="0">
                  <a:solidFill>
                    <a:srgbClr val="595959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结构时，</a:t>
              </a:r>
              <a:r>
                <a:rPr lang="zh-CN" altLang="en-US" sz="1600" dirty="0">
                  <a:solidFill>
                    <a:srgbClr val="1369B2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块元素能够嵌套行内元素</a:t>
              </a:r>
              <a:r>
                <a:rPr lang="zh-CN" altLang="en-US" sz="1600" dirty="0">
                  <a:solidFill>
                    <a:srgbClr val="595959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</a:t>
              </a:r>
              <a:r>
                <a:rPr lang="zh-CN" altLang="en-US" sz="1600" dirty="0">
                  <a:solidFill>
                    <a:srgbClr val="1369B2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行内元素不能嵌套块元素</a:t>
              </a:r>
              <a:r>
                <a:rPr lang="zh-CN" altLang="en-US" sz="1600" dirty="0">
                  <a:solidFill>
                    <a:srgbClr val="595959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3242461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84994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408" y="3847238"/>
            <a:ext cx="6377143" cy="258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元素的转换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元素转换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的方法，能够在网页中完成块元素和行内元素的转换。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元素的转换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网页是由多个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构成的盒子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排列而成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的。如果我们希望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行内元素具有块元素的某些特性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或者需要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块元素具有行内元素的某些特性，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就可以使用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display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对元素的类型进行转换。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display: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26208" y="4032444"/>
          <a:ext cx="10126005" cy="2430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4975"/>
                <a:gridCol w="7871030"/>
              </a:tblGrid>
              <a:tr h="5392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20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inline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此元素将显示为行内元素（行内元素默认的</a:t>
                      </a:r>
                      <a:r>
                        <a:rPr lang="en-US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display</a:t>
                      </a: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属性值）。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20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block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此元素将显示为块元素（块元素默认的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display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属性值）。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040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inline-block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此元素将显示为行内块元素，可以对其设置宽度、高度和对齐方式，但是该元素不会独占一行。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55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此元素将被隐藏，不显示，也不占用页面空间，相当于该元素不存在。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93137" y="3414367"/>
            <a:ext cx="3884345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相邻块元素垂直外边距合并和嵌套块元素垂直外边距合并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的原理，能够说出二者的差异。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2232254"/>
            <a:ext cx="5398878" cy="3306722"/>
            <a:chOff x="1019175" y="1680487"/>
            <a:chExt cx="5398878" cy="3306722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5398878" cy="330672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395670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当上下相邻的两个块元素相遇时，如果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上面的块元素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margin-bottom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下面的块元素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margin-top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，则它们之间的垂直间距不是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margin-bottom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margin-top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之和，而是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两者中的较大者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。这种现象被称为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相邻块元素垂直外边距的合并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（也称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外边距塌陷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6034010" y="460316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41905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）相邻块元素垂直外边距的合并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852617" y="2133015"/>
          <a:ext cx="3785429" cy="3405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388100" imgH="5727700" progId="Visio.Drawing.11">
                  <p:embed/>
                </p:oleObj>
              </mc:Choice>
              <mc:Fallback>
                <p:oleObj name="" r:id="rId1" imgW="6388100" imgH="57277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2617" y="2133015"/>
                        <a:ext cx="3785429" cy="34059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2740466"/>
            <a:ext cx="5398878" cy="2460579"/>
            <a:chOff x="1019175" y="1680487"/>
            <a:chExt cx="5398878" cy="2460579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9"/>
              <a:ext cx="5398878" cy="244326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4391272" cy="14773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嵌套关系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，如果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父级块元素没有上内边距和边框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，则父级块元素的上外边距会与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子级块元素的上外边距发生合并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，合并后的外边距为两者中的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较大者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6034010" y="3757023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41905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）相邻块元素垂直外边距的合并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112666" y="2133015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02096" y="1794294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802096" y="1794294"/>
          <a:ext cx="4057650" cy="435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" r:id="rId1" imgW="6527800" imgH="7010400" progId="Visio.Drawing.11">
                  <p:embed/>
                </p:oleObj>
              </mc:Choice>
              <mc:Fallback>
                <p:oleObj name="" r:id="rId1" imgW="6527800" imgH="70104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096" y="1794294"/>
                        <a:ext cx="4057650" cy="435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4-5】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浮动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412024"/>
            <a:ext cx="6264696" cy="283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在网页中，页面元素是按照默认的排列方向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从上到下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从左到右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排列的。采用这种默认排列方式搭建的页面结构，网页版面看起来会非常单调。通过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属性，网页可以进行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多样化的布局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，将各部分模块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有序排列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，整个网页的排版也变得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。本节将对元素的浮动进行详细讲解。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定义浮动的基本语法格式，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能够为网页中的元素设置浮动。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元素的浮动属性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是指设置了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浮动属性的标签会脱离标准文档流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（标准文档流指的是内容元素排版布局过程中，会自动从左往右，从上往下进行流式排列）的控制，移动到其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中指定位置的过程。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{float: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26207" y="4032444"/>
          <a:ext cx="10005233" cy="221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6121"/>
                <a:gridCol w="6229112"/>
              </a:tblGrid>
              <a:tr h="55327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标签向左浮动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标签向右浮动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标签不浮动（默认值）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364480" y="1236980"/>
            <a:ext cx="6096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inline-block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的问题：底部对齐，不能顶部对齐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清除浮动的基本语法格式，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能够为清除网页中浮动元素对其他元素的影响。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在网页中，当一个元素被设为浮动后，就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不再占用标准文档流的位置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，与该元素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的其他元素，会受浮动的影响，产生位置上的变化。如果要避免浮动对其他元素的影响，就需要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{clear: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26207" y="4032444"/>
          <a:ext cx="10126005" cy="2195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0775"/>
                <a:gridCol w="7015230"/>
              </a:tblGrid>
              <a:tr h="548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不允许左侧有浮动标签（清除左侧浮动的影响）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不允许右侧有浮动标签（清除右侧浮动的影响）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both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同时清除左右两侧浮动的影响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sp>
        <p:nvSpPr>
          <p:cNvPr id="19" name="矩形: 剪去单角 444"/>
          <p:cNvSpPr/>
          <p:nvPr>
            <p:custDataLst>
              <p:tags r:id="rId1"/>
            </p:custDataLst>
          </p:nvPr>
        </p:nvSpPr>
        <p:spPr bwMode="auto">
          <a:xfrm>
            <a:off x="6678245" y="2340745"/>
            <a:ext cx="4357299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矩形 4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676847" y="5741433"/>
            <a:ext cx="4358908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任意多边形: 形状 445"/>
          <p:cNvSpPr/>
          <p:nvPr>
            <p:custDataLst>
              <p:tags r:id="rId3"/>
            </p:custDataLst>
          </p:nvPr>
        </p:nvSpPr>
        <p:spPr bwMode="auto">
          <a:xfrm>
            <a:off x="10016166" y="2340745"/>
            <a:ext cx="1019589" cy="1091752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矩形: 剪去单角 437"/>
          <p:cNvSpPr/>
          <p:nvPr>
            <p:custDataLst>
              <p:tags r:id="rId4"/>
            </p:custDataLst>
          </p:nvPr>
        </p:nvSpPr>
        <p:spPr bwMode="auto">
          <a:xfrm>
            <a:off x="1690777" y="2340745"/>
            <a:ext cx="4243732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8" name="矩形 4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90354" y="5741433"/>
            <a:ext cx="4244577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任意多边形: 形状 438"/>
          <p:cNvSpPr/>
          <p:nvPr>
            <p:custDataLst>
              <p:tags r:id="rId6"/>
            </p:custDataLst>
          </p:nvPr>
        </p:nvSpPr>
        <p:spPr bwMode="auto">
          <a:xfrm>
            <a:off x="4914920" y="2340745"/>
            <a:ext cx="1019589" cy="1091752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ko-KR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>
            <p:custDataLst>
              <p:tags r:id="rId7"/>
            </p:custDataLst>
          </p:nvPr>
        </p:nvSpPr>
        <p:spPr bwMode="auto">
          <a:xfrm>
            <a:off x="1982823" y="3686688"/>
            <a:ext cx="3555177" cy="11568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在浮动元素之后添加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，并对该空标签应用“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clear:both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样式，可清除元素浮动所产生的影响。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8"/>
            </p:custDataLst>
          </p:nvPr>
        </p:nvSpPr>
        <p:spPr bwMode="auto">
          <a:xfrm>
            <a:off x="1982823" y="3286578"/>
            <a:ext cx="2507454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使用空标签清除浮动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9"/>
            </p:custDataLst>
          </p:nvPr>
        </p:nvSpPr>
        <p:spPr bwMode="auto">
          <a:xfrm>
            <a:off x="6914359" y="3686689"/>
            <a:ext cx="3883884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浮动元素的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父元素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overflow:hidden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overflow:auto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也可以清除浮动。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属性清除浮动的方法弥补了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空标签清除浮动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的不足，不会在页面中添加不必要的元素结构。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>
            <p:custDataLst>
              <p:tags r:id="rId10"/>
            </p:custDataLst>
          </p:nvPr>
        </p:nvSpPr>
        <p:spPr bwMode="auto">
          <a:xfrm>
            <a:off x="6869099" y="3187064"/>
            <a:ext cx="4013643" cy="4996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属性清除浮动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: 形状 43"/>
          <p:cNvSpPr/>
          <p:nvPr>
            <p:custDataLst>
              <p:tags r:id="rId11"/>
            </p:custDataLst>
          </p:nvPr>
        </p:nvSpPr>
        <p:spPr bwMode="auto">
          <a:xfrm>
            <a:off x="8600625" y="2688194"/>
            <a:ext cx="427973" cy="458261"/>
          </a:xfrm>
          <a:custGeom>
            <a:avLst/>
            <a:gdLst>
              <a:gd name="T0" fmla="*/ 218845 w 21551"/>
              <a:gd name="T1" fmla="*/ 218844 h 21600"/>
              <a:gd name="T2" fmla="*/ 218845 w 21551"/>
              <a:gd name="T3" fmla="*/ 218844 h 21600"/>
              <a:gd name="T4" fmla="*/ 218845 w 21551"/>
              <a:gd name="T5" fmla="*/ 218844 h 21600"/>
              <a:gd name="T6" fmla="*/ 218845 w 21551"/>
              <a:gd name="T7" fmla="*/ 21884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51" h="21600" extrusionOk="0">
                <a:moveTo>
                  <a:pt x="19313" y="4353"/>
                </a:moveTo>
                <a:lnTo>
                  <a:pt x="16178" y="7496"/>
                </a:lnTo>
                <a:cubicBezTo>
                  <a:pt x="16034" y="7640"/>
                  <a:pt x="15980" y="7851"/>
                  <a:pt x="16036" y="8047"/>
                </a:cubicBezTo>
                <a:lnTo>
                  <a:pt x="18732" y="17470"/>
                </a:lnTo>
                <a:cubicBezTo>
                  <a:pt x="18788" y="17666"/>
                  <a:pt x="18734" y="17878"/>
                  <a:pt x="18590" y="18022"/>
                </a:cubicBezTo>
                <a:lnTo>
                  <a:pt x="17170" y="19445"/>
                </a:lnTo>
                <a:cubicBezTo>
                  <a:pt x="17059" y="19556"/>
                  <a:pt x="16916" y="19609"/>
                  <a:pt x="16775" y="19609"/>
                </a:cubicBezTo>
                <a:cubicBezTo>
                  <a:pt x="16581" y="19609"/>
                  <a:pt x="16390" y="19510"/>
                  <a:pt x="16285" y="19322"/>
                </a:cubicBezTo>
                <a:lnTo>
                  <a:pt x="12375" y="12317"/>
                </a:lnTo>
                <a:cubicBezTo>
                  <a:pt x="12271" y="12129"/>
                  <a:pt x="12079" y="12029"/>
                  <a:pt x="11886" y="12029"/>
                </a:cubicBezTo>
                <a:cubicBezTo>
                  <a:pt x="11744" y="12029"/>
                  <a:pt x="11602" y="12083"/>
                  <a:pt x="11491" y="12194"/>
                </a:cubicBezTo>
                <a:lnTo>
                  <a:pt x="8519" y="15172"/>
                </a:lnTo>
                <a:cubicBezTo>
                  <a:pt x="8388" y="15304"/>
                  <a:pt x="8330" y="15492"/>
                  <a:pt x="8365" y="15674"/>
                </a:cubicBezTo>
                <a:lnTo>
                  <a:pt x="8996" y="18989"/>
                </a:lnTo>
                <a:cubicBezTo>
                  <a:pt x="9031" y="19171"/>
                  <a:pt x="8973" y="19359"/>
                  <a:pt x="8842" y="19491"/>
                </a:cubicBezTo>
                <a:lnTo>
                  <a:pt x="8441" y="19893"/>
                </a:lnTo>
                <a:cubicBezTo>
                  <a:pt x="8330" y="20004"/>
                  <a:pt x="8187" y="20058"/>
                  <a:pt x="8046" y="20058"/>
                </a:cubicBezTo>
                <a:cubicBezTo>
                  <a:pt x="7852" y="20058"/>
                  <a:pt x="7661" y="19958"/>
                  <a:pt x="7556" y="19770"/>
                </a:cubicBezTo>
                <a:lnTo>
                  <a:pt x="5577" y="16226"/>
                </a:lnTo>
                <a:cubicBezTo>
                  <a:pt x="5526" y="16136"/>
                  <a:pt x="5452" y="16061"/>
                  <a:pt x="5362" y="16010"/>
                </a:cubicBezTo>
                <a:lnTo>
                  <a:pt x="1826" y="14027"/>
                </a:lnTo>
                <a:cubicBezTo>
                  <a:pt x="1502" y="13845"/>
                  <a:pt x="1441" y="13403"/>
                  <a:pt x="1703" y="13141"/>
                </a:cubicBezTo>
                <a:lnTo>
                  <a:pt x="2105" y="12738"/>
                </a:lnTo>
                <a:cubicBezTo>
                  <a:pt x="2211" y="12632"/>
                  <a:pt x="2354" y="12574"/>
                  <a:pt x="2501" y="12574"/>
                </a:cubicBezTo>
                <a:cubicBezTo>
                  <a:pt x="2536" y="12574"/>
                  <a:pt x="2571" y="12577"/>
                  <a:pt x="2606" y="12584"/>
                </a:cubicBezTo>
                <a:lnTo>
                  <a:pt x="5913" y="13216"/>
                </a:lnTo>
                <a:cubicBezTo>
                  <a:pt x="5948" y="13223"/>
                  <a:pt x="5983" y="13226"/>
                  <a:pt x="6018" y="13226"/>
                </a:cubicBezTo>
                <a:cubicBezTo>
                  <a:pt x="6165" y="13226"/>
                  <a:pt x="6308" y="13168"/>
                  <a:pt x="6414" y="13062"/>
                </a:cubicBezTo>
                <a:lnTo>
                  <a:pt x="9385" y="10083"/>
                </a:lnTo>
                <a:cubicBezTo>
                  <a:pt x="9648" y="9820"/>
                  <a:pt x="9587" y="9379"/>
                  <a:pt x="9263" y="9197"/>
                </a:cubicBezTo>
                <a:lnTo>
                  <a:pt x="2273" y="5278"/>
                </a:lnTo>
                <a:cubicBezTo>
                  <a:pt x="1949" y="5097"/>
                  <a:pt x="1888" y="4655"/>
                  <a:pt x="2150" y="4392"/>
                </a:cubicBezTo>
                <a:lnTo>
                  <a:pt x="3571" y="2968"/>
                </a:lnTo>
                <a:cubicBezTo>
                  <a:pt x="3677" y="2862"/>
                  <a:pt x="3820" y="2804"/>
                  <a:pt x="3966" y="2804"/>
                </a:cubicBezTo>
                <a:cubicBezTo>
                  <a:pt x="4018" y="2804"/>
                  <a:pt x="4070" y="2811"/>
                  <a:pt x="4121" y="2826"/>
                </a:cubicBezTo>
                <a:lnTo>
                  <a:pt x="13523" y="5528"/>
                </a:lnTo>
                <a:cubicBezTo>
                  <a:pt x="13574" y="5543"/>
                  <a:pt x="13625" y="5550"/>
                  <a:pt x="13677" y="5550"/>
                </a:cubicBezTo>
                <a:cubicBezTo>
                  <a:pt x="13823" y="5550"/>
                  <a:pt x="13966" y="5493"/>
                  <a:pt x="14073" y="5386"/>
                </a:cubicBezTo>
                <a:lnTo>
                  <a:pt x="17208" y="2243"/>
                </a:lnTo>
                <a:cubicBezTo>
                  <a:pt x="17593" y="1857"/>
                  <a:pt x="18321" y="1542"/>
                  <a:pt x="18937" y="1542"/>
                </a:cubicBezTo>
                <a:cubicBezTo>
                  <a:pt x="19252" y="1542"/>
                  <a:pt x="19538" y="1624"/>
                  <a:pt x="19734" y="1821"/>
                </a:cubicBezTo>
                <a:cubicBezTo>
                  <a:pt x="20316" y="2404"/>
                  <a:pt x="19895" y="3770"/>
                  <a:pt x="19313" y="4353"/>
                </a:cubicBezTo>
                <a:cubicBezTo>
                  <a:pt x="19313" y="4353"/>
                  <a:pt x="19313" y="4353"/>
                  <a:pt x="19313" y="4353"/>
                </a:cubicBezTo>
                <a:close/>
                <a:moveTo>
                  <a:pt x="20822" y="731"/>
                </a:moveTo>
                <a:cubicBezTo>
                  <a:pt x="20557" y="465"/>
                  <a:pt x="20235" y="268"/>
                  <a:pt x="19866" y="145"/>
                </a:cubicBezTo>
                <a:cubicBezTo>
                  <a:pt x="19578" y="49"/>
                  <a:pt x="19266" y="0"/>
                  <a:pt x="18937" y="0"/>
                </a:cubicBezTo>
                <a:cubicBezTo>
                  <a:pt x="18441" y="0"/>
                  <a:pt x="17909" y="111"/>
                  <a:pt x="17399" y="322"/>
                </a:cubicBezTo>
                <a:cubicBezTo>
                  <a:pt x="16897" y="530"/>
                  <a:pt x="16455" y="817"/>
                  <a:pt x="16120" y="1153"/>
                </a:cubicBezTo>
                <a:lnTo>
                  <a:pt x="13392" y="3887"/>
                </a:lnTo>
                <a:lnTo>
                  <a:pt x="4545" y="1343"/>
                </a:lnTo>
                <a:cubicBezTo>
                  <a:pt x="4357" y="1289"/>
                  <a:pt x="4162" y="1262"/>
                  <a:pt x="3966" y="1262"/>
                </a:cubicBezTo>
                <a:cubicBezTo>
                  <a:pt x="3691" y="1262"/>
                  <a:pt x="3423" y="1315"/>
                  <a:pt x="3169" y="1420"/>
                </a:cubicBezTo>
                <a:cubicBezTo>
                  <a:pt x="2911" y="1526"/>
                  <a:pt x="2680" y="1680"/>
                  <a:pt x="2482" y="1878"/>
                </a:cubicBezTo>
                <a:lnTo>
                  <a:pt x="1062" y="3301"/>
                </a:lnTo>
                <a:cubicBezTo>
                  <a:pt x="828" y="3536"/>
                  <a:pt x="650" y="3827"/>
                  <a:pt x="549" y="4142"/>
                </a:cubicBezTo>
                <a:cubicBezTo>
                  <a:pt x="452" y="4442"/>
                  <a:pt x="424" y="4765"/>
                  <a:pt x="467" y="5077"/>
                </a:cubicBezTo>
                <a:cubicBezTo>
                  <a:pt x="511" y="5389"/>
                  <a:pt x="625" y="5693"/>
                  <a:pt x="799" y="5955"/>
                </a:cubicBezTo>
                <a:cubicBezTo>
                  <a:pt x="982" y="6230"/>
                  <a:pt x="1232" y="6462"/>
                  <a:pt x="1522" y="6624"/>
                </a:cubicBezTo>
                <a:lnTo>
                  <a:pt x="7382" y="9910"/>
                </a:lnTo>
                <a:lnTo>
                  <a:pt x="5692" y="11604"/>
                </a:lnTo>
                <a:lnTo>
                  <a:pt x="2894" y="11069"/>
                </a:lnTo>
                <a:cubicBezTo>
                  <a:pt x="2765" y="11044"/>
                  <a:pt x="2632" y="11031"/>
                  <a:pt x="2501" y="11031"/>
                </a:cubicBezTo>
                <a:cubicBezTo>
                  <a:pt x="2225" y="11031"/>
                  <a:pt x="1956" y="11085"/>
                  <a:pt x="1701" y="11190"/>
                </a:cubicBezTo>
                <a:cubicBezTo>
                  <a:pt x="1444" y="11296"/>
                  <a:pt x="1213" y="11450"/>
                  <a:pt x="1017" y="11647"/>
                </a:cubicBezTo>
                <a:lnTo>
                  <a:pt x="615" y="12050"/>
                </a:lnTo>
                <a:cubicBezTo>
                  <a:pt x="380" y="12285"/>
                  <a:pt x="203" y="12576"/>
                  <a:pt x="101" y="12891"/>
                </a:cubicBezTo>
                <a:cubicBezTo>
                  <a:pt x="5" y="13191"/>
                  <a:pt x="-23" y="13513"/>
                  <a:pt x="20" y="13826"/>
                </a:cubicBezTo>
                <a:cubicBezTo>
                  <a:pt x="63" y="14138"/>
                  <a:pt x="178" y="14441"/>
                  <a:pt x="352" y="14703"/>
                </a:cubicBezTo>
                <a:cubicBezTo>
                  <a:pt x="535" y="14979"/>
                  <a:pt x="785" y="15210"/>
                  <a:pt x="1074" y="15373"/>
                </a:cubicBezTo>
                <a:lnTo>
                  <a:pt x="4369" y="17221"/>
                </a:lnTo>
                <a:lnTo>
                  <a:pt x="6213" y="20524"/>
                </a:lnTo>
                <a:cubicBezTo>
                  <a:pt x="6584" y="21188"/>
                  <a:pt x="7286" y="21600"/>
                  <a:pt x="8046" y="21600"/>
                </a:cubicBezTo>
                <a:cubicBezTo>
                  <a:pt x="8606" y="21600"/>
                  <a:pt x="9132" y="21381"/>
                  <a:pt x="9529" y="20984"/>
                </a:cubicBezTo>
                <a:lnTo>
                  <a:pt x="9930" y="20581"/>
                </a:lnTo>
                <a:cubicBezTo>
                  <a:pt x="10422" y="20088"/>
                  <a:pt x="10638" y="19385"/>
                  <a:pt x="10508" y="18700"/>
                </a:cubicBezTo>
                <a:lnTo>
                  <a:pt x="9974" y="15896"/>
                </a:lnTo>
                <a:lnTo>
                  <a:pt x="11664" y="14201"/>
                </a:lnTo>
                <a:lnTo>
                  <a:pt x="14942" y="20075"/>
                </a:lnTo>
                <a:cubicBezTo>
                  <a:pt x="15313" y="20739"/>
                  <a:pt x="16015" y="21152"/>
                  <a:pt x="16775" y="21152"/>
                </a:cubicBezTo>
                <a:cubicBezTo>
                  <a:pt x="17335" y="21152"/>
                  <a:pt x="17861" y="20933"/>
                  <a:pt x="18258" y="20536"/>
                </a:cubicBezTo>
                <a:lnTo>
                  <a:pt x="19678" y="19113"/>
                </a:lnTo>
                <a:cubicBezTo>
                  <a:pt x="20217" y="18572"/>
                  <a:pt x="20422" y="17780"/>
                  <a:pt x="20211" y="17045"/>
                </a:cubicBezTo>
                <a:lnTo>
                  <a:pt x="17674" y="8178"/>
                </a:lnTo>
                <a:lnTo>
                  <a:pt x="20402" y="5443"/>
                </a:lnTo>
                <a:cubicBezTo>
                  <a:pt x="20900" y="4943"/>
                  <a:pt x="21298" y="4185"/>
                  <a:pt x="21464" y="3413"/>
                </a:cubicBezTo>
                <a:cubicBezTo>
                  <a:pt x="21559" y="2971"/>
                  <a:pt x="21577" y="2546"/>
                  <a:pt x="21517" y="2149"/>
                </a:cubicBezTo>
                <a:cubicBezTo>
                  <a:pt x="21432" y="1592"/>
                  <a:pt x="21192" y="1102"/>
                  <a:pt x="20822" y="731"/>
                </a:cubicBezTo>
                <a:cubicBezTo>
                  <a:pt x="20822" y="731"/>
                  <a:pt x="20822" y="731"/>
                  <a:pt x="20822" y="73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任意多边形: 形状 41"/>
          <p:cNvSpPr/>
          <p:nvPr>
            <p:custDataLst>
              <p:tags r:id="rId12"/>
            </p:custDataLst>
          </p:nvPr>
        </p:nvSpPr>
        <p:spPr bwMode="auto">
          <a:xfrm>
            <a:off x="3466399" y="2711450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3.overflow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317259"/>
            <a:ext cx="388434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属性的分类和作用。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能够使用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属性设置溢出内容的显示方式。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3.overflow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overflow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中的重要属性，除了用于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之外，当盒子内的元素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超出盒子自身的大小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时，该属性还可用于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溢出内容的显示方式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{overflow: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26207" y="4032442"/>
          <a:ext cx="10005233" cy="238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699"/>
                <a:gridCol w="8160534"/>
              </a:tblGrid>
              <a:tr h="4771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visible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内容不会被修剪，会呈现在元素框之外（默认值）。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hidden</a:t>
                      </a:r>
                      <a:endParaRPr lang="en-US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清除溢出的部分，隐藏内容/清除浮动，包括清除外边距合并的问题</a:t>
                      </a: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在需要时产生滚动条，即自适应所要显示的内容。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scroll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溢出内容会被修剪，且浏览器会始终显示滚动条。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4-6】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定位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412024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浮动布局虽然灵活，但是却无法对标签的位置进行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精确地控制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可以实现网页标签的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。下面将对标签的定位属性以及常用的几种定位方式进行详细讲解。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421762"/>
            <a:ext cx="38843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能够说出元素定位的作用。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元素定位的方法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，能够为网页中的元素设置定位。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{position: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用于设置元素的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定位模式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）定位模式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26207" y="4032442"/>
          <a:ext cx="10005233" cy="238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699"/>
                <a:gridCol w="8160534"/>
              </a:tblGrid>
              <a:tr h="4771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static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静态定位（默认定位方式）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relative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相对定位，相对于原文档流的位置进行定位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absolute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绝对定位，相对于上一个已经定位的父元素进行定位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fixed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固定定位，相对于浏览器窗口进行定位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边偏移属性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精确设置定位元素的位置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531677" y="1776747"/>
              <a:ext cx="16257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）边偏移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43691" y="3187720"/>
          <a:ext cx="10208522" cy="3075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9405"/>
                <a:gridCol w="7789117"/>
              </a:tblGrid>
              <a:tr h="6150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边偏移属性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顶端偏移量，定义元素相对于其父元素上边线的距离。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bottom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底部偏移量，定义元素相对于其父元素下边线的距离。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左侧偏移量，定义元素相对于其父元素左边线的距离。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右侧偏移量，定义元素相对于其父元素右边线的距离。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静态定位，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能够说出静态定位的特点。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是元素的默认定位方式，当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static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时，元素为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静态定位模式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。静态定位就是指各元素在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标准文档流中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默认的位置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642737" y="3772908"/>
            <a:ext cx="9088523" cy="1156855"/>
          </a:xfrm>
          <a:prstGeom prst="rect">
            <a:avLst/>
          </a:prstGeom>
          <a:solidFill>
            <a:schemeClr val="bg1"/>
          </a:solidFill>
          <a:ln w="9525">
            <a:solidFill>
              <a:srgbClr val="1369B2"/>
            </a:solidFill>
            <a:prstDash val="dash"/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任何元素在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默认状态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下都会以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来确定自己的位置。所以当元素没有设置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属性时，并不是说明该元素没有自己的位置，它会遵循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默认值显示为静态位置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。在静态定位状态下，我们无法通过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边偏移属性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来改变元素的位置。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能够为网页中的元素设置相对定位。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是将元素相对于它在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标准文档流中的位置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进行定位，当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relative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时，可以将元素设置为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418053" y="3434432"/>
          <a:ext cx="3514725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" r:id="rId1" imgW="5053965" imgH="4503420" progId="Visio.Drawing.11">
                  <p:embed/>
                </p:oleObj>
              </mc:Choice>
              <mc:Fallback>
                <p:oleObj name="" r:id="rId1" imgW="5053965" imgH="450342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053" y="3434432"/>
                        <a:ext cx="3514725" cy="313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 bwMode="auto">
          <a:xfrm>
            <a:off x="1143691" y="3918343"/>
            <a:ext cx="4521200" cy="2165897"/>
            <a:chOff x="4605252" y="4191629"/>
            <a:chExt cx="4521295" cy="2166622"/>
          </a:xfrm>
        </p:grpSpPr>
        <p:sp>
          <p:nvSpPr>
            <p:cNvPr id="18" name="圆角矩形标注 17"/>
            <p:cNvSpPr/>
            <p:nvPr/>
          </p:nvSpPr>
          <p:spPr bwMode="auto">
            <a:xfrm rot="16200000">
              <a:off x="5782589" y="3014292"/>
              <a:ext cx="2166622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4827094" y="4605302"/>
              <a:ext cx="4077611" cy="133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我们对元素设置相对定位后，可以通过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边偏移属性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改变该元素的位置，但是这个标签在文档流中的位置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仍然保留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绝对定位的方法，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能够为网页中的元素设置绝对定位。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908102"/>
            <a:chOff x="1019175" y="1680487"/>
            <a:chExt cx="10440988" cy="1908102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90810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11074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是将元素依据最近的已经定位（</a:t>
              </a:r>
              <a:r>
                <a:rPr lang="zh-CN" altLang="en-US" sz="16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绝对、固定或相对定位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进行定位，若所有父元素都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，设置绝对定位的元素会依据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body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（也可以看做浏览器窗口）进行定位。当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absolute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时，可以将元素的定位模式设置为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320311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143691" y="3759121"/>
          <a:ext cx="534352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" r:id="rId1" imgW="12052300" imgH="5600700" progId="Visio.Drawing.11">
                  <p:embed/>
                </p:oleObj>
              </mc:Choice>
              <mc:Fallback>
                <p:oleObj name="" r:id="rId1" imgW="12052300" imgH="56007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691" y="3759121"/>
                        <a:ext cx="5343525" cy="247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523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316" y="3752105"/>
            <a:ext cx="3093825" cy="275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右箭头 7"/>
          <p:cNvSpPr/>
          <p:nvPr/>
        </p:nvSpPr>
        <p:spPr>
          <a:xfrm>
            <a:off x="7004649" y="4997371"/>
            <a:ext cx="586596" cy="454523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sp>
        <p:nvSpPr>
          <p:cNvPr id="33" name="文本框 9"/>
          <p:cNvSpPr txBox="1"/>
          <p:nvPr/>
        </p:nvSpPr>
        <p:spPr>
          <a:xfrm>
            <a:off x="1143691" y="2427306"/>
            <a:ext cx="10053396" cy="30073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注意：</a:t>
            </a:r>
            <a:endParaRPr lang="zh-CN" altLang="en-US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如果仅对标签设置绝对定位，不设置边偏移，则标签的位置不变，但该标签不再占用标准文档流中的空间，会与位置上移的标签重叠。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定义多个边偏移属性时，如果同时设置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right</a:t>
            </a:r>
            <a:r>
              <a:rPr lang="zh-CN" altLang="en-US" dirty="0">
                <a:solidFill>
                  <a:srgbClr val="FF0000"/>
                </a:solidFill>
              </a:rPr>
              <a:t>参数值，以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zh-CN" altLang="en-US" dirty="0">
                <a:solidFill>
                  <a:srgbClr val="FF0000"/>
                </a:solidFill>
              </a:rPr>
              <a:t>参数值为准；如果同时设置</a:t>
            </a:r>
            <a:r>
              <a:rPr lang="en-US" altLang="zh-CN" dirty="0">
                <a:solidFill>
                  <a:srgbClr val="FF0000"/>
                </a:solidFill>
              </a:rPr>
              <a:t>top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bottom</a:t>
            </a:r>
            <a:r>
              <a:rPr lang="zh-CN" altLang="en-US" dirty="0">
                <a:solidFill>
                  <a:srgbClr val="FF0000"/>
                </a:solidFill>
              </a:rPr>
              <a:t>参数值，以</a:t>
            </a:r>
            <a:r>
              <a:rPr lang="en-US" altLang="zh-CN" dirty="0">
                <a:solidFill>
                  <a:srgbClr val="FF0000"/>
                </a:solidFill>
              </a:rPr>
              <a:t>top</a:t>
            </a:r>
            <a:r>
              <a:rPr lang="zh-CN" altLang="en-US" dirty="0">
                <a:solidFill>
                  <a:srgbClr val="FF0000"/>
                </a:solidFill>
              </a:rPr>
              <a:t>参数值为准。</a:t>
            </a:r>
            <a:endParaRPr lang="zh-CN" altLang="en-US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固定定位的方法，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能够为网页中的元素设置固定定位。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959195"/>
            <a:chOff x="1019175" y="1680487"/>
            <a:chExt cx="10440988" cy="959195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92468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003884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当元素的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时，该元素的定位模式为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25563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48461" y="2859561"/>
            <a:ext cx="9244391" cy="3349714"/>
            <a:chOff x="1107307" y="1908447"/>
            <a:chExt cx="9979812" cy="3616195"/>
          </a:xfrm>
        </p:grpSpPr>
        <p:sp>
          <p:nvSpPr>
            <p:cNvPr id="13" name="Shape 2012"/>
            <p:cNvSpPr/>
            <p:nvPr/>
          </p:nvSpPr>
          <p:spPr>
            <a:xfrm>
              <a:off x="7055425" y="1908447"/>
              <a:ext cx="3561372" cy="1686613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Shape 2013"/>
            <p:cNvSpPr/>
            <p:nvPr/>
          </p:nvSpPr>
          <p:spPr>
            <a:xfrm>
              <a:off x="7055425" y="3838923"/>
              <a:ext cx="3561372" cy="1684827"/>
            </a:xfrm>
            <a:prstGeom prst="roundRect">
              <a:avLst>
                <a:gd name="adj" fmla="val 6925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Shape 2014"/>
            <p:cNvSpPr/>
            <p:nvPr/>
          </p:nvSpPr>
          <p:spPr>
            <a:xfrm>
              <a:off x="1581951" y="3838030"/>
              <a:ext cx="3561372" cy="1686612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Shape 2015"/>
            <p:cNvSpPr/>
            <p:nvPr/>
          </p:nvSpPr>
          <p:spPr>
            <a:xfrm>
              <a:off x="1581951" y="1908447"/>
              <a:ext cx="3561372" cy="1686613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Shape 2016"/>
            <p:cNvSpPr/>
            <p:nvPr/>
          </p:nvSpPr>
          <p:spPr>
            <a:xfrm>
              <a:off x="4651927" y="2276088"/>
              <a:ext cx="2887903" cy="2887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Shape 2021"/>
            <p:cNvSpPr/>
            <p:nvPr/>
          </p:nvSpPr>
          <p:spPr>
            <a:xfrm>
              <a:off x="2180288" y="2156699"/>
              <a:ext cx="2612724" cy="894748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固定定位是相对于“当前浏览器窗口”来进行的定位。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5" name="Shape 2023"/>
            <p:cNvSpPr/>
            <p:nvPr/>
          </p:nvSpPr>
          <p:spPr>
            <a:xfrm>
              <a:off x="2128131" y="3892778"/>
              <a:ext cx="2681661" cy="83809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设置固定定位的元素，是一个“块元素”，即使行内元素使用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定位，也将转成“块元素”。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Shape 2025"/>
            <p:cNvSpPr/>
            <p:nvPr/>
          </p:nvSpPr>
          <p:spPr>
            <a:xfrm>
              <a:off x="7406904" y="1955918"/>
              <a:ext cx="2653921" cy="163914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设置固定定位的元素不再占用标准文档流的空间，元素层级要高于普通元素，跟“浮动”类似。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Shape 2027"/>
            <p:cNvSpPr/>
            <p:nvPr/>
          </p:nvSpPr>
          <p:spPr>
            <a:xfrm>
              <a:off x="7406904" y="4070214"/>
              <a:ext cx="2730039" cy="7585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如果只指定了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定位属性，并没有设置偏移量，则元素会固定在其原始位置。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2" name="Group 2031"/>
            <p:cNvGrpSpPr/>
            <p:nvPr/>
          </p:nvGrpSpPr>
          <p:grpSpPr>
            <a:xfrm>
              <a:off x="1107307" y="2274011"/>
              <a:ext cx="955485" cy="955485"/>
              <a:chOff x="0" y="0"/>
              <a:chExt cx="1910968" cy="1910968"/>
            </a:xfrm>
          </p:grpSpPr>
          <p:sp>
            <p:nvSpPr>
              <p:cNvPr id="33" name="Shape 2029"/>
              <p:cNvSpPr/>
              <p:nvPr/>
            </p:nvSpPr>
            <p:spPr>
              <a:xfrm>
                <a:off x="0" y="0"/>
                <a:ext cx="1910969" cy="191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Shape 2030"/>
              <p:cNvSpPr/>
              <p:nvPr/>
            </p:nvSpPr>
            <p:spPr>
              <a:xfrm>
                <a:off x="553362" y="560070"/>
                <a:ext cx="804244" cy="7069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071" y="8035"/>
                    </a:moveTo>
                    <a:lnTo>
                      <a:pt x="11327" y="9235"/>
                    </a:lnTo>
                    <a:lnTo>
                      <a:pt x="14583" y="4904"/>
                    </a:lnTo>
                    <a:lnTo>
                      <a:pt x="15088" y="4330"/>
                    </a:lnTo>
                    <a:lnTo>
                      <a:pt x="17289" y="6157"/>
                    </a:lnTo>
                    <a:lnTo>
                      <a:pt x="17289" y="3078"/>
                    </a:lnTo>
                    <a:lnTo>
                      <a:pt x="17289" y="0"/>
                    </a:lnTo>
                    <a:lnTo>
                      <a:pt x="14583" y="626"/>
                    </a:lnTo>
                    <a:lnTo>
                      <a:pt x="11878" y="1200"/>
                    </a:lnTo>
                    <a:lnTo>
                      <a:pt x="14033" y="3704"/>
                    </a:lnTo>
                    <a:lnTo>
                      <a:pt x="10777" y="7409"/>
                    </a:lnTo>
                    <a:lnTo>
                      <a:pt x="7567" y="6157"/>
                    </a:lnTo>
                    <a:lnTo>
                      <a:pt x="5411" y="10487"/>
                    </a:lnTo>
                    <a:lnTo>
                      <a:pt x="2155" y="9235"/>
                    </a:lnTo>
                    <a:lnTo>
                      <a:pt x="550" y="14817"/>
                    </a:lnTo>
                    <a:lnTo>
                      <a:pt x="0" y="16017"/>
                    </a:lnTo>
                    <a:lnTo>
                      <a:pt x="1055" y="16643"/>
                    </a:lnTo>
                    <a:lnTo>
                      <a:pt x="2706" y="11113"/>
                    </a:lnTo>
                    <a:lnTo>
                      <a:pt x="5916" y="12313"/>
                    </a:lnTo>
                    <a:lnTo>
                      <a:pt x="8071" y="8035"/>
                    </a:lnTo>
                    <a:lnTo>
                      <a:pt x="8071" y="8035"/>
                    </a:lnTo>
                    <a:close/>
                    <a:moveTo>
                      <a:pt x="6466" y="21600"/>
                    </a:moveTo>
                    <a:lnTo>
                      <a:pt x="6466" y="16643"/>
                    </a:lnTo>
                    <a:lnTo>
                      <a:pt x="3761" y="16643"/>
                    </a:lnTo>
                    <a:lnTo>
                      <a:pt x="3761" y="21600"/>
                    </a:lnTo>
                    <a:lnTo>
                      <a:pt x="6466" y="21600"/>
                    </a:lnTo>
                    <a:lnTo>
                      <a:pt x="6466" y="21600"/>
                    </a:lnTo>
                    <a:close/>
                    <a:moveTo>
                      <a:pt x="10227" y="21600"/>
                    </a:moveTo>
                    <a:lnTo>
                      <a:pt x="7567" y="21600"/>
                    </a:lnTo>
                    <a:lnTo>
                      <a:pt x="7567" y="14817"/>
                    </a:lnTo>
                    <a:lnTo>
                      <a:pt x="10227" y="14817"/>
                    </a:lnTo>
                    <a:lnTo>
                      <a:pt x="10227" y="21600"/>
                    </a:lnTo>
                    <a:lnTo>
                      <a:pt x="10227" y="21600"/>
                    </a:lnTo>
                    <a:close/>
                    <a:moveTo>
                      <a:pt x="14033" y="21600"/>
                    </a:moveTo>
                    <a:lnTo>
                      <a:pt x="11327" y="21600"/>
                    </a:lnTo>
                    <a:lnTo>
                      <a:pt x="11327" y="12313"/>
                    </a:lnTo>
                    <a:lnTo>
                      <a:pt x="14033" y="12313"/>
                    </a:lnTo>
                    <a:lnTo>
                      <a:pt x="14033" y="21600"/>
                    </a:lnTo>
                    <a:lnTo>
                      <a:pt x="14033" y="21600"/>
                    </a:lnTo>
                    <a:close/>
                    <a:moveTo>
                      <a:pt x="17794" y="21600"/>
                    </a:moveTo>
                    <a:lnTo>
                      <a:pt x="15088" y="21600"/>
                    </a:lnTo>
                    <a:lnTo>
                      <a:pt x="15088" y="9861"/>
                    </a:lnTo>
                    <a:lnTo>
                      <a:pt x="17794" y="9861"/>
                    </a:lnTo>
                    <a:lnTo>
                      <a:pt x="17794" y="21600"/>
                    </a:lnTo>
                    <a:lnTo>
                      <a:pt x="17794" y="21600"/>
                    </a:lnTo>
                    <a:close/>
                    <a:moveTo>
                      <a:pt x="18894" y="6783"/>
                    </a:moveTo>
                    <a:lnTo>
                      <a:pt x="18894" y="21600"/>
                    </a:lnTo>
                    <a:lnTo>
                      <a:pt x="21600" y="21600"/>
                    </a:lnTo>
                    <a:lnTo>
                      <a:pt x="21600" y="6783"/>
                    </a:lnTo>
                    <a:lnTo>
                      <a:pt x="18894" y="678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2034"/>
            <p:cNvGrpSpPr/>
            <p:nvPr/>
          </p:nvGrpSpPr>
          <p:grpSpPr>
            <a:xfrm>
              <a:off x="1109974" y="4206262"/>
              <a:ext cx="950151" cy="950151"/>
              <a:chOff x="0" y="0"/>
              <a:chExt cx="1900299" cy="1900299"/>
            </a:xfrm>
          </p:grpSpPr>
          <p:sp>
            <p:nvSpPr>
              <p:cNvPr id="36" name="Shape 2032"/>
              <p:cNvSpPr/>
              <p:nvPr/>
            </p:nvSpPr>
            <p:spPr>
              <a:xfrm>
                <a:off x="0" y="0"/>
                <a:ext cx="1900300" cy="1900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Shape 2033"/>
              <p:cNvSpPr/>
              <p:nvPr/>
            </p:nvSpPr>
            <p:spPr>
              <a:xfrm rot="10800000" flipH="1">
                <a:off x="548028" y="596692"/>
                <a:ext cx="804244" cy="7069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071" y="8035"/>
                    </a:moveTo>
                    <a:lnTo>
                      <a:pt x="11327" y="9235"/>
                    </a:lnTo>
                    <a:lnTo>
                      <a:pt x="14583" y="4904"/>
                    </a:lnTo>
                    <a:lnTo>
                      <a:pt x="15088" y="4330"/>
                    </a:lnTo>
                    <a:lnTo>
                      <a:pt x="17289" y="6157"/>
                    </a:lnTo>
                    <a:lnTo>
                      <a:pt x="17289" y="3078"/>
                    </a:lnTo>
                    <a:lnTo>
                      <a:pt x="17289" y="0"/>
                    </a:lnTo>
                    <a:lnTo>
                      <a:pt x="14583" y="626"/>
                    </a:lnTo>
                    <a:lnTo>
                      <a:pt x="11878" y="1200"/>
                    </a:lnTo>
                    <a:lnTo>
                      <a:pt x="14033" y="3704"/>
                    </a:lnTo>
                    <a:lnTo>
                      <a:pt x="10777" y="7409"/>
                    </a:lnTo>
                    <a:lnTo>
                      <a:pt x="7567" y="6157"/>
                    </a:lnTo>
                    <a:lnTo>
                      <a:pt x="5411" y="10487"/>
                    </a:lnTo>
                    <a:lnTo>
                      <a:pt x="2155" y="9235"/>
                    </a:lnTo>
                    <a:lnTo>
                      <a:pt x="550" y="14817"/>
                    </a:lnTo>
                    <a:lnTo>
                      <a:pt x="0" y="16017"/>
                    </a:lnTo>
                    <a:lnTo>
                      <a:pt x="1055" y="16643"/>
                    </a:lnTo>
                    <a:lnTo>
                      <a:pt x="2706" y="11113"/>
                    </a:lnTo>
                    <a:lnTo>
                      <a:pt x="5916" y="12313"/>
                    </a:lnTo>
                    <a:lnTo>
                      <a:pt x="8071" y="8035"/>
                    </a:lnTo>
                    <a:lnTo>
                      <a:pt x="8071" y="8035"/>
                    </a:lnTo>
                    <a:close/>
                    <a:moveTo>
                      <a:pt x="6466" y="21600"/>
                    </a:moveTo>
                    <a:lnTo>
                      <a:pt x="6466" y="16643"/>
                    </a:lnTo>
                    <a:lnTo>
                      <a:pt x="3761" y="16643"/>
                    </a:lnTo>
                    <a:lnTo>
                      <a:pt x="3761" y="21600"/>
                    </a:lnTo>
                    <a:lnTo>
                      <a:pt x="6466" y="21600"/>
                    </a:lnTo>
                    <a:lnTo>
                      <a:pt x="6466" y="21600"/>
                    </a:lnTo>
                    <a:close/>
                    <a:moveTo>
                      <a:pt x="10227" y="21600"/>
                    </a:moveTo>
                    <a:lnTo>
                      <a:pt x="7567" y="21600"/>
                    </a:lnTo>
                    <a:lnTo>
                      <a:pt x="7567" y="14817"/>
                    </a:lnTo>
                    <a:lnTo>
                      <a:pt x="10227" y="14817"/>
                    </a:lnTo>
                    <a:lnTo>
                      <a:pt x="10227" y="21600"/>
                    </a:lnTo>
                    <a:lnTo>
                      <a:pt x="10227" y="21600"/>
                    </a:lnTo>
                    <a:close/>
                    <a:moveTo>
                      <a:pt x="14033" y="21600"/>
                    </a:moveTo>
                    <a:lnTo>
                      <a:pt x="11327" y="21600"/>
                    </a:lnTo>
                    <a:lnTo>
                      <a:pt x="11327" y="12313"/>
                    </a:lnTo>
                    <a:lnTo>
                      <a:pt x="14033" y="12313"/>
                    </a:lnTo>
                    <a:lnTo>
                      <a:pt x="14033" y="21600"/>
                    </a:lnTo>
                    <a:lnTo>
                      <a:pt x="14033" y="21600"/>
                    </a:lnTo>
                    <a:close/>
                    <a:moveTo>
                      <a:pt x="17794" y="21600"/>
                    </a:moveTo>
                    <a:lnTo>
                      <a:pt x="15088" y="21600"/>
                    </a:lnTo>
                    <a:lnTo>
                      <a:pt x="15088" y="9861"/>
                    </a:lnTo>
                    <a:lnTo>
                      <a:pt x="17794" y="9861"/>
                    </a:lnTo>
                    <a:lnTo>
                      <a:pt x="17794" y="21600"/>
                    </a:lnTo>
                    <a:lnTo>
                      <a:pt x="17794" y="21600"/>
                    </a:lnTo>
                    <a:close/>
                    <a:moveTo>
                      <a:pt x="18894" y="6783"/>
                    </a:moveTo>
                    <a:lnTo>
                      <a:pt x="18894" y="21600"/>
                    </a:lnTo>
                    <a:lnTo>
                      <a:pt x="21600" y="21600"/>
                    </a:lnTo>
                    <a:lnTo>
                      <a:pt x="21600" y="6783"/>
                    </a:lnTo>
                    <a:lnTo>
                      <a:pt x="18894" y="678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38" name="Shape 2035"/>
            <p:cNvSpPr/>
            <p:nvPr/>
          </p:nvSpPr>
          <p:spPr>
            <a:xfrm>
              <a:off x="10136941" y="4206260"/>
              <a:ext cx="950152" cy="950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9" name="Group 2040"/>
            <p:cNvGrpSpPr/>
            <p:nvPr/>
          </p:nvGrpSpPr>
          <p:grpSpPr>
            <a:xfrm>
              <a:off x="10131634" y="2274011"/>
              <a:ext cx="955485" cy="955485"/>
              <a:chOff x="0" y="0"/>
              <a:chExt cx="1910968" cy="1910968"/>
            </a:xfrm>
          </p:grpSpPr>
          <p:sp>
            <p:nvSpPr>
              <p:cNvPr id="40" name="Shape 2038"/>
              <p:cNvSpPr/>
              <p:nvPr/>
            </p:nvSpPr>
            <p:spPr>
              <a:xfrm>
                <a:off x="0" y="0"/>
                <a:ext cx="1910969" cy="191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Shape 2039"/>
              <p:cNvSpPr/>
              <p:nvPr/>
            </p:nvSpPr>
            <p:spPr>
              <a:xfrm>
                <a:off x="657404" y="557107"/>
                <a:ext cx="596161" cy="7490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15" h="21072" extrusionOk="0">
                    <a:moveTo>
                      <a:pt x="17468" y="6506"/>
                    </a:moveTo>
                    <a:cubicBezTo>
                      <a:pt x="16410" y="7763"/>
                      <a:pt x="15333" y="6878"/>
                      <a:pt x="13824" y="5996"/>
                    </a:cubicBezTo>
                    <a:cubicBezTo>
                      <a:pt x="12317" y="5116"/>
                      <a:pt x="10950" y="4575"/>
                      <a:pt x="12006" y="3318"/>
                    </a:cubicBezTo>
                    <a:cubicBezTo>
                      <a:pt x="13062" y="2059"/>
                      <a:pt x="15140" y="1754"/>
                      <a:pt x="16648" y="2634"/>
                    </a:cubicBezTo>
                    <a:cubicBezTo>
                      <a:pt x="18155" y="3515"/>
                      <a:pt x="18522" y="5248"/>
                      <a:pt x="17468" y="6506"/>
                    </a:cubicBezTo>
                    <a:close/>
                    <a:moveTo>
                      <a:pt x="20868" y="4865"/>
                    </a:moveTo>
                    <a:cubicBezTo>
                      <a:pt x="20191" y="1663"/>
                      <a:pt x="16530" y="-474"/>
                      <a:pt x="12691" y="90"/>
                    </a:cubicBezTo>
                    <a:cubicBezTo>
                      <a:pt x="8853" y="655"/>
                      <a:pt x="5613" y="3118"/>
                      <a:pt x="6290" y="6320"/>
                    </a:cubicBezTo>
                    <a:cubicBezTo>
                      <a:pt x="6436" y="7009"/>
                      <a:pt x="6840" y="8088"/>
                      <a:pt x="7318" y="8862"/>
                    </a:cubicBezTo>
                    <a:lnTo>
                      <a:pt x="346" y="17166"/>
                    </a:lnTo>
                    <a:cubicBezTo>
                      <a:pt x="90" y="17473"/>
                      <a:pt x="-56" y="18024"/>
                      <a:pt x="20" y="18392"/>
                    </a:cubicBezTo>
                    <a:lnTo>
                      <a:pt x="470" y="20511"/>
                    </a:lnTo>
                    <a:cubicBezTo>
                      <a:pt x="547" y="20879"/>
                      <a:pt x="971" y="21126"/>
                      <a:pt x="1412" y="21061"/>
                    </a:cubicBezTo>
                    <a:lnTo>
                      <a:pt x="3454" y="20761"/>
                    </a:lnTo>
                    <a:cubicBezTo>
                      <a:pt x="3895" y="20696"/>
                      <a:pt x="4457" y="20387"/>
                      <a:pt x="4700" y="20072"/>
                    </a:cubicBezTo>
                    <a:lnTo>
                      <a:pt x="7456" y="16513"/>
                    </a:lnTo>
                    <a:lnTo>
                      <a:pt x="7480" y="16490"/>
                    </a:lnTo>
                    <a:lnTo>
                      <a:pt x="9346" y="16216"/>
                    </a:lnTo>
                    <a:lnTo>
                      <a:pt x="12566" y="12046"/>
                    </a:lnTo>
                    <a:cubicBezTo>
                      <a:pt x="13623" y="12195"/>
                      <a:pt x="15142" y="12146"/>
                      <a:pt x="16039" y="12013"/>
                    </a:cubicBezTo>
                    <a:cubicBezTo>
                      <a:pt x="19878" y="11449"/>
                      <a:pt x="21544" y="8068"/>
                      <a:pt x="20868" y="48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2" name="Text Placeholder 5"/>
            <p:cNvSpPr txBox="1"/>
            <p:nvPr/>
          </p:nvSpPr>
          <p:spPr>
            <a:xfrm>
              <a:off x="5327915" y="3381295"/>
              <a:ext cx="1535488" cy="63371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750" kern="120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固定定位</a:t>
              </a:r>
              <a:endParaRPr lang="en-US" altLang="zh-CN" sz="26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元素特性</a:t>
              </a:r>
              <a:endParaRPr lang="en-GB" altLang="zh-CN" sz="26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3" name="Shape 2036"/>
            <p:cNvSpPr/>
            <p:nvPr/>
          </p:nvSpPr>
          <p:spPr>
            <a:xfrm>
              <a:off x="10410956" y="4466867"/>
              <a:ext cx="402123" cy="42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260" extrusionOk="0">
                  <a:moveTo>
                    <a:pt x="11752" y="11733"/>
                  </a:moveTo>
                  <a:lnTo>
                    <a:pt x="9401" y="11733"/>
                  </a:lnTo>
                  <a:lnTo>
                    <a:pt x="9401" y="5975"/>
                  </a:lnTo>
                  <a:lnTo>
                    <a:pt x="11752" y="5975"/>
                  </a:lnTo>
                  <a:cubicBezTo>
                    <a:pt x="11752" y="5975"/>
                    <a:pt x="11752" y="11733"/>
                    <a:pt x="11752" y="11733"/>
                  </a:cubicBezTo>
                  <a:close/>
                  <a:moveTo>
                    <a:pt x="11752" y="15276"/>
                  </a:moveTo>
                  <a:lnTo>
                    <a:pt x="9401" y="15276"/>
                  </a:lnTo>
                  <a:lnTo>
                    <a:pt x="9401" y="12951"/>
                  </a:lnTo>
                  <a:lnTo>
                    <a:pt x="11752" y="12951"/>
                  </a:lnTo>
                  <a:cubicBezTo>
                    <a:pt x="11752" y="12951"/>
                    <a:pt x="11752" y="15276"/>
                    <a:pt x="11752" y="15276"/>
                  </a:cubicBezTo>
                  <a:close/>
                  <a:moveTo>
                    <a:pt x="20789" y="13227"/>
                  </a:moveTo>
                  <a:lnTo>
                    <a:pt x="18761" y="11523"/>
                  </a:lnTo>
                  <a:cubicBezTo>
                    <a:pt x="18172" y="11029"/>
                    <a:pt x="18172" y="10223"/>
                    <a:pt x="18761" y="9729"/>
                  </a:cubicBezTo>
                  <a:lnTo>
                    <a:pt x="20789" y="8025"/>
                  </a:lnTo>
                  <a:cubicBezTo>
                    <a:pt x="21376" y="7532"/>
                    <a:pt x="21220" y="7072"/>
                    <a:pt x="20441" y="7001"/>
                  </a:cubicBezTo>
                  <a:lnTo>
                    <a:pt x="17751" y="6761"/>
                  </a:lnTo>
                  <a:cubicBezTo>
                    <a:pt x="16971" y="6692"/>
                    <a:pt x="16552" y="6061"/>
                    <a:pt x="16819" y="5360"/>
                  </a:cubicBezTo>
                  <a:lnTo>
                    <a:pt x="18247" y="1615"/>
                  </a:lnTo>
                  <a:cubicBezTo>
                    <a:pt x="18515" y="912"/>
                    <a:pt x="18188" y="656"/>
                    <a:pt x="17520" y="1047"/>
                  </a:cubicBezTo>
                  <a:lnTo>
                    <a:pt x="14346" y="2896"/>
                  </a:lnTo>
                  <a:cubicBezTo>
                    <a:pt x="13678" y="3285"/>
                    <a:pt x="12815" y="3072"/>
                    <a:pt x="12430" y="2423"/>
                  </a:cubicBezTo>
                  <a:lnTo>
                    <a:pt x="11279" y="489"/>
                  </a:lnTo>
                  <a:cubicBezTo>
                    <a:pt x="10893" y="-160"/>
                    <a:pt x="10255" y="-164"/>
                    <a:pt x="9860" y="481"/>
                  </a:cubicBezTo>
                  <a:lnTo>
                    <a:pt x="8793" y="2232"/>
                  </a:lnTo>
                  <a:cubicBezTo>
                    <a:pt x="8398" y="2877"/>
                    <a:pt x="7493" y="3153"/>
                    <a:pt x="6781" y="2844"/>
                  </a:cubicBezTo>
                  <a:lnTo>
                    <a:pt x="4900" y="2031"/>
                  </a:lnTo>
                  <a:cubicBezTo>
                    <a:pt x="4188" y="1723"/>
                    <a:pt x="3639" y="2080"/>
                    <a:pt x="3682" y="2825"/>
                  </a:cubicBezTo>
                  <a:lnTo>
                    <a:pt x="3784" y="4615"/>
                  </a:lnTo>
                  <a:cubicBezTo>
                    <a:pt x="3826" y="5360"/>
                    <a:pt x="3242" y="6128"/>
                    <a:pt x="2486" y="6320"/>
                  </a:cubicBezTo>
                  <a:lnTo>
                    <a:pt x="670" y="6780"/>
                  </a:lnTo>
                  <a:cubicBezTo>
                    <a:pt x="-85" y="6972"/>
                    <a:pt x="-224" y="7532"/>
                    <a:pt x="365" y="8025"/>
                  </a:cubicBezTo>
                  <a:lnTo>
                    <a:pt x="2394" y="9729"/>
                  </a:lnTo>
                  <a:cubicBezTo>
                    <a:pt x="2981" y="10223"/>
                    <a:pt x="2981" y="11029"/>
                    <a:pt x="2394" y="11523"/>
                  </a:cubicBezTo>
                  <a:lnTo>
                    <a:pt x="365" y="13225"/>
                  </a:lnTo>
                  <a:cubicBezTo>
                    <a:pt x="-224" y="13720"/>
                    <a:pt x="-68" y="14196"/>
                    <a:pt x="709" y="14285"/>
                  </a:cubicBezTo>
                  <a:lnTo>
                    <a:pt x="3171" y="14567"/>
                  </a:lnTo>
                  <a:cubicBezTo>
                    <a:pt x="3948" y="14656"/>
                    <a:pt x="4381" y="15309"/>
                    <a:pt x="4133" y="16017"/>
                  </a:cubicBezTo>
                  <a:lnTo>
                    <a:pt x="2869" y="19625"/>
                  </a:lnTo>
                  <a:cubicBezTo>
                    <a:pt x="2622" y="20333"/>
                    <a:pt x="2976" y="20609"/>
                    <a:pt x="3655" y="20240"/>
                  </a:cubicBezTo>
                  <a:lnTo>
                    <a:pt x="6549" y="18661"/>
                  </a:lnTo>
                  <a:cubicBezTo>
                    <a:pt x="7229" y="18291"/>
                    <a:pt x="8143" y="18495"/>
                    <a:pt x="8581" y="19113"/>
                  </a:cubicBezTo>
                  <a:lnTo>
                    <a:pt x="9782" y="20816"/>
                  </a:lnTo>
                  <a:cubicBezTo>
                    <a:pt x="10219" y="21436"/>
                    <a:pt x="10875" y="21403"/>
                    <a:pt x="11240" y="20741"/>
                  </a:cubicBezTo>
                  <a:lnTo>
                    <a:pt x="12297" y="18823"/>
                  </a:lnTo>
                  <a:cubicBezTo>
                    <a:pt x="12660" y="18160"/>
                    <a:pt x="13532" y="17891"/>
                    <a:pt x="14234" y="18221"/>
                  </a:cubicBezTo>
                  <a:lnTo>
                    <a:pt x="16272" y="19181"/>
                  </a:lnTo>
                  <a:cubicBezTo>
                    <a:pt x="16974" y="19511"/>
                    <a:pt x="17514" y="19172"/>
                    <a:pt x="17472" y="18427"/>
                  </a:cubicBezTo>
                  <a:lnTo>
                    <a:pt x="17370" y="16637"/>
                  </a:lnTo>
                  <a:cubicBezTo>
                    <a:pt x="17327" y="15891"/>
                    <a:pt x="17912" y="15124"/>
                    <a:pt x="18668" y="14932"/>
                  </a:cubicBezTo>
                  <a:lnTo>
                    <a:pt x="20482" y="14472"/>
                  </a:lnTo>
                  <a:cubicBezTo>
                    <a:pt x="21239" y="14280"/>
                    <a:pt x="21376" y="13720"/>
                    <a:pt x="20789" y="1322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560060" y="1075055"/>
            <a:ext cx="59004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购物网站导航栏和侧边栏一般都是固定定位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fixed</a:t>
            </a:r>
            <a:endParaRPr lang="en-US" altLang="zh-CN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6.z-index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z-index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，在网页设计中能够设置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z-index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用于调整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层叠等级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，该属性取值可为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正整数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负整数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，默认状态下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属性取值越大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，设置该属性的定位元素在层叠元素中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越居上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6.z-index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sp>
        <p:nvSpPr>
          <p:cNvPr id="15" name="文本框 9"/>
          <p:cNvSpPr txBox="1"/>
          <p:nvPr/>
        </p:nvSpPr>
        <p:spPr>
          <a:xfrm>
            <a:off x="1143691" y="3477907"/>
            <a:ext cx="10053396" cy="6496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en-US" altLang="zh-CN" dirty="0">
                <a:solidFill>
                  <a:srgbClr val="FF0000"/>
                </a:solidFill>
              </a:rPr>
              <a:t>z-index</a:t>
            </a:r>
            <a:r>
              <a:rPr lang="zh-CN" altLang="en-US" dirty="0">
                <a:solidFill>
                  <a:srgbClr val="FF0000"/>
                </a:solidFill>
              </a:rPr>
              <a:t>属性仅对定位元素生效。</a:t>
            </a:r>
            <a:endParaRPr lang="zh-CN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4-7】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页面建设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准备工作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07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427" y="1380423"/>
            <a:ext cx="4814141" cy="5098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 bwMode="auto">
          <a:xfrm>
            <a:off x="1019175" y="545845"/>
            <a:ext cx="1943101" cy="6334412"/>
            <a:chOff x="-508" y="892948"/>
            <a:chExt cx="1944216" cy="4981549"/>
          </a:xfrm>
        </p:grpSpPr>
        <p:sp>
          <p:nvSpPr>
            <p:cNvPr id="13" name="矩形 12"/>
            <p:cNvSpPr/>
            <p:nvPr/>
          </p:nvSpPr>
          <p:spPr>
            <a:xfrm>
              <a:off x="-508" y="1320144"/>
              <a:ext cx="1944216" cy="4554353"/>
            </a:xfrm>
            <a:prstGeom prst="rect">
              <a:avLst/>
            </a:prstGeom>
            <a:gradFill>
              <a:gsLst>
                <a:gs pos="48000">
                  <a:srgbClr val="8FE2FF"/>
                </a:gs>
                <a:gs pos="100000">
                  <a:srgbClr val="D1F7F4">
                    <a:alpha val="0"/>
                  </a:srgbClr>
                </a:gs>
                <a:gs pos="0">
                  <a:srgbClr val="D1F7F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8"/>
            <p:cNvSpPr>
              <a:spLocks noChangeArrowheads="1"/>
            </p:cNvSpPr>
            <p:nvPr/>
          </p:nvSpPr>
          <p:spPr bwMode="auto">
            <a:xfrm>
              <a:off x="365996" y="1549283"/>
              <a:ext cx="615906" cy="2840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网站项目</a:t>
              </a:r>
              <a:endPara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9"/>
            <p:cNvSpPr>
              <a:spLocks noChangeArrowheads="1"/>
            </p:cNvSpPr>
            <p:nvPr/>
          </p:nvSpPr>
          <p:spPr bwMode="auto">
            <a:xfrm>
              <a:off x="1065356" y="892948"/>
              <a:ext cx="554316" cy="4153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“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爱家居</a:t>
              </a:r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”企业网站首页制作</a:t>
              </a:r>
              <a:endPara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6929438" y="2313792"/>
            <a:ext cx="4071189" cy="2671763"/>
            <a:chOff x="4851400" y="1971912"/>
            <a:chExt cx="4071189" cy="2671826"/>
          </a:xfrm>
        </p:grpSpPr>
        <p:sp>
          <p:nvSpPr>
            <p:cNvPr id="18" name="椭圆形标注 17"/>
            <p:cNvSpPr/>
            <p:nvPr/>
          </p:nvSpPr>
          <p:spPr bwMode="auto">
            <a:xfrm>
              <a:off x="4851400" y="1971912"/>
              <a:ext cx="3987800" cy="2671826"/>
            </a:xfrm>
            <a:prstGeom prst="wedgeEllipse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9" name="矩形 4"/>
            <p:cNvSpPr>
              <a:spLocks noChangeArrowheads="1"/>
            </p:cNvSpPr>
            <p:nvPr/>
          </p:nvSpPr>
          <p:spPr bwMode="auto">
            <a:xfrm>
              <a:off x="5044604" y="2458094"/>
              <a:ext cx="3877985" cy="148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该怎样制作一个</a:t>
              </a:r>
              <a:endPara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zh-CN" altLang="en-US" sz="32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爱家居</a:t>
              </a:r>
              <a:r>
                <a:rPr lang="en-US" altLang="zh-CN" sz="32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32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首页</a:t>
              </a: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呢？</a:t>
              </a:r>
              <a:endParaRPr lang="zh-CN" altLang="en-US" sz="32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070232"/>
            <a:ext cx="6264696" cy="1453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在制作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“爱家居”页面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之前，小思需要做一些页面建设的准备工作，主要包括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页面结构分析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定义基础样式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endParaRPr lang="zh-CN" altLang="en-US" sz="2400" b="1" dirty="0"/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网站站点建立</a:t>
            </a:r>
            <a:endParaRPr lang="zh-CN" altLang="en-US" sz="2000" dirty="0"/>
          </a:p>
        </p:txBody>
      </p:sp>
      <p:grpSp>
        <p:nvGrpSpPr>
          <p:cNvPr id="20" name="Group 5"/>
          <p:cNvGrpSpPr/>
          <p:nvPr/>
        </p:nvGrpSpPr>
        <p:grpSpPr bwMode="auto">
          <a:xfrm>
            <a:off x="3629641" y="3975292"/>
            <a:ext cx="1851025" cy="1049338"/>
            <a:chOff x="0" y="0"/>
            <a:chExt cx="1850766" cy="1048162"/>
          </a:xfrm>
        </p:grpSpPr>
        <p:sp>
          <p:nvSpPr>
            <p:cNvPr id="21" name="椭圆 2"/>
            <p:cNvSpPr/>
            <p:nvPr/>
          </p:nvSpPr>
          <p:spPr bwMode="auto">
            <a:xfrm>
              <a:off x="0" y="124940"/>
              <a:ext cx="1850766" cy="923222"/>
            </a:xfrm>
            <a:custGeom>
              <a:avLst/>
              <a:gdLst>
                <a:gd name="T0" fmla="*/ 0 w 2768819"/>
                <a:gd name="T1" fmla="*/ 0 h 989699"/>
                <a:gd name="T2" fmla="*/ 648 w 2768819"/>
                <a:gd name="T3" fmla="*/ 40695 h 989699"/>
                <a:gd name="T4" fmla="*/ 1313 w 2768819"/>
                <a:gd name="T5" fmla="*/ 0 h 989699"/>
                <a:gd name="T6" fmla="*/ 656 w 2768819"/>
                <a:gd name="T7" fmla="*/ 264095 h 989699"/>
                <a:gd name="T8" fmla="*/ 0 w 2768819"/>
                <a:gd name="T9" fmla="*/ 0 h 9896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68819" h="989699">
                  <a:moveTo>
                    <a:pt x="0" y="0"/>
                  </a:moveTo>
                  <a:cubicBezTo>
                    <a:pt x="380260" y="70629"/>
                    <a:pt x="883212" y="152500"/>
                    <a:pt x="1365445" y="152500"/>
                  </a:cubicBezTo>
                  <a:cubicBezTo>
                    <a:pt x="1847678" y="152500"/>
                    <a:pt x="2284258" y="91012"/>
                    <a:pt x="2768819" y="0"/>
                  </a:cubicBezTo>
                  <a:cubicBezTo>
                    <a:pt x="2572779" y="576015"/>
                    <a:pt x="2026905" y="989699"/>
                    <a:pt x="1384409" y="989699"/>
                  </a:cubicBezTo>
                  <a:cubicBezTo>
                    <a:pt x="741914" y="989699"/>
                    <a:pt x="196039" y="576015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" name="椭圆 10"/>
            <p:cNvSpPr/>
            <p:nvPr/>
          </p:nvSpPr>
          <p:spPr bwMode="auto">
            <a:xfrm>
              <a:off x="47" y="0"/>
              <a:ext cx="1850544" cy="268518"/>
            </a:xfrm>
            <a:custGeom>
              <a:avLst/>
              <a:gdLst>
                <a:gd name="T0" fmla="*/ 0 w 1855751"/>
                <a:gd name="T1" fmla="*/ 4622 h 322835"/>
                <a:gd name="T2" fmla="*/ 847952 w 1855751"/>
                <a:gd name="T3" fmla="*/ 2 h 322835"/>
                <a:gd name="T4" fmla="*/ 1759278 w 1855751"/>
                <a:gd name="T5" fmla="*/ 4766 h 322835"/>
                <a:gd name="T6" fmla="*/ 845970 w 1855751"/>
                <a:gd name="T7" fmla="*/ 9721 h 322835"/>
                <a:gd name="T8" fmla="*/ 0 w 1855751"/>
                <a:gd name="T9" fmla="*/ 4622 h 3228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5751" h="322835">
                  <a:moveTo>
                    <a:pt x="0" y="153077"/>
                  </a:moveTo>
                  <a:cubicBezTo>
                    <a:pt x="33893" y="35645"/>
                    <a:pt x="585162" y="-781"/>
                    <a:pt x="894454" y="13"/>
                  </a:cubicBezTo>
                  <a:cubicBezTo>
                    <a:pt x="1203746" y="807"/>
                    <a:pt x="1842019" y="48699"/>
                    <a:pt x="1855751" y="157839"/>
                  </a:cubicBezTo>
                  <a:cubicBezTo>
                    <a:pt x="1812889" y="213003"/>
                    <a:pt x="1365462" y="333923"/>
                    <a:pt x="892361" y="322016"/>
                  </a:cubicBezTo>
                  <a:cubicBezTo>
                    <a:pt x="409709" y="322016"/>
                    <a:pt x="75442" y="209390"/>
                    <a:pt x="0" y="153077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6" name="Group 11"/>
          <p:cNvGrpSpPr/>
          <p:nvPr/>
        </p:nvGrpSpPr>
        <p:grpSpPr bwMode="auto">
          <a:xfrm>
            <a:off x="3599478" y="3146106"/>
            <a:ext cx="1906588" cy="868362"/>
            <a:chOff x="0" y="0"/>
            <a:chExt cx="1906927" cy="868230"/>
          </a:xfrm>
        </p:grpSpPr>
        <p:sp>
          <p:nvSpPr>
            <p:cNvPr id="27" name="椭圆 6"/>
            <p:cNvSpPr/>
            <p:nvPr/>
          </p:nvSpPr>
          <p:spPr bwMode="auto">
            <a:xfrm>
              <a:off x="0" y="110698"/>
              <a:ext cx="1906927" cy="757532"/>
            </a:xfrm>
            <a:custGeom>
              <a:avLst/>
              <a:gdLst>
                <a:gd name="T0" fmla="*/ 158 w 2852836"/>
                <a:gd name="T1" fmla="*/ 0 h 812079"/>
                <a:gd name="T2" fmla="*/ 675 w 2852836"/>
                <a:gd name="T3" fmla="*/ 48804 h 812079"/>
                <a:gd name="T4" fmla="*/ 1161 w 2852836"/>
                <a:gd name="T5" fmla="*/ 6290 h 812079"/>
                <a:gd name="T6" fmla="*/ 1192 w 2852836"/>
                <a:gd name="T7" fmla="*/ 280 h 812079"/>
                <a:gd name="T8" fmla="*/ 1354 w 2852836"/>
                <a:gd name="T9" fmla="*/ 172617 h 812079"/>
                <a:gd name="T10" fmla="*/ 677 w 2852836"/>
                <a:gd name="T11" fmla="*/ 216695 h 812079"/>
                <a:gd name="T12" fmla="*/ 0 w 2852836"/>
                <a:gd name="T13" fmla="*/ 172617 h 812079"/>
                <a:gd name="T14" fmla="*/ 158 w 2852836"/>
                <a:gd name="T15" fmla="*/ 0 h 8120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52836" h="812079">
                  <a:moveTo>
                    <a:pt x="334026" y="0"/>
                  </a:moveTo>
                  <a:cubicBezTo>
                    <a:pt x="629853" y="114341"/>
                    <a:pt x="1009624" y="182893"/>
                    <a:pt x="1423773" y="182893"/>
                  </a:cubicBezTo>
                  <a:cubicBezTo>
                    <a:pt x="1807753" y="182893"/>
                    <a:pt x="2162182" y="123965"/>
                    <a:pt x="2447320" y="23572"/>
                  </a:cubicBezTo>
                  <a:cubicBezTo>
                    <a:pt x="2470720" y="18147"/>
                    <a:pt x="2493390" y="11141"/>
                    <a:pt x="2514376" y="1055"/>
                  </a:cubicBezTo>
                  <a:cubicBezTo>
                    <a:pt x="2679522" y="179535"/>
                    <a:pt x="2797076" y="401441"/>
                    <a:pt x="2852836" y="646891"/>
                  </a:cubicBezTo>
                  <a:cubicBezTo>
                    <a:pt x="2427255" y="752598"/>
                    <a:pt x="1941751" y="812079"/>
                    <a:pt x="1426418" y="812079"/>
                  </a:cubicBezTo>
                  <a:cubicBezTo>
                    <a:pt x="911085" y="812079"/>
                    <a:pt x="425581" y="752598"/>
                    <a:pt x="0" y="646891"/>
                  </a:cubicBezTo>
                  <a:cubicBezTo>
                    <a:pt x="55592" y="402182"/>
                    <a:pt x="172605" y="180875"/>
                    <a:pt x="33402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1000">
                  <a:srgbClr val="FF7711"/>
                </a:gs>
                <a:gs pos="62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18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8" name="椭圆 10"/>
            <p:cNvSpPr/>
            <p:nvPr/>
          </p:nvSpPr>
          <p:spPr bwMode="auto">
            <a:xfrm>
              <a:off x="227718" y="0"/>
              <a:ext cx="1449802" cy="281550"/>
            </a:xfrm>
            <a:custGeom>
              <a:avLst/>
              <a:gdLst>
                <a:gd name="T0" fmla="*/ 0 w 1747836"/>
                <a:gd name="T1" fmla="*/ 4022 h 338503"/>
                <a:gd name="T2" fmla="*/ 24709 w 1747836"/>
                <a:gd name="T3" fmla="*/ 0 h 338503"/>
                <a:gd name="T4" fmla="*/ 50102 w 1747836"/>
                <a:gd name="T5" fmla="*/ 4022 h 338503"/>
                <a:gd name="T6" fmla="*/ 23890 w 1747836"/>
                <a:gd name="T7" fmla="*/ 10201 h 338503"/>
                <a:gd name="T8" fmla="*/ 0 w 1747836"/>
                <a:gd name="T9" fmla="*/ 4022 h 3385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7836" h="338503">
                  <a:moveTo>
                    <a:pt x="0" y="133220"/>
                  </a:moveTo>
                  <a:cubicBezTo>
                    <a:pt x="4763" y="65001"/>
                    <a:pt x="379360" y="0"/>
                    <a:pt x="862012" y="0"/>
                  </a:cubicBezTo>
                  <a:cubicBezTo>
                    <a:pt x="1344664" y="0"/>
                    <a:pt x="1704974" y="39955"/>
                    <a:pt x="1747836" y="133220"/>
                  </a:cubicBezTo>
                  <a:cubicBezTo>
                    <a:pt x="1704974" y="188384"/>
                    <a:pt x="1306538" y="349785"/>
                    <a:pt x="833437" y="337878"/>
                  </a:cubicBezTo>
                  <a:cubicBezTo>
                    <a:pt x="350785" y="337878"/>
                    <a:pt x="35718" y="189533"/>
                    <a:pt x="0" y="13322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2999">
                  <a:srgbClr val="FF7711"/>
                </a:gs>
                <a:gs pos="75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4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9" name="Group 14"/>
          <p:cNvGrpSpPr/>
          <p:nvPr/>
        </p:nvGrpSpPr>
        <p:grpSpPr bwMode="auto">
          <a:xfrm>
            <a:off x="3899516" y="2577781"/>
            <a:ext cx="1304925" cy="631825"/>
            <a:chOff x="0" y="0"/>
            <a:chExt cx="1569720" cy="759442"/>
          </a:xfrm>
        </p:grpSpPr>
        <p:sp>
          <p:nvSpPr>
            <p:cNvPr id="30" name="椭圆 4"/>
            <p:cNvSpPr/>
            <p:nvPr/>
          </p:nvSpPr>
          <p:spPr bwMode="auto">
            <a:xfrm>
              <a:off x="0" y="0"/>
              <a:ext cx="1569720" cy="759442"/>
            </a:xfrm>
            <a:custGeom>
              <a:avLst/>
              <a:gdLst>
                <a:gd name="T0" fmla="*/ 6203 w 2054038"/>
                <a:gd name="T1" fmla="*/ 4214 h 677149"/>
                <a:gd name="T2" fmla="*/ 12407 w 2054038"/>
                <a:gd name="T3" fmla="*/ 4357198 h 677149"/>
                <a:gd name="T4" fmla="*/ 6203 w 2054038"/>
                <a:gd name="T5" fmla="*/ 5985242 h 677149"/>
                <a:gd name="T6" fmla="*/ 0 w 2054038"/>
                <a:gd name="T7" fmla="*/ 4297152 h 677149"/>
                <a:gd name="T8" fmla="*/ 6203 w 2054038"/>
                <a:gd name="T9" fmla="*/ 4214 h 6771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54038" h="677149">
                  <a:moveTo>
                    <a:pt x="1027019" y="476"/>
                  </a:moveTo>
                  <a:cubicBezTo>
                    <a:pt x="1493997" y="-11131"/>
                    <a:pt x="1853323" y="190395"/>
                    <a:pt x="2054038" y="492958"/>
                  </a:cubicBezTo>
                  <a:cubicBezTo>
                    <a:pt x="1757656" y="608038"/>
                    <a:pt x="1442853" y="677149"/>
                    <a:pt x="1027019" y="677149"/>
                  </a:cubicBezTo>
                  <a:cubicBezTo>
                    <a:pt x="611185" y="677149"/>
                    <a:pt x="296382" y="601244"/>
                    <a:pt x="0" y="486164"/>
                  </a:cubicBezTo>
                  <a:cubicBezTo>
                    <a:pt x="210197" y="190396"/>
                    <a:pt x="684679" y="-656"/>
                    <a:pt x="1027019" y="476"/>
                  </a:cubicBezTo>
                  <a:close/>
                </a:path>
              </a:pathLst>
            </a:custGeom>
            <a:gradFill rotWithShape="1">
              <a:gsLst>
                <a:gs pos="0">
                  <a:srgbClr val="BE1247"/>
                </a:gs>
                <a:gs pos="27000">
                  <a:srgbClr val="D2144F"/>
                </a:gs>
                <a:gs pos="66000">
                  <a:srgbClr val="F87477"/>
                </a:gs>
                <a:gs pos="100000">
                  <a:srgbClr val="FA9496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32" name="Group 16"/>
            <p:cNvGrpSpPr/>
            <p:nvPr/>
          </p:nvGrpSpPr>
          <p:grpSpPr bwMode="auto">
            <a:xfrm>
              <a:off x="492487" y="61980"/>
              <a:ext cx="820862" cy="579001"/>
              <a:chOff x="0" y="0"/>
              <a:chExt cx="682752" cy="481584"/>
            </a:xfrm>
          </p:grpSpPr>
          <p:pic>
            <p:nvPicPr>
              <p:cNvPr id="33" name="椭圆 15"/>
              <p:cNvPicPr>
                <a:picLocks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2752" cy="4815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 rot="277197">
                <a:off x="101490" y="75279"/>
                <a:ext cx="479507" cy="331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cxnSp>
        <p:nvCxnSpPr>
          <p:cNvPr id="35" name="直接连接符 16"/>
          <p:cNvCxnSpPr>
            <a:cxnSpLocks noChangeShapeType="1"/>
          </p:cNvCxnSpPr>
          <p:nvPr/>
        </p:nvCxnSpPr>
        <p:spPr bwMode="auto">
          <a:xfrm>
            <a:off x="5059978" y="2915918"/>
            <a:ext cx="3133725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11"/>
          <p:cNvSpPr txBox="1">
            <a:spLocks noChangeArrowheads="1"/>
          </p:cNvSpPr>
          <p:nvPr/>
        </p:nvSpPr>
        <p:spPr bwMode="auto">
          <a:xfrm flipH="1">
            <a:off x="6054529" y="2528568"/>
            <a:ext cx="24653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创建网站根目录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20"/>
          <p:cNvCxnSpPr>
            <a:cxnSpLocks noChangeShapeType="1"/>
          </p:cNvCxnSpPr>
          <p:nvPr/>
        </p:nvCxnSpPr>
        <p:spPr bwMode="auto">
          <a:xfrm>
            <a:off x="5110778" y="4697605"/>
            <a:ext cx="3082925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Box 11"/>
          <p:cNvSpPr txBox="1">
            <a:spLocks noChangeArrowheads="1"/>
          </p:cNvSpPr>
          <p:nvPr/>
        </p:nvSpPr>
        <p:spPr bwMode="auto">
          <a:xfrm flipH="1">
            <a:off x="6105328" y="4310255"/>
            <a:ext cx="2152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22"/>
          <p:cNvCxnSpPr>
            <a:cxnSpLocks noChangeShapeType="1"/>
          </p:cNvCxnSpPr>
          <p:nvPr/>
        </p:nvCxnSpPr>
        <p:spPr bwMode="auto">
          <a:xfrm>
            <a:off x="5277466" y="3690618"/>
            <a:ext cx="2916237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Box 11"/>
          <p:cNvSpPr txBox="1">
            <a:spLocks noChangeArrowheads="1"/>
          </p:cNvSpPr>
          <p:nvPr/>
        </p:nvSpPr>
        <p:spPr bwMode="auto">
          <a:xfrm flipH="1">
            <a:off x="6054527" y="3303268"/>
            <a:ext cx="31361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在根目录下新建文件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11"/>
          <p:cNvSpPr txBox="1">
            <a:spLocks noChangeArrowheads="1"/>
          </p:cNvSpPr>
          <p:nvPr/>
        </p:nvSpPr>
        <p:spPr bwMode="auto">
          <a:xfrm flipH="1">
            <a:off x="3969366" y="2790506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step1</a:t>
            </a:r>
            <a:endParaRPr lang="en-US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11"/>
          <p:cNvSpPr txBox="1">
            <a:spLocks noChangeArrowheads="1"/>
          </p:cNvSpPr>
          <p:nvPr/>
        </p:nvSpPr>
        <p:spPr bwMode="auto">
          <a:xfrm flipH="1">
            <a:off x="3969366" y="3550918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step2</a:t>
            </a:r>
            <a:endParaRPr lang="en-US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 flipH="1">
            <a:off x="3969366" y="4354705"/>
            <a:ext cx="1309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step3</a:t>
            </a:r>
            <a:endParaRPr lang="en-US" altLang="zh-CN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同侧圆角矩形 41"/>
          <p:cNvSpPr/>
          <p:nvPr/>
        </p:nvSpPr>
        <p:spPr>
          <a:xfrm rot="10800000">
            <a:off x="1019174" y="847724"/>
            <a:ext cx="4020052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40200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“爱家居”企业网站首页的切图</a:t>
            </a:r>
            <a:endParaRPr lang="zh-CN" altLang="en-US" sz="2000" dirty="0"/>
          </a:p>
        </p:txBody>
      </p:sp>
      <p:sp>
        <p:nvSpPr>
          <p:cNvPr id="5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endParaRPr lang="zh-CN" altLang="en-US" sz="2400" b="1" dirty="0"/>
          </a:p>
        </p:txBody>
      </p:sp>
      <p:sp>
        <p:nvSpPr>
          <p:cNvPr id="56" name="圆角矩形 55"/>
          <p:cNvSpPr/>
          <p:nvPr/>
        </p:nvSpPr>
        <p:spPr>
          <a:xfrm>
            <a:off x="1019175" y="1604798"/>
            <a:ext cx="10440988" cy="101069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7" name="TextBox 38"/>
          <p:cNvSpPr txBox="1"/>
          <p:nvPr/>
        </p:nvSpPr>
        <p:spPr>
          <a:xfrm>
            <a:off x="1585974" y="1754840"/>
            <a:ext cx="948207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Adobe Fireworks CS6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的切片工具，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“爱家居”企业网站首页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中的素材图片，存储在站点中的“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文件夹中。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9" name="矩形 93"/>
          <p:cNvSpPr/>
          <p:nvPr/>
        </p:nvSpPr>
        <p:spPr>
          <a:xfrm rot="10800000">
            <a:off x="11076120" y="223145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pic>
        <p:nvPicPr>
          <p:cNvPr id="9728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493" y="2987578"/>
            <a:ext cx="5448692" cy="3179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>
            <a:spLocks noChangeArrowheads="1"/>
          </p:cNvSpPr>
          <p:nvPr/>
        </p:nvSpPr>
        <p:spPr bwMode="auto">
          <a:xfrm>
            <a:off x="5581119" y="901531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581119" y="901531"/>
          <a:ext cx="5686425" cy="568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" r:id="rId1" imgW="24460200" imgH="24561800" progId="Visio.Drawing.11">
                  <p:embed/>
                </p:oleObj>
              </mc:Choice>
              <mc:Fallback>
                <p:oleObj name="" r:id="rId1" imgW="24460200" imgH="24561800" progId="Visio.Drawing.11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119" y="901531"/>
                        <a:ext cx="5686425" cy="568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页面结构分析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1370368" y="2292090"/>
            <a:ext cx="3966741" cy="2292350"/>
            <a:chOff x="450056" y="2672554"/>
            <a:chExt cx="5116819" cy="2291733"/>
          </a:xfrm>
        </p:grpSpPr>
        <p:sp>
          <p:nvSpPr>
            <p:cNvPr id="6" name="圆角矩形标注 5"/>
            <p:cNvSpPr/>
            <p:nvPr/>
          </p:nvSpPr>
          <p:spPr bwMode="auto">
            <a:xfrm rot="16200000" flipH="1">
              <a:off x="1862599" y="1260011"/>
              <a:ext cx="2291733" cy="5116819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30"/>
            <p:cNvSpPr>
              <a:spLocks noChangeArrowheads="1"/>
            </p:cNvSpPr>
            <p:nvPr/>
          </p:nvSpPr>
          <p:spPr bwMode="auto">
            <a:xfrm>
              <a:off x="764811" y="2941494"/>
              <a:ext cx="4487309" cy="1753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爱家居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”企业网站首页面从上到下可以分为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个模块。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120881" y="933060"/>
            <a:ext cx="135912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定义基础样式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同侧圆角矩形 6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页面布局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60159"/>
            <a:ext cx="10440988" cy="971231"/>
            <a:chOff x="1019175" y="2696479"/>
            <a:chExt cx="10440988" cy="971231"/>
          </a:xfrm>
        </p:grpSpPr>
        <p:sp>
          <p:nvSpPr>
            <p:cNvPr id="10" name="圆角矩形 9"/>
            <p:cNvSpPr/>
            <p:nvPr/>
          </p:nvSpPr>
          <p:spPr>
            <a:xfrm>
              <a:off x="1019175" y="2696481"/>
              <a:ext cx="10440988" cy="94841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TextBox 38"/>
            <p:cNvSpPr txBox="1"/>
            <p:nvPr/>
          </p:nvSpPr>
          <p:spPr>
            <a:xfrm>
              <a:off x="1585974" y="3007761"/>
              <a:ext cx="9482075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首先在站点根目录下新建一个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文件，命名为“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project04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，然后使用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对页面进行布局。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93"/>
            <p:cNvSpPr/>
            <p:nvPr/>
          </p:nvSpPr>
          <p:spPr>
            <a:xfrm>
              <a:off x="1024831" y="269647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矩形 93"/>
            <p:cNvSpPr/>
            <p:nvPr/>
          </p:nvSpPr>
          <p:spPr>
            <a:xfrm rot="10800000">
              <a:off x="11076120" y="328366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4" name="同侧圆角矩形 13"/>
          <p:cNvSpPr/>
          <p:nvPr/>
        </p:nvSpPr>
        <p:spPr>
          <a:xfrm rot="10800000">
            <a:off x="1019175" y="3262297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19175" y="3295605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定义基础样式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4144279"/>
            <a:ext cx="10440988" cy="1265921"/>
            <a:chOff x="1019175" y="2696479"/>
            <a:chExt cx="10440988" cy="1265921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2696481"/>
              <a:ext cx="10440988" cy="126591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8" name="TextBox 38"/>
            <p:cNvSpPr txBox="1"/>
            <p:nvPr/>
          </p:nvSpPr>
          <p:spPr>
            <a:xfrm>
              <a:off x="1585974" y="3007761"/>
              <a:ext cx="9482075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在站点根目录下的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文件夹内新建样式表文件“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style04.css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project04.html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文件中引入样式表文件。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93"/>
            <p:cNvSpPr/>
            <p:nvPr/>
          </p:nvSpPr>
          <p:spPr>
            <a:xfrm>
              <a:off x="1024831" y="269647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矩形 93"/>
            <p:cNvSpPr/>
            <p:nvPr/>
          </p:nvSpPr>
          <p:spPr>
            <a:xfrm rot="10800000">
              <a:off x="11076120" y="328366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08079" y="3012592"/>
            <a:ext cx="8482334" cy="7439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4-8】</a:t>
            </a:r>
            <a:r>
              <a: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</a:t>
            </a:r>
            <a:r>
              <a:rPr lang="zh-CN" altLang="en-US" sz="32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导航 </a:t>
            </a:r>
            <a:r>
              <a:rPr lang="zh-CN" altLang="en-US" sz="3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及</a:t>
            </a:r>
            <a:r>
              <a:rPr lang="en-US" altLang="zh-CN" sz="32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banner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”模块</a:t>
            </a:r>
            <a:endParaRPr lang="en-GB" altLang="zh-CN" sz="32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08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500604" y="363893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18"/>
          <p:cNvSpPr>
            <a:spLocks noChangeArrowheads="1"/>
          </p:cNvSpPr>
          <p:nvPr/>
        </p:nvSpPr>
        <p:spPr bwMode="auto">
          <a:xfrm>
            <a:off x="1019175" y="2005401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19175" y="2302265"/>
          <a:ext cx="5264980" cy="2970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" r:id="rId1" imgW="14986000" imgH="8470900" progId="Visio.Drawing.11">
                  <p:embed/>
                </p:oleObj>
              </mc:Choice>
              <mc:Fallback>
                <p:oleObj name="" r:id="rId1" imgW="14986000" imgH="847090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2302265"/>
                        <a:ext cx="5264980" cy="29702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531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285" y="2570671"/>
            <a:ext cx="4659928" cy="2701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019175" y="2371725"/>
            <a:ext cx="58991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</a:t>
            </a:r>
            <a:r>
              <a:rPr lang="en-US" altLang="zh-CN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endParaRPr lang="en-US" altLang="zh-CN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3740" y="3192145"/>
            <a:ext cx="321310" cy="42418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r>
              <a:rPr lang="en-US" altLang="zh-CN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600px</a:t>
            </a:r>
            <a:endParaRPr lang="en-US" altLang="zh-CN" sz="9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8196250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4-9】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“热门推荐”模块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09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39657" y="3620278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19175" y="1897808"/>
          <a:ext cx="5215835" cy="32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" r:id="rId1" imgW="11861800" imgH="7454900" progId="Visio.Drawing.11">
                  <p:embed/>
                </p:oleObj>
              </mc:Choice>
              <mc:Fallback>
                <p:oleObj name="" r:id="rId1" imgW="11861800" imgH="745490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1897808"/>
                        <a:ext cx="5215835" cy="3278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507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245" y="2277370"/>
            <a:ext cx="5066968" cy="282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050925" y="1989455"/>
            <a:ext cx="58991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</a:t>
            </a:r>
            <a:r>
              <a:rPr lang="en-US" altLang="zh-CN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endParaRPr lang="en-US" altLang="zh-CN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5490" y="2809875"/>
            <a:ext cx="321310" cy="42418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r>
              <a:rPr lang="en-US" altLang="zh-CN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450px</a:t>
            </a:r>
            <a:endParaRPr lang="en-US" altLang="zh-CN" sz="9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8280225" cy="64633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4-10】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“夏日生活”模块</a:t>
            </a:r>
            <a:endParaRPr lang="en-GB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19175" y="2294626"/>
          <a:ext cx="5144503" cy="2691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" r:id="rId1" imgW="12725400" imgH="6667500" progId="Visio.Drawing.11">
                  <p:embed/>
                </p:oleObj>
              </mc:Choice>
              <mc:Fallback>
                <p:oleObj name="" r:id="rId1" imgW="12725400" imgH="6667500" progId="Visio.Drawing.11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2294626"/>
                        <a:ext cx="5144503" cy="26918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487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294" y="2548921"/>
            <a:ext cx="4985919" cy="2437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50906" y="2623652"/>
            <a:ext cx="8322906" cy="165641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4-11】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“版权信息”模块</a:t>
            </a:r>
            <a:endParaRPr lang="en-US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 和</a:t>
            </a:r>
            <a:r>
              <a:rPr lang="zh-CN" altLang="en-US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“悬浮框”模块</a:t>
            </a:r>
            <a:endParaRPr lang="en-GB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98807" y="1466492"/>
          <a:ext cx="5334000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" r:id="rId1" imgW="10706100" imgH="4000500" progId="Visio.Drawing.11">
                  <p:embed/>
                </p:oleObj>
              </mc:Choice>
              <mc:Fallback>
                <p:oleObj name="" r:id="rId1" imgW="10706100" imgH="4000500" progId="Visio.Drawing.11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07" y="1466492"/>
                        <a:ext cx="5334000" cy="199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58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44" y="3905489"/>
            <a:ext cx="547846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98880" y="2102485"/>
            <a:ext cx="9794240" cy="33756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716785" y="2587447"/>
            <a:ext cx="9001000" cy="27156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盒子模型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CSS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网页布局的基础，建议读者认真学习运用盒子模型进行网页布局的技巧。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块元素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行内元素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也是本项目的重点。通过本项目的学习，读者要思考是不是能够根据页面需求，灵活的实现块元素与行内元素之间的转换。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浮动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定位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是网页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布局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中常用的技巧。建议读者勤加练习，理解浮动和定位的原理。此外提醒读者孰能生巧，多多练习才能提高代码编写效率。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2023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13905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85787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57669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94.5386614173228,&quot;left&quot;:202.11133858267718,&quot;top&quot;:194.57653543307086,&quot;width&quot;:574.3214960629921}"/>
</p:tagLst>
</file>

<file path=ppt/tags/tag2.xml><?xml version="1.0" encoding="utf-8"?>
<p:tagLst xmlns:p="http://schemas.openxmlformats.org/presentationml/2006/main">
  <p:tag name="KSO_WM_DIAGRAM_VIRTUALLY_FRAME" val="{&quot;height&quot;:194.5386614173228,&quot;left&quot;:202.11133858267718,&quot;top&quot;:194.57653543307086,&quot;width&quot;:574.3214960629921}"/>
</p:tagLst>
</file>

<file path=ppt/tags/tag3.xml><?xml version="1.0" encoding="utf-8"?>
<p:tagLst xmlns:p="http://schemas.openxmlformats.org/presentationml/2006/main">
  <p:tag name="KSO_WM_DIAGRAM_VIRTUALLY_FRAME" val="{&quot;height&quot;:194.5386614173228,&quot;left&quot;:202.11133858267718,&quot;top&quot;:194.57653543307086,&quot;width&quot;:574.3214960629921}"/>
</p:tagLst>
</file>

<file path=ppt/tags/tag4.xml><?xml version="1.0" encoding="utf-8"?>
<p:tagLst xmlns:p="http://schemas.openxmlformats.org/presentationml/2006/main">
  <p:tag name="KSO_WM_DIAGRAM_VIRTUALLY_FRAME" val="{&quot;height&quot;:194.5386614173228,&quot;left&quot;:202.11133858267718,&quot;top&quot;:194.57653543307086,&quot;width&quot;:574.3214960629921}"/>
</p:tagLst>
</file>

<file path=ppt/tags/tag5.xml><?xml version="1.0" encoding="utf-8"?>
<p:tagLst xmlns:p="http://schemas.openxmlformats.org/presentationml/2006/main">
  <p:tag name="KSO_WM_DIAGRAM_VIRTUALLY_FRAME" val="{&quot;height&quot;:194.5386614173228,&quot;left&quot;:202.11133858267718,&quot;top&quot;:194.57653543307086,&quot;width&quot;:574.3214960629921}"/>
</p:tagLst>
</file>

<file path=ppt/tags/tag6.xml><?xml version="1.0" encoding="utf-8"?>
<p:tagLst xmlns:p="http://schemas.openxmlformats.org/presentationml/2006/main">
  <p:tag name="KSO_WM_DIAGRAM_VIRTUALLY_FRAME" val="{&quot;height&quot;:194.5386614173228,&quot;left&quot;:202.11133858267718,&quot;top&quot;:194.57653543307086,&quot;width&quot;:574.3214960629921}"/>
</p:tagLst>
</file>

<file path=ppt/tags/tag7.xml><?xml version="1.0" encoding="utf-8"?>
<p:tagLst xmlns:p="http://schemas.openxmlformats.org/presentationml/2006/main">
  <p:tag name="KSO_WM_DIAGRAM_VIRTUALLY_FRAME" val="{&quot;height&quot;:194.5386614173228,&quot;left&quot;:202.11133858267718,&quot;top&quot;:194.57653543307086,&quot;width&quot;:574.3214960629921}"/>
</p:tagLst>
</file>

<file path=ppt/tags/tag8.xml><?xml version="1.0" encoding="utf-8"?>
<p:tagLst xmlns:p="http://schemas.openxmlformats.org/presentationml/2006/main">
  <p:tag name="KSO_WM_DIAGRAM_VIRTUALLY_FRAME" val="{&quot;height&quot;:194.5386614173228,&quot;left&quot;:202.11133858267718,&quot;top&quot;:194.57653543307086,&quot;width&quot;:574.3214960629921}"/>
</p:tagLst>
</file>

<file path=ppt/tags/tag9.xml><?xml version="1.0" encoding="utf-8"?>
<p:tagLst xmlns:p="http://schemas.openxmlformats.org/presentationml/2006/main">
  <p:tag name="KSO_WM_DIAGRAM_VIRTUALLY_FRAME" val="{&quot;height&quot;:194.5386614173228,&quot;left&quot;:202.11133858267718,&quot;top&quot;:194.57653543307086,&quot;width&quot;:574.3214960629921}"/>
</p:tagLst>
</file>

<file path=ppt/tags/tag10.xml><?xml version="1.0" encoding="utf-8"?>
<p:tagLst xmlns:p="http://schemas.openxmlformats.org/presentationml/2006/main">
  <p:tag name="MH" val="20180611105247"/>
  <p:tag name="MH_LIBRARY" val="GRAPHIC"/>
  <p:tag name="MH_TYPE" val="Other"/>
  <p:tag name="MH_ORDER" val="1"/>
</p:tagLst>
</file>

<file path=ppt/tags/tag11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4"/>
</p:tagLst>
</file>

<file path=ppt/tags/tag12.xml><?xml version="1.0" encoding="utf-8"?>
<p:tagLst xmlns:p="http://schemas.openxmlformats.org/presentationml/2006/main">
  <p:tag name="MH" val="20180611105247"/>
  <p:tag name="MH_LIBRARY" val="GRAPHIC"/>
  <p:tag name="MH_TYPE" val="Text"/>
  <p:tag name="MH_ORDER" val="4"/>
</p:tagLst>
</file>

<file path=ppt/tags/tag13.xml><?xml version="1.0" encoding="utf-8"?>
<p:tagLst xmlns:p="http://schemas.openxmlformats.org/presentationml/2006/main">
  <p:tag name="MH" val="20180611105247"/>
  <p:tag name="MH_LIBRARY" val="GRAPHIC"/>
  <p:tag name="MH_TYPE" val="Other"/>
  <p:tag name="MH_ORDER" val="2"/>
</p:tagLst>
</file>

<file path=ppt/tags/tag14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1"/>
</p:tagLst>
</file>

<file path=ppt/tags/tag15.xml><?xml version="1.0" encoding="utf-8"?>
<p:tagLst xmlns:p="http://schemas.openxmlformats.org/presentationml/2006/main">
  <p:tag name="MH" val="20180611105247"/>
  <p:tag name="MH_LIBRARY" val="GRAPHIC"/>
  <p:tag name="MH_TYPE" val="Text"/>
  <p:tag name="MH_ORDER" val="1"/>
</p:tagLst>
</file>

<file path=ppt/tags/tag16.xml><?xml version="1.0" encoding="utf-8"?>
<p:tagLst xmlns:p="http://schemas.openxmlformats.org/presentationml/2006/main">
  <p:tag name="MH" val="20180611105247"/>
  <p:tag name="MH_LIBRARY" val="GRAPHIC"/>
  <p:tag name="MH_TYPE" val="Other"/>
  <p:tag name="MH_ORDER" val="3"/>
</p:tagLst>
</file>

<file path=ppt/tags/tag17.xml><?xml version="1.0" encoding="utf-8"?>
<p:tagLst xmlns:p="http://schemas.openxmlformats.org/presentationml/2006/main">
  <p:tag name="MH" val="20180611105247"/>
  <p:tag name="MH_LIBRARY" val="GRAPHIC"/>
  <p:tag name="MH_TYPE" val="Other"/>
  <p:tag name="MH_ORDER" val="4"/>
</p:tagLst>
</file>

<file path=ppt/tags/tag18.xml><?xml version="1.0" encoding="utf-8"?>
<p:tagLst xmlns:p="http://schemas.openxmlformats.org/presentationml/2006/main">
  <p:tag name="MH" val="20180611105247"/>
  <p:tag name="MH_LIBRARY" val="GRAPHIC"/>
  <p:tag name="MH_TYPE" val="Other"/>
  <p:tag name="MH_ORDER" val="5"/>
</p:tagLst>
</file>

<file path=ppt/tags/tag19.xml><?xml version="1.0" encoding="utf-8"?>
<p:tagLst xmlns:p="http://schemas.openxmlformats.org/presentationml/2006/main">
  <p:tag name="MH" val="20180611105247"/>
  <p:tag name="MH_LIBRARY" val="GRAPHIC"/>
  <p:tag name="MH_TYPE" val="Other"/>
  <p:tag name="MH_ORDER" val="6"/>
</p:tagLst>
</file>

<file path=ppt/tags/tag20.xml><?xml version="1.0" encoding="utf-8"?>
<p:tagLst xmlns:p="http://schemas.openxmlformats.org/presentationml/2006/main">
  <p:tag name="MH" val="20180611105247"/>
  <p:tag name="MH_LIBRARY" val="GRAPHIC"/>
  <p:tag name="MH_TYPE" val="Other"/>
  <p:tag name="MH_ORDER" val="7"/>
</p:tagLst>
</file>

<file path=ppt/tags/tag21.xml><?xml version="1.0" encoding="utf-8"?>
<p:tagLst xmlns:p="http://schemas.openxmlformats.org/presentationml/2006/main">
  <p:tag name="MH" val="20180611105247"/>
  <p:tag name="MH_LIBRARY" val="GRAPHIC"/>
  <p:tag name="MH_TYPE" val="Other"/>
  <p:tag name="MH_ORDER" val="8"/>
</p:tagLst>
</file>

<file path=ppt/tags/tag22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3"/>
</p:tagLst>
</file>

<file path=ppt/tags/tag23.xml><?xml version="1.0" encoding="utf-8"?>
<p:tagLst xmlns:p="http://schemas.openxmlformats.org/presentationml/2006/main">
  <p:tag name="MH" val="20180611105247"/>
  <p:tag name="MH_LIBRARY" val="GRAPHIC"/>
  <p:tag name="MH_TYPE" val="Text"/>
  <p:tag name="MH_ORDER" val="3"/>
</p:tagLst>
</file>

<file path=ppt/tags/tag24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2"/>
</p:tagLst>
</file>

<file path=ppt/tags/tag25.xml><?xml version="1.0" encoding="utf-8"?>
<p:tagLst xmlns:p="http://schemas.openxmlformats.org/presentationml/2006/main">
  <p:tag name="MH" val="20180611105247"/>
  <p:tag name="MH_LIBRARY" val="GRAPHIC"/>
  <p:tag name="MH_TYPE" val="Text"/>
  <p:tag name="MH_ORDER" val="2"/>
</p:tagLst>
</file>

<file path=ppt/tags/tag26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1"/>
</p:tagLst>
</file>

<file path=ppt/tags/tag27.xml><?xml version="1.0" encoding="utf-8"?>
<p:tagLst xmlns:p="http://schemas.openxmlformats.org/presentationml/2006/main">
  <p:tag name="MH" val="20170719143502"/>
  <p:tag name="MH_LIBRARY" val="GRAPHIC"/>
  <p:tag name="MH_TYPE" val="Other"/>
  <p:tag name="MH_ORDER" val="1"/>
</p:tagLst>
</file>

<file path=ppt/tags/tag28.xml><?xml version="1.0" encoding="utf-8"?>
<p:tagLst xmlns:p="http://schemas.openxmlformats.org/presentationml/2006/main">
  <p:tag name="MH" val="20170719143502"/>
  <p:tag name="MH_LIBRARY" val="GRAPHIC"/>
  <p:tag name="MH_TYPE" val="Text"/>
  <p:tag name="MH_ORDER" val="1"/>
</p:tagLst>
</file>

<file path=ppt/tags/tag29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2"/>
</p:tagLst>
</file>

<file path=ppt/tags/tag30.xml><?xml version="1.0" encoding="utf-8"?>
<p:tagLst xmlns:p="http://schemas.openxmlformats.org/presentationml/2006/main">
  <p:tag name="MH" val="20170719143502"/>
  <p:tag name="MH_LIBRARY" val="GRAPHIC"/>
  <p:tag name="MH_TYPE" val="Other"/>
  <p:tag name="MH_ORDER" val="2"/>
</p:tagLst>
</file>

<file path=ppt/tags/tag31.xml><?xml version="1.0" encoding="utf-8"?>
<p:tagLst xmlns:p="http://schemas.openxmlformats.org/presentationml/2006/main">
  <p:tag name="MH" val="20170719143502"/>
  <p:tag name="MH_LIBRARY" val="GRAPHIC"/>
  <p:tag name="MH_TYPE" val="Text"/>
  <p:tag name="MH_ORDER" val="2"/>
</p:tagLst>
</file>

<file path=ppt/tags/tag32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3"/>
</p:tagLst>
</file>

<file path=ppt/tags/tag33.xml><?xml version="1.0" encoding="utf-8"?>
<p:tagLst xmlns:p="http://schemas.openxmlformats.org/presentationml/2006/main">
  <p:tag name="MH" val="20170719143502"/>
  <p:tag name="MH_LIBRARY" val="GRAPHIC"/>
  <p:tag name="MH_TYPE" val="Other"/>
  <p:tag name="MH_ORDER" val="3"/>
</p:tagLst>
</file>

<file path=ppt/tags/tag34.xml><?xml version="1.0" encoding="utf-8"?>
<p:tagLst xmlns:p="http://schemas.openxmlformats.org/presentationml/2006/main">
  <p:tag name="MH" val="20170719143502"/>
  <p:tag name="MH_LIBRARY" val="GRAPHIC"/>
  <p:tag name="MH_TYPE" val="Text"/>
  <p:tag name="MH_ORDER" val="3"/>
</p:tagLst>
</file>

<file path=ppt/tags/tag35.xml><?xml version="1.0" encoding="utf-8"?>
<p:tagLst xmlns:p="http://schemas.openxmlformats.org/presentationml/2006/main">
  <p:tag name="MH" val="20170719143502"/>
  <p:tag name="MH_LIBRARY" val="GRAPHIC"/>
  <p:tag name="MH_TYPE" val="Title"/>
  <p:tag name="MH_ORDER" val="1"/>
</p:tagLst>
</file>

<file path=ppt/tags/tag36.xml><?xml version="1.0" encoding="utf-8"?>
<p:tagLst xmlns:p="http://schemas.openxmlformats.org/presentationml/2006/main">
  <p:tag name="PA" val="v3.2.0"/>
</p:tagLst>
</file>

<file path=ppt/tags/tag37.xml><?xml version="1.0" encoding="utf-8"?>
<p:tagLst xmlns:p="http://schemas.openxmlformats.org/presentationml/2006/main">
  <p:tag name="PA" val="v3.2.0"/>
</p:tagLst>
</file>

<file path=ppt/tags/tag38.xml><?xml version="1.0" encoding="utf-8"?>
<p:tagLst xmlns:p="http://schemas.openxmlformats.org/presentationml/2006/main">
  <p:tag name="PA" val="v3.2.0"/>
</p:tagLst>
</file>

<file path=ppt/tags/tag39.xml><?xml version="1.0" encoding="utf-8"?>
<p:tagLst xmlns:p="http://schemas.openxmlformats.org/presentationml/2006/main">
  <p:tag name="PA" val="v3.2.0"/>
</p:tagLst>
</file>

<file path=ppt/tags/tag40.xml><?xml version="1.0" encoding="utf-8"?>
<p:tagLst xmlns:p="http://schemas.openxmlformats.org/presentationml/2006/main">
  <p:tag name="PA" val="v3.2.0"/>
</p:tagLst>
</file>

<file path=ppt/tags/tag41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42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43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44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45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46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47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48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49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50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51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52.xml><?xml version="1.0" encoding="utf-8"?>
<p:tagLst xmlns:p="http://schemas.openxmlformats.org/presentationml/2006/main">
  <p:tag name="KSO_WM_DIAGRAM_VIRTUALLY_FRAME" val="{&quot;height&quot;:278.62503937007875,&quot;left&quot;:133.09874015748034,&quot;top&quot;:184.31062992125982,&quot;width&quot;:735.858346456693}"/>
</p:tagLst>
</file>

<file path=ppt/tags/tag53.xml><?xml version="1.0" encoding="utf-8"?>
<p:tagLst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11774</Words>
  <Application>WPS 演示</Application>
  <PresentationFormat>自定义</PresentationFormat>
  <Paragraphs>1319</Paragraphs>
  <Slides>107</Slides>
  <Notes>108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107</vt:i4>
      </vt:variant>
    </vt:vector>
  </HeadingPairs>
  <TitlesOfParts>
    <vt:vector size="144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Yu Gothic UI Semibold</vt:lpstr>
      <vt:lpstr>U.S. 101</vt:lpstr>
      <vt:lpstr>Segoe Print</vt:lpstr>
      <vt:lpstr>Roboto</vt:lpstr>
      <vt:lpstr>Times New Roman</vt:lpstr>
      <vt:lpstr>Open Sans Light</vt:lpstr>
      <vt:lpstr>字魂105号-简雅黑</vt:lpstr>
      <vt:lpstr>Arial Unicode MS</vt:lpstr>
      <vt:lpstr>Courier New</vt:lpstr>
      <vt:lpstr>思源黑体 CN Regular</vt:lpstr>
      <vt:lpstr>等线</vt:lpstr>
      <vt:lpstr>Arial</vt:lpstr>
      <vt:lpstr>微软雅黑 Light</vt:lpstr>
      <vt:lpstr>Open Sans</vt:lpstr>
      <vt:lpstr>Open Sans</vt:lpstr>
      <vt:lpstr>webwppDefTheme</vt:lpstr>
      <vt:lpstr>Office 主题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陶磊</cp:lastModifiedBy>
  <cp:revision>360</cp:revision>
  <dcterms:created xsi:type="dcterms:W3CDTF">2020-11-11T09:29:00Z</dcterms:created>
  <dcterms:modified xsi:type="dcterms:W3CDTF">2026-04-07T04:19:23Z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D78EDBFD18CE4230AB1AA1E6CC772F42_12</vt:lpwstr>
  </property>
</Properties>
</file>