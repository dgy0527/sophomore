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4"/>
  </p:handoutMasterIdLst>
  <p:sldIdLst>
    <p:sldId id="325" r:id="rId4"/>
    <p:sldId id="264" r:id="rId6"/>
    <p:sldId id="328" r:id="rId7"/>
    <p:sldId id="327" r:id="rId8"/>
    <p:sldId id="415" r:id="rId9"/>
    <p:sldId id="309" r:id="rId10"/>
    <p:sldId id="259" r:id="rId11"/>
    <p:sldId id="348" r:id="rId12"/>
    <p:sldId id="349" r:id="rId13"/>
    <p:sldId id="416" r:id="rId14"/>
    <p:sldId id="422" r:id="rId15"/>
    <p:sldId id="417" r:id="rId16"/>
    <p:sldId id="423" r:id="rId17"/>
    <p:sldId id="418" r:id="rId18"/>
    <p:sldId id="419" r:id="rId19"/>
    <p:sldId id="424" r:id="rId20"/>
    <p:sldId id="420" r:id="rId21"/>
    <p:sldId id="369" r:id="rId22"/>
    <p:sldId id="370" r:id="rId23"/>
    <p:sldId id="371" r:id="rId24"/>
    <p:sldId id="421" r:id="rId25"/>
    <p:sldId id="425" r:id="rId26"/>
    <p:sldId id="426" r:id="rId27"/>
    <p:sldId id="427" r:id="rId28"/>
    <p:sldId id="430" r:id="rId29"/>
    <p:sldId id="428" r:id="rId30"/>
    <p:sldId id="429" r:id="rId31"/>
    <p:sldId id="431" r:id="rId32"/>
    <p:sldId id="432" r:id="rId33"/>
    <p:sldId id="433" r:id="rId34"/>
    <p:sldId id="434" r:id="rId35"/>
    <p:sldId id="375" r:id="rId36"/>
    <p:sldId id="435" r:id="rId37"/>
    <p:sldId id="436" r:id="rId38"/>
    <p:sldId id="437" r:id="rId39"/>
    <p:sldId id="438" r:id="rId40"/>
    <p:sldId id="439" r:id="rId41"/>
    <p:sldId id="440" r:id="rId42"/>
    <p:sldId id="442" r:id="rId43"/>
    <p:sldId id="441" r:id="rId44"/>
    <p:sldId id="443" r:id="rId45"/>
    <p:sldId id="444" r:id="rId46"/>
    <p:sldId id="445" r:id="rId47"/>
    <p:sldId id="446" r:id="rId48"/>
    <p:sldId id="447" r:id="rId49"/>
    <p:sldId id="448" r:id="rId50"/>
    <p:sldId id="453" r:id="rId51"/>
    <p:sldId id="454" r:id="rId52"/>
    <p:sldId id="455" r:id="rId53"/>
    <p:sldId id="456" r:id="rId54"/>
    <p:sldId id="449" r:id="rId55"/>
    <p:sldId id="450" r:id="rId56"/>
    <p:sldId id="457" r:id="rId57"/>
    <p:sldId id="458" r:id="rId58"/>
    <p:sldId id="459" r:id="rId59"/>
    <p:sldId id="451" r:id="rId60"/>
    <p:sldId id="452" r:id="rId61"/>
    <p:sldId id="338" r:id="rId62"/>
    <p:sldId id="326" r:id="rId63"/>
  </p:sldIdLst>
  <p:sldSz cx="12190095" cy="6859270"/>
  <p:notesSz cx="6858000" cy="9144000"/>
  <p:custDataLst>
    <p:tags r:id="rId69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1" userDrawn="1">
          <p15:clr>
            <a:srgbClr val="A4A3A4"/>
          </p15:clr>
        </p15:guide>
        <p15:guide id="3" pos="7151" userDrawn="1">
          <p15:clr>
            <a:srgbClr val="A4A3A4"/>
          </p15:clr>
        </p15:guide>
        <p15:guide id="4" pos="64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晓娟" initials="wang" lastIdx="1" clrIdx="0"/>
  <p:cmAuthor id="1" name="wang" initials="Jay" lastIdx="1" clrIdx="1"/>
  <p:cmAuthor id="2" name="JayChou" initials="Jay" lastIdx="19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1369B2"/>
    <a:srgbClr val="FF0000"/>
    <a:srgbClr val="F2F2F2"/>
    <a:srgbClr val="FAFAFA"/>
    <a:srgbClr val="006BBC"/>
    <a:srgbClr val="0075CC"/>
    <a:srgbClr val="008DF6"/>
    <a:srgbClr val="005DA2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50" autoAdjust="0"/>
    <p:restoredTop sz="96379" autoAdjust="0"/>
  </p:normalViewPr>
  <p:slideViewPr>
    <p:cSldViewPr snapToGrid="0" showGuides="1">
      <p:cViewPr varScale="1">
        <p:scale>
          <a:sx n="109" d="100"/>
          <a:sy n="109" d="100"/>
        </p:scale>
        <p:origin x="144" y="138"/>
      </p:cViewPr>
      <p:guideLst>
        <p:guide orient="horz" pos="1231"/>
        <p:guide pos="7151"/>
        <p:guide pos="6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66"/>
        <p:guide pos="2160"/>
      </p:guideLst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handoutMaster" Target="handoutMasters/handout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ableStyles" Target="tableStyles.xml"/><Relationship Id="rId68" Type="http://schemas.openxmlformats.org/officeDocument/2006/relationships/commentAuthors" Target="commentAuthors.xml"/><Relationship Id="rId69" Type="http://schemas.openxmlformats.org/officeDocument/2006/relationships/tags" Target="tags/tag5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2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emf"/><Relationship Id="rId3" Type="http://schemas.openxmlformats.org/officeDocument/2006/relationships/slideLayout" Target="../slideLayouts/slideLayout10.xml"/><Relationship Id="rId4" Type="http://schemas.openxmlformats.org/officeDocument/2006/relationships/vmlDrawing" Target="../drawings/vmlDrawing1.v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6.png"/><Relationship Id="rId3" Type="http://schemas.openxmlformats.org/officeDocument/2006/relationships/tags" Target="../tags/tag2.xml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2.bin"/><Relationship Id="rId2" Type="http://schemas.openxmlformats.org/officeDocument/2006/relationships/image" Target="../media/image11.emf"/><Relationship Id="rId3" Type="http://schemas.openxmlformats.org/officeDocument/2006/relationships/slideLayout" Target="../slideLayouts/slideLayout10.xml"/><Relationship Id="rId4" Type="http://schemas.openxmlformats.org/officeDocument/2006/relationships/vmlDrawing" Target="../drawings/vmlDrawing2.vml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3.bin"/><Relationship Id="rId2" Type="http://schemas.openxmlformats.org/officeDocument/2006/relationships/image" Target="../media/image12.emf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0.xml"/><Relationship Id="rId6" Type="http://schemas.openxmlformats.org/officeDocument/2006/relationships/vmlDrawing" Target="../drawings/vmlDrawing3.vml"/><Relationship Id="rId7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4.bin"/><Relationship Id="rId2" Type="http://schemas.openxmlformats.org/officeDocument/2006/relationships/image" Target="../media/image15.emf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0.xml"/><Relationship Id="rId5" Type="http://schemas.openxmlformats.org/officeDocument/2006/relationships/vmlDrawing" Target="../drawings/vmlDrawing4.vml"/><Relationship Id="rId6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5.bin"/><Relationship Id="rId2" Type="http://schemas.openxmlformats.org/officeDocument/2006/relationships/image" Target="../media/image21.emf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0.xml"/><Relationship Id="rId5" Type="http://schemas.openxmlformats.org/officeDocument/2006/relationships/vmlDrawing" Target="../drawings/vmlDrawing5.vml"/><Relationship Id="rId6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emf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5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350790" y="2907834"/>
            <a:ext cx="7706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项目</a:t>
            </a:r>
            <a:r>
              <a:rPr lang="en-US" altLang="zh-CN" sz="3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5  </a:t>
            </a:r>
            <a:r>
              <a:rPr lang="zh-CN" altLang="en-US" sz="3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“优课教育”网站首页面制作</a:t>
            </a:r>
            <a:endParaRPr lang="zh-CN" altLang="en-US" sz="3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2350790" y="3861589"/>
            <a:ext cx="7706107" cy="430312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网页设计与制作项目教程（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HTML+CSS+JavaScript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667654" y="1992298"/>
            <a:ext cx="9107027" cy="688075"/>
            <a:chOff x="978872" y="1800500"/>
            <a:chExt cx="6328172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328172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无序列表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有序列表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定义列表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的特点，能够区分它们之间的差异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。</a:t>
              </a:r>
              <a:endParaRPr lang="en-GB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667654" y="2862580"/>
            <a:ext cx="9107027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掌握四种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链接伪类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的特点，能够区分不同链接伪类的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作用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。</a:t>
              </a:r>
              <a:endPara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667654" y="3730746"/>
            <a:ext cx="9107027" cy="688077"/>
            <a:chOff x="978872" y="3338787"/>
            <a:chExt cx="5869222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869222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列表嵌套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方法，能够使用无序列表、有序列表及定义列表对模块进行排列</a:t>
              </a:r>
              <a:endPara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1667654" y="4601030"/>
            <a:ext cx="9107027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创建超链接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的方法，能够为网页添加超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链接。</a:t>
              </a:r>
              <a:endPara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667654" y="5454470"/>
            <a:ext cx="9107027" cy="685959"/>
            <a:chOff x="978872" y="4108725"/>
            <a:chExt cx="5437064" cy="514350"/>
          </a:xfrm>
        </p:grpSpPr>
        <p:sp>
          <p:nvSpPr>
            <p:cNvPr id="17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常见的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页面布局类型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，能够使用这些布局类型完成简单的页面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布局。</a:t>
              </a:r>
              <a:endPara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19175" y="2065442"/>
            <a:ext cx="10225136" cy="38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近些年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，随着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知识经济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的快速发展，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市场呈现良好的增长态势。人们由于受新的生活挑战与岗位竞争压力的影响，越来越多的人开始通过参加各种培训来提升自己。教育市场迎来高峰期。为了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扩大品牌影响力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优课教育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CEO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马总找到小思，想让小思帮忙制作一个网站，展示公司的教育产品。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接到“优课教育”网站制作委托后，小思进行了分析，该网站用于展示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教育产品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，可使用大量的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来布局，并且使用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超链接标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接各个子页面。小思制定了近期计划，首先学习列表及超链接的相关知识，然后再着手完成网站的制作。由于篇幅限制，本项目只演示“优课教育”网站首页面的制作。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2305173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3225571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4156149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2282994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5-1】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列表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标签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3208745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83565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5-2】</a:t>
              </a:r>
              <a:r>
                <a:rPr lang="en-US" altLang="zh-CN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CSS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控制列表样式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4134496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5-3】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超链接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标签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19265" y="5085789"/>
            <a:ext cx="1192190" cy="614525"/>
            <a:chOff x="2215144" y="3084852"/>
            <a:chExt cx="1244730" cy="844793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024817" y="5064136"/>
            <a:ext cx="5142331" cy="613062"/>
            <a:chOff x="4315150" y="2341731"/>
            <a:chExt cx="3857250" cy="540057"/>
          </a:xfrm>
        </p:grpSpPr>
        <p:sp>
          <p:nvSpPr>
            <p:cNvPr id="25" name="矩形 24"/>
            <p:cNvSpPr/>
            <p:nvPr/>
          </p:nvSpPr>
          <p:spPr>
            <a:xfrm>
              <a:off x="4841197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5-4】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页面建设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准备工作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204863" y="2305173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2204863" y="3225571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204863" y="4156149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110415" y="2282994"/>
            <a:ext cx="6563670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685439" y="1080292"/>
              <a:ext cx="2827147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5-5】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导航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110415" y="3208745"/>
            <a:ext cx="6563670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685439" y="1783565"/>
              <a:ext cx="3331204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5-6】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</a:t>
              </a:r>
              <a:r>
                <a:rPr lang="en-US" altLang="zh-CN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banne</a:t>
              </a:r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r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”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模块和“课程分类”模块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3110415" y="4134496"/>
            <a:ext cx="6563670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685439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5-7】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精品展示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204863" y="5085789"/>
            <a:ext cx="1192190" cy="614525"/>
            <a:chOff x="2215144" y="3084852"/>
            <a:chExt cx="1244730" cy="844793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08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0415" y="5064136"/>
            <a:ext cx="6563670" cy="613062"/>
            <a:chOff x="4315150" y="2341731"/>
            <a:chExt cx="3857250" cy="540057"/>
          </a:xfrm>
        </p:grpSpPr>
        <p:sp>
          <p:nvSpPr>
            <p:cNvPr id="25" name="矩形 24"/>
            <p:cNvSpPr/>
            <p:nvPr/>
          </p:nvSpPr>
          <p:spPr>
            <a:xfrm>
              <a:off x="4685439" y="2498986"/>
              <a:ext cx="3133455" cy="305017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【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任务</a:t>
              </a:r>
              <a:r>
                <a:rPr lang="en-US" altLang="zh-CN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5-8】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制作“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版权信息</a:t>
              </a:r>
              <a:r>
                <a:rPr lang="zh-CN" altLang="en-US" sz="1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rPr>
                <a:t>”模块</a:t>
              </a:r>
              <a:endParaRPr lang="en-GB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平行四边形 25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5-1】</a:t>
            </a:r>
            <a:r>
              <a:rPr lang="zh-CN" altLang="en-US" sz="4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列表</a:t>
            </a:r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标签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728010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便于用户阅读，网页中的信息经常以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列表的形式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呈现。例如，淘宝商城首页的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商品分类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，排列有序、条理清晰，呈现为列表的形式。在网页设计中，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种常用的列表，分别为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无序列表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有序列表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定义列表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，下面将对这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种列表进行讲解。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无序列表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411534"/>
            <a:ext cx="39239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无序列表，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能够说出无序列表的定义和特点。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无序列表的基本语法格式，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能够在网页中定义无序列表。</a:t>
            </a:r>
            <a:endParaRPr lang="en-US" altLang="zh-CN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无序列表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1604797"/>
            <a:ext cx="10440988" cy="1585682"/>
            <a:chOff x="1019175" y="1604797"/>
            <a:chExt cx="10440988" cy="1585682"/>
          </a:xfrm>
        </p:grpSpPr>
        <p:sp>
          <p:nvSpPr>
            <p:cNvPr id="8" name="圆角矩形 7"/>
            <p:cNvSpPr/>
            <p:nvPr/>
          </p:nvSpPr>
          <p:spPr>
            <a:xfrm>
              <a:off x="1019175" y="1604798"/>
              <a:ext cx="10440988" cy="129080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" name="TextBox 38"/>
            <p:cNvSpPr txBox="1"/>
            <p:nvPr/>
          </p:nvSpPr>
          <p:spPr>
            <a:xfrm>
              <a:off x="1471674" y="1845965"/>
              <a:ext cx="9482075" cy="695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无序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是网页中最常用的列表，之所以称为“无序列表”，是因为其各个列表项之间没有顺序级别之分，通常是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并列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矩形 93"/>
            <p:cNvSpPr/>
            <p:nvPr/>
          </p:nvSpPr>
          <p:spPr>
            <a:xfrm rot="10800000">
              <a:off x="11076120" y="280643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6" name="组合 8"/>
          <p:cNvGrpSpPr/>
          <p:nvPr/>
        </p:nvGrpSpPr>
        <p:grpSpPr bwMode="auto">
          <a:xfrm>
            <a:off x="1990725" y="3242817"/>
            <a:ext cx="8497888" cy="2934463"/>
            <a:chOff x="920750" y="2283718"/>
            <a:chExt cx="8348541" cy="3392174"/>
          </a:xfrm>
        </p:grpSpPr>
        <p:sp>
          <p:nvSpPr>
            <p:cNvPr id="17" name="矩形 16"/>
            <p:cNvSpPr/>
            <p:nvPr/>
          </p:nvSpPr>
          <p:spPr>
            <a:xfrm>
              <a:off x="920750" y="2283718"/>
              <a:ext cx="8348541" cy="3392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2002139" y="2670745"/>
              <a:ext cx="2042870" cy="26181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&lt;ul&gt;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......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&lt;/ul&gt; 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23" name="组合 22"/>
          <p:cNvGrpSpPr/>
          <p:nvPr/>
        </p:nvGrpSpPr>
        <p:grpSpPr bwMode="auto">
          <a:xfrm>
            <a:off x="3179785" y="3651121"/>
            <a:ext cx="3982177" cy="369332"/>
            <a:chOff x="3040655" y="4067711"/>
            <a:chExt cx="3980761" cy="370367"/>
          </a:xfrm>
        </p:grpSpPr>
        <p:sp>
          <p:nvSpPr>
            <p:cNvPr id="24" name="矩形 29"/>
            <p:cNvSpPr>
              <a:spLocks noChangeArrowheads="1"/>
            </p:cNvSpPr>
            <p:nvPr/>
          </p:nvSpPr>
          <p:spPr bwMode="auto">
            <a:xfrm>
              <a:off x="3040655" y="4122794"/>
              <a:ext cx="2103991" cy="264405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" name="直接箭头连接符 33"/>
            <p:cNvCxnSpPr>
              <a:cxnSpLocks noChangeShapeType="1"/>
              <a:stCxn id="24" idx="3"/>
            </p:cNvCxnSpPr>
            <p:nvPr/>
          </p:nvCxnSpPr>
          <p:spPr bwMode="auto">
            <a:xfrm flipV="1">
              <a:off x="5144646" y="4254996"/>
              <a:ext cx="374805" cy="1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Box 40"/>
            <p:cNvSpPr txBox="1">
              <a:spLocks noChangeArrowheads="1"/>
            </p:cNvSpPr>
            <p:nvPr/>
          </p:nvSpPr>
          <p:spPr bwMode="auto">
            <a:xfrm>
              <a:off x="5452314" y="4067711"/>
              <a:ext cx="1569102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定义无序列表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 bwMode="auto">
          <a:xfrm>
            <a:off x="3362665" y="4056570"/>
            <a:ext cx="4443842" cy="1048830"/>
            <a:chOff x="3040655" y="4122797"/>
            <a:chExt cx="4442261" cy="1051770"/>
          </a:xfrm>
        </p:grpSpPr>
        <p:sp>
          <p:nvSpPr>
            <p:cNvPr id="28" name="矩形 29"/>
            <p:cNvSpPr>
              <a:spLocks noChangeArrowheads="1"/>
            </p:cNvSpPr>
            <p:nvPr/>
          </p:nvSpPr>
          <p:spPr bwMode="auto">
            <a:xfrm>
              <a:off x="3040655" y="4122797"/>
              <a:ext cx="2103991" cy="1051770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" name="直接箭头连接符 33"/>
            <p:cNvCxnSpPr>
              <a:cxnSpLocks noChangeShapeType="1"/>
              <a:stCxn id="28" idx="3"/>
            </p:cNvCxnSpPr>
            <p:nvPr/>
          </p:nvCxnSpPr>
          <p:spPr bwMode="auto">
            <a:xfrm>
              <a:off x="5144646" y="4648682"/>
              <a:ext cx="307668" cy="0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40"/>
            <p:cNvSpPr txBox="1">
              <a:spLocks noChangeArrowheads="1"/>
            </p:cNvSpPr>
            <p:nvPr/>
          </p:nvSpPr>
          <p:spPr bwMode="auto">
            <a:xfrm>
              <a:off x="5452314" y="4463498"/>
              <a:ext cx="2030602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描述具体的列表项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无序列表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22997" y="1954213"/>
            <a:ext cx="16630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369695" y="2593975"/>
            <a:ext cx="9801225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无序列表拥有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属性，用于指定不同的列表项目符号。但是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中不赞成使用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属性，一般通过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样式属性替代。 </a:t>
            </a:r>
            <a:endParaRPr lang="en-US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ul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&gt;&lt;/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ul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中只能嵌套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&lt;li&gt;&lt;/li&gt;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&lt;li&gt;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&lt;/li&gt;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之间相当于一个容器，可以嵌套其他元素。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有序列表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06722" y="3411534"/>
            <a:ext cx="39239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有序列表，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能够说出有序列表的定义和特点。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有序列表的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基本语法格式，能够在网页中设置定义列表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有序列表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1604797"/>
            <a:ext cx="10440988" cy="884642"/>
            <a:chOff x="1019175" y="1604797"/>
            <a:chExt cx="10440988" cy="884642"/>
          </a:xfrm>
        </p:grpSpPr>
        <p:sp>
          <p:nvSpPr>
            <p:cNvPr id="8" name="圆角矩形 7"/>
            <p:cNvSpPr/>
            <p:nvPr/>
          </p:nvSpPr>
          <p:spPr>
            <a:xfrm>
              <a:off x="1019175" y="1604798"/>
              <a:ext cx="10440988" cy="863155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" name="TextBox 38"/>
            <p:cNvSpPr txBox="1"/>
            <p:nvPr/>
          </p:nvSpPr>
          <p:spPr>
            <a:xfrm>
              <a:off x="1471674" y="1845965"/>
              <a:ext cx="9482075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有序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即为有排列顺序的列表，其各个列表项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按照一定的顺序排列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矩形 93"/>
            <p:cNvSpPr/>
            <p:nvPr/>
          </p:nvSpPr>
          <p:spPr>
            <a:xfrm rot="10800000">
              <a:off x="11076120" y="210539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6" name="组合 8"/>
          <p:cNvGrpSpPr/>
          <p:nvPr/>
        </p:nvGrpSpPr>
        <p:grpSpPr bwMode="auto">
          <a:xfrm>
            <a:off x="1990725" y="2709417"/>
            <a:ext cx="8497888" cy="3012461"/>
            <a:chOff x="920750" y="2283718"/>
            <a:chExt cx="8348541" cy="3482338"/>
          </a:xfrm>
        </p:grpSpPr>
        <p:sp>
          <p:nvSpPr>
            <p:cNvPr id="17" name="矩形 16"/>
            <p:cNvSpPr/>
            <p:nvPr/>
          </p:nvSpPr>
          <p:spPr>
            <a:xfrm>
              <a:off x="920750" y="2283718"/>
              <a:ext cx="8348541" cy="33921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2002139" y="2670745"/>
              <a:ext cx="2042870" cy="30953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ol&gt;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3&lt;/</a:t>
              </a: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......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&lt;/ol&gt;</a:t>
              </a: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23" name="组合 22"/>
          <p:cNvGrpSpPr/>
          <p:nvPr/>
        </p:nvGrpSpPr>
        <p:grpSpPr bwMode="auto">
          <a:xfrm>
            <a:off x="3179785" y="3117717"/>
            <a:ext cx="3982177" cy="369332"/>
            <a:chOff x="3040655" y="4067707"/>
            <a:chExt cx="3980760" cy="370367"/>
          </a:xfrm>
        </p:grpSpPr>
        <p:sp>
          <p:nvSpPr>
            <p:cNvPr id="24" name="矩形 29"/>
            <p:cNvSpPr>
              <a:spLocks noChangeArrowheads="1"/>
            </p:cNvSpPr>
            <p:nvPr/>
          </p:nvSpPr>
          <p:spPr bwMode="auto">
            <a:xfrm>
              <a:off x="3040655" y="4122794"/>
              <a:ext cx="2103991" cy="264405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" name="直接箭头连接符 33"/>
            <p:cNvCxnSpPr>
              <a:cxnSpLocks noChangeShapeType="1"/>
              <a:stCxn id="24" idx="3"/>
            </p:cNvCxnSpPr>
            <p:nvPr/>
          </p:nvCxnSpPr>
          <p:spPr bwMode="auto">
            <a:xfrm flipV="1">
              <a:off x="5144646" y="4254996"/>
              <a:ext cx="374805" cy="1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Box 40"/>
            <p:cNvSpPr txBox="1">
              <a:spLocks noChangeArrowheads="1"/>
            </p:cNvSpPr>
            <p:nvPr/>
          </p:nvSpPr>
          <p:spPr bwMode="auto">
            <a:xfrm>
              <a:off x="5452314" y="4067707"/>
              <a:ext cx="1569101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定义有序列表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 bwMode="auto">
          <a:xfrm>
            <a:off x="3362665" y="3523170"/>
            <a:ext cx="4443842" cy="1048830"/>
            <a:chOff x="3040655" y="4122797"/>
            <a:chExt cx="4442261" cy="1051770"/>
          </a:xfrm>
        </p:grpSpPr>
        <p:sp>
          <p:nvSpPr>
            <p:cNvPr id="28" name="矩形 29"/>
            <p:cNvSpPr>
              <a:spLocks noChangeArrowheads="1"/>
            </p:cNvSpPr>
            <p:nvPr/>
          </p:nvSpPr>
          <p:spPr bwMode="auto">
            <a:xfrm>
              <a:off x="3040655" y="4122797"/>
              <a:ext cx="2103991" cy="1051770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" name="直接箭头连接符 33"/>
            <p:cNvCxnSpPr>
              <a:cxnSpLocks noChangeShapeType="1"/>
              <a:stCxn id="28" idx="3"/>
            </p:cNvCxnSpPr>
            <p:nvPr/>
          </p:nvCxnSpPr>
          <p:spPr bwMode="auto">
            <a:xfrm>
              <a:off x="5144646" y="4648682"/>
              <a:ext cx="307668" cy="0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40"/>
            <p:cNvSpPr txBox="1">
              <a:spLocks noChangeArrowheads="1"/>
            </p:cNvSpPr>
            <p:nvPr/>
          </p:nvSpPr>
          <p:spPr bwMode="auto">
            <a:xfrm>
              <a:off x="5452314" y="4463498"/>
              <a:ext cx="2030602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描述具体的列表项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1019175" y="5697906"/>
            <a:ext cx="103330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注意：有序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ol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和列表项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拥有一些标签属性。例如，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value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等，但在网页中不会使用，一般通过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样式属性替代，读者了解即可。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定义列表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411534"/>
            <a:ext cx="39239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定义列表，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能够说出定义列表的作用和特点。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定义列表的基本语法格式，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能够在网页中添加定义列表。</a:t>
            </a:r>
            <a:endParaRPr lang="en-US" altLang="zh-CN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定义列表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1604797"/>
            <a:ext cx="10440988" cy="1052282"/>
            <a:chOff x="1019175" y="1604797"/>
            <a:chExt cx="10440988" cy="1052282"/>
          </a:xfrm>
        </p:grpSpPr>
        <p:sp>
          <p:nvSpPr>
            <p:cNvPr id="8" name="圆角矩形 7"/>
            <p:cNvSpPr/>
            <p:nvPr/>
          </p:nvSpPr>
          <p:spPr>
            <a:xfrm>
              <a:off x="1019175" y="1604798"/>
              <a:ext cx="10440988" cy="1043438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" name="TextBox 38"/>
            <p:cNvSpPr txBox="1"/>
            <p:nvPr/>
          </p:nvSpPr>
          <p:spPr>
            <a:xfrm>
              <a:off x="1408874" y="1845965"/>
              <a:ext cx="966724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定义列表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常用于对术语或名词进行解释和描述，与无序和有序列表不同，定义列表的列表项前没有任何项目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符号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矩形 93"/>
            <p:cNvSpPr/>
            <p:nvPr/>
          </p:nvSpPr>
          <p:spPr>
            <a:xfrm rot="10800000">
              <a:off x="11076120" y="227303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6" name="组合 8"/>
          <p:cNvGrpSpPr/>
          <p:nvPr/>
        </p:nvGrpSpPr>
        <p:grpSpPr bwMode="auto">
          <a:xfrm>
            <a:off x="1990725" y="2709417"/>
            <a:ext cx="8497888" cy="4367869"/>
            <a:chOff x="920750" y="2283718"/>
            <a:chExt cx="8348541" cy="5049160"/>
          </a:xfrm>
        </p:grpSpPr>
        <p:sp>
          <p:nvSpPr>
            <p:cNvPr id="17" name="矩形 16"/>
            <p:cNvSpPr/>
            <p:nvPr/>
          </p:nvSpPr>
          <p:spPr>
            <a:xfrm>
              <a:off x="920750" y="2283718"/>
              <a:ext cx="8348541" cy="4566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2002139" y="2529808"/>
              <a:ext cx="2664929" cy="48030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&lt;dl&gt;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</a:t>
              </a: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&lt;</a:t>
              </a:r>
              <a:r>
                <a:rPr lang="en-US" altLang="zh-CN" sz="1600" dirty="0" err="1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名词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名词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解释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名词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解释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...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名词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dt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名词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解释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1&lt;/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名词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解释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2&lt;/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dd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...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&lt;/dl&gt;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23" name="组合 22"/>
          <p:cNvGrpSpPr/>
          <p:nvPr/>
        </p:nvGrpSpPr>
        <p:grpSpPr bwMode="auto">
          <a:xfrm>
            <a:off x="3179785" y="2965321"/>
            <a:ext cx="4443842" cy="369332"/>
            <a:chOff x="3040655" y="4067711"/>
            <a:chExt cx="4442262" cy="370367"/>
          </a:xfrm>
        </p:grpSpPr>
        <p:sp>
          <p:nvSpPr>
            <p:cNvPr id="24" name="矩形 29"/>
            <p:cNvSpPr>
              <a:spLocks noChangeArrowheads="1"/>
            </p:cNvSpPr>
            <p:nvPr/>
          </p:nvSpPr>
          <p:spPr bwMode="auto">
            <a:xfrm>
              <a:off x="3040655" y="4122794"/>
              <a:ext cx="2103991" cy="264405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5" name="直接箭头连接符 33"/>
            <p:cNvCxnSpPr>
              <a:cxnSpLocks noChangeShapeType="1"/>
              <a:stCxn id="24" idx="3"/>
            </p:cNvCxnSpPr>
            <p:nvPr/>
          </p:nvCxnSpPr>
          <p:spPr bwMode="auto">
            <a:xfrm flipV="1">
              <a:off x="5144646" y="4254996"/>
              <a:ext cx="374805" cy="1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TextBox 40"/>
            <p:cNvSpPr txBox="1">
              <a:spLocks noChangeArrowheads="1"/>
            </p:cNvSpPr>
            <p:nvPr/>
          </p:nvSpPr>
          <p:spPr bwMode="auto">
            <a:xfrm>
              <a:off x="5452314" y="4067711"/>
              <a:ext cx="2030603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用于指定定义列表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 bwMode="auto">
          <a:xfrm>
            <a:off x="3179784" y="3341189"/>
            <a:ext cx="4946765" cy="369333"/>
            <a:chOff x="2857839" y="4093130"/>
            <a:chExt cx="4945006" cy="370368"/>
          </a:xfrm>
        </p:grpSpPr>
        <p:sp>
          <p:nvSpPr>
            <p:cNvPr id="28" name="矩形 29"/>
            <p:cNvSpPr>
              <a:spLocks noChangeArrowheads="1"/>
            </p:cNvSpPr>
            <p:nvPr/>
          </p:nvSpPr>
          <p:spPr bwMode="auto">
            <a:xfrm>
              <a:off x="2857839" y="4122797"/>
              <a:ext cx="2594474" cy="340701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" name="直接箭头连接符 33"/>
            <p:cNvCxnSpPr>
              <a:cxnSpLocks noChangeShapeType="1"/>
            </p:cNvCxnSpPr>
            <p:nvPr/>
          </p:nvCxnSpPr>
          <p:spPr bwMode="auto">
            <a:xfrm>
              <a:off x="5464574" y="4278315"/>
              <a:ext cx="307668" cy="0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40"/>
            <p:cNvSpPr txBox="1">
              <a:spLocks noChangeArrowheads="1"/>
            </p:cNvSpPr>
            <p:nvPr/>
          </p:nvSpPr>
          <p:spPr bwMode="auto">
            <a:xfrm>
              <a:off x="5772243" y="4093130"/>
              <a:ext cx="2030602" cy="370367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用于指定术语名词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 bwMode="auto">
          <a:xfrm>
            <a:off x="3179784" y="3778677"/>
            <a:ext cx="5870093" cy="686645"/>
            <a:chOff x="2857839" y="4122797"/>
            <a:chExt cx="5868006" cy="688569"/>
          </a:xfrm>
        </p:grpSpPr>
        <p:sp>
          <p:nvSpPr>
            <p:cNvPr id="32" name="矩形 29"/>
            <p:cNvSpPr>
              <a:spLocks noChangeArrowheads="1"/>
            </p:cNvSpPr>
            <p:nvPr/>
          </p:nvSpPr>
          <p:spPr bwMode="auto">
            <a:xfrm>
              <a:off x="2857839" y="4122797"/>
              <a:ext cx="2594474" cy="688569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3" name="直接箭头连接符 33"/>
            <p:cNvCxnSpPr>
              <a:cxnSpLocks noChangeShapeType="1"/>
            </p:cNvCxnSpPr>
            <p:nvPr/>
          </p:nvCxnSpPr>
          <p:spPr bwMode="auto">
            <a:xfrm>
              <a:off x="5464574" y="4476990"/>
              <a:ext cx="307668" cy="0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TextBox 40"/>
            <p:cNvSpPr txBox="1">
              <a:spLocks noChangeArrowheads="1"/>
            </p:cNvSpPr>
            <p:nvPr/>
          </p:nvSpPr>
          <p:spPr bwMode="auto">
            <a:xfrm>
              <a:off x="5772241" y="4291804"/>
              <a:ext cx="2953604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用于对名词进行解释和描述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定义列表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1604797"/>
            <a:ext cx="10440988" cy="1052282"/>
            <a:chOff x="1019175" y="1604797"/>
            <a:chExt cx="10440988" cy="1052282"/>
          </a:xfrm>
        </p:grpSpPr>
        <p:sp>
          <p:nvSpPr>
            <p:cNvPr id="8" name="圆角矩形 7"/>
            <p:cNvSpPr/>
            <p:nvPr/>
          </p:nvSpPr>
          <p:spPr>
            <a:xfrm>
              <a:off x="1019175" y="1604798"/>
              <a:ext cx="10440988" cy="1043438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" name="TextBox 38"/>
            <p:cNvSpPr txBox="1"/>
            <p:nvPr/>
          </p:nvSpPr>
          <p:spPr>
            <a:xfrm>
              <a:off x="1408874" y="1845965"/>
              <a:ext cx="966724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定义列表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常用于对术语或名词进行解释和描述，与无序和有序列表不同，定义列表的列表项前没有任何项目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符号</a:t>
              </a:r>
              <a:r>
                <a:rPr lang="zh-CN" altLang="en-US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矩形 93"/>
            <p:cNvSpPr/>
            <p:nvPr/>
          </p:nvSpPr>
          <p:spPr>
            <a:xfrm rot="10800000">
              <a:off x="11076120" y="227303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35" name="圆角矩形 34"/>
          <p:cNvSpPr/>
          <p:nvPr/>
        </p:nvSpPr>
        <p:spPr bwMode="auto">
          <a:xfrm>
            <a:off x="1019175" y="3224399"/>
            <a:ext cx="3202305" cy="2726821"/>
          </a:xfrm>
          <a:prstGeom prst="roundRect">
            <a:avLst>
              <a:gd name="adj" fmla="val 7320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在网页设计中，定义列表常用于实现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图文混排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中放入对图片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解释说明的文字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693920" y="3931920"/>
            <a:ext cx="1198723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693919" y="3642360"/>
          <a:ext cx="6473303" cy="1899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" r:id="rId1" imgW="8140700" imgH="2400300" progId="Visio.Drawing.11">
                  <p:embed/>
                </p:oleObj>
              </mc:Choice>
              <mc:Fallback>
                <p:oleObj name="" r:id="rId1" imgW="8140700" imgH="24003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3919" y="3642360"/>
                        <a:ext cx="6473303" cy="18992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列表的嵌套应用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411534"/>
            <a:ext cx="392398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列表的嵌套应用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的定义，使用列表时能够对子列表项进行嵌套。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列表的嵌套应用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1604797"/>
            <a:ext cx="10440988" cy="1052282"/>
            <a:chOff x="1019175" y="1604797"/>
            <a:chExt cx="10440988" cy="1052282"/>
          </a:xfrm>
        </p:grpSpPr>
        <p:sp>
          <p:nvSpPr>
            <p:cNvPr id="8" name="圆角矩形 7"/>
            <p:cNvSpPr/>
            <p:nvPr/>
          </p:nvSpPr>
          <p:spPr>
            <a:xfrm>
              <a:off x="1019175" y="1604798"/>
              <a:ext cx="10440988" cy="1043438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" name="TextBox 38"/>
            <p:cNvSpPr txBox="1"/>
            <p:nvPr/>
          </p:nvSpPr>
          <p:spPr>
            <a:xfrm>
              <a:off x="1408874" y="1845965"/>
              <a:ext cx="9667246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使用列表时，列表项中也有可能包含若干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子列表项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。我们要想在列表项中定义子列表项就需要将列表进行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嵌套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矩形 93"/>
            <p:cNvSpPr/>
            <p:nvPr/>
          </p:nvSpPr>
          <p:spPr>
            <a:xfrm rot="10800000">
              <a:off x="11076120" y="227303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693920" y="3931920"/>
            <a:ext cx="11987239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13" name="组合 8"/>
          <p:cNvGrpSpPr/>
          <p:nvPr/>
        </p:nvGrpSpPr>
        <p:grpSpPr bwMode="auto">
          <a:xfrm>
            <a:off x="1990725" y="2846577"/>
            <a:ext cx="8497888" cy="3998537"/>
            <a:chOff x="920750" y="2442271"/>
            <a:chExt cx="8348541" cy="4622220"/>
          </a:xfrm>
        </p:grpSpPr>
        <p:sp>
          <p:nvSpPr>
            <p:cNvPr id="14" name="矩形 13"/>
            <p:cNvSpPr/>
            <p:nvPr/>
          </p:nvSpPr>
          <p:spPr>
            <a:xfrm>
              <a:off x="920750" y="2442271"/>
              <a:ext cx="8348541" cy="40205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002139" y="2688361"/>
              <a:ext cx="4516931" cy="43761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</a:t>
              </a:r>
              <a:r>
                <a:rPr lang="en-US" altLang="zh-CN" sz="1600" dirty="0" err="1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ul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</a:t>
              </a: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&lt;li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男装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  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ol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               &lt;!--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有序列表的嵌套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--&gt;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        &lt;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衬衫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&lt;/li&gt;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	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西服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&lt;/li</a:t>
              </a: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endPara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       &lt;/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ol</a:t>
              </a: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endPara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       &lt;/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</a:t>
              </a: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endPara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/</a:t>
              </a:r>
              <a:r>
                <a:rPr lang="en-US" altLang="zh-CN" sz="1600" dirty="0" err="1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ul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  <a:p>
              <a:pPr>
                <a:lnSpc>
                  <a:spcPct val="150000"/>
                </a:lnSpc>
                <a:defRPr/>
              </a:pPr>
              <a:endParaRPr lang="it-IT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5-2】</a:t>
            </a:r>
            <a:r>
              <a:rPr lang="en-US" altLang="zh-CN" sz="44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CSS</a:t>
            </a: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 </a:t>
            </a:r>
            <a:r>
              <a:rPr lang="zh-CN" altLang="en-US" sz="44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控制列表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样式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133650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无序列表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有序列表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时，可以通过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列表的项目符号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，但该方式不符合结构、表现分离的网页设计原则，为此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列表样式属性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，用于单独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控制列表项目符号，下面详细讲解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控制列表项目符号的方法。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list-style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13513" y="3435362"/>
            <a:ext cx="392398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list-style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复合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的语法格式，能够使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list-style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复合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属性设置列表样式。</a:t>
            </a:r>
            <a:endParaRPr lang="en-US" altLang="zh-CN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list-style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复合属性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 bwMode="auto">
          <a:xfrm>
            <a:off x="1990725" y="3152927"/>
            <a:ext cx="8497886" cy="872605"/>
            <a:chOff x="920750" y="2340865"/>
            <a:chExt cx="8348541" cy="1008712"/>
          </a:xfrm>
        </p:grpSpPr>
        <p:sp>
          <p:nvSpPr>
            <p:cNvPr id="10" name="矩形 9"/>
            <p:cNvSpPr/>
            <p:nvPr/>
          </p:nvSpPr>
          <p:spPr>
            <a:xfrm>
              <a:off x="920750" y="2340865"/>
              <a:ext cx="8348541" cy="10087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002139" y="2529808"/>
              <a:ext cx="5426175" cy="4834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list-style: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列表项目符号 列表项目符号的位置 列表项目图像</a:t>
              </a: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;</a:t>
              </a:r>
              <a:endParaRPr lang="en-US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019175" y="1604797"/>
            <a:ext cx="10440988" cy="1128482"/>
            <a:chOff x="1019175" y="1604797"/>
            <a:chExt cx="10440988" cy="1128481"/>
          </a:xfrm>
        </p:grpSpPr>
        <p:sp>
          <p:nvSpPr>
            <p:cNvPr id="15" name="圆角矩形 14"/>
            <p:cNvSpPr/>
            <p:nvPr/>
          </p:nvSpPr>
          <p:spPr>
            <a:xfrm>
              <a:off x="1019175" y="1604798"/>
              <a:ext cx="10440988" cy="1107921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" name="TextBox 38"/>
            <p:cNvSpPr txBox="1"/>
            <p:nvPr/>
          </p:nvSpPr>
          <p:spPr>
            <a:xfrm>
              <a:off x="1471674" y="1845964"/>
              <a:ext cx="9482075" cy="69518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盒子模型的边框等属性一样，在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列表样式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也是一个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复合属性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，可以将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列表相关的样式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都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综合定义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在一个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复合属性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list-style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9" name="矩形 93"/>
            <p:cNvSpPr/>
            <p:nvPr/>
          </p:nvSpPr>
          <p:spPr>
            <a:xfrm rot="10800000">
              <a:off x="11076120" y="2349235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 bwMode="auto">
          <a:xfrm>
            <a:off x="1990725" y="4465739"/>
            <a:ext cx="8497886" cy="1786508"/>
            <a:chOff x="2881339" y="4524990"/>
            <a:chExt cx="4950889" cy="1473193"/>
          </a:xfrm>
        </p:grpSpPr>
        <p:grpSp>
          <p:nvGrpSpPr>
            <p:cNvPr id="21" name="组合 140"/>
            <p:cNvGrpSpPr/>
            <p:nvPr/>
          </p:nvGrpSpPr>
          <p:grpSpPr bwMode="auto">
            <a:xfrm>
              <a:off x="2881339" y="4524990"/>
              <a:ext cx="4950889" cy="1473193"/>
              <a:chOff x="581903" y="3950984"/>
              <a:chExt cx="3643222" cy="1303750"/>
            </a:xfrm>
          </p:grpSpPr>
          <p:cxnSp>
            <p:nvCxnSpPr>
              <p:cNvPr id="23" name="直接连接符 22"/>
              <p:cNvCxnSpPr/>
              <p:nvPr/>
            </p:nvCxnSpPr>
            <p:spPr>
              <a:xfrm>
                <a:off x="581903" y="4116792"/>
                <a:ext cx="3587762" cy="12270"/>
              </a:xfrm>
              <a:prstGeom prst="line">
                <a:avLst/>
              </a:prstGeom>
              <a:ln w="19050">
                <a:solidFill>
                  <a:srgbClr val="1369B2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4" name="矩形 142"/>
              <p:cNvSpPr>
                <a:spLocks noChangeArrowheads="1"/>
              </p:cNvSpPr>
              <p:nvPr/>
            </p:nvSpPr>
            <p:spPr bwMode="auto">
              <a:xfrm>
                <a:off x="1763252" y="3950984"/>
                <a:ext cx="979390" cy="336912"/>
              </a:xfrm>
              <a:prstGeom prst="rect">
                <a:avLst/>
              </a:prstGeom>
              <a:solidFill>
                <a:srgbClr val="1369B2"/>
              </a:solidFill>
              <a:ln w="25400">
                <a:solidFill>
                  <a:srgbClr val="1369B2"/>
                </a:solidFill>
                <a:miter lim="800000"/>
              </a:ln>
            </p:spPr>
            <p:txBody>
              <a:bodyPr anchor="ctr" anchorCtr="1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提示</a:t>
                </a:r>
                <a:r>
                  <a:rPr lang="en-US" altLang="zh-CN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endPara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581903" y="5254734"/>
                <a:ext cx="3643222" cy="0"/>
              </a:xfrm>
              <a:prstGeom prst="line">
                <a:avLst/>
              </a:prstGeom>
              <a:ln w="19050">
                <a:solidFill>
                  <a:srgbClr val="1369B2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145"/>
            <p:cNvSpPr txBox="1">
              <a:spLocks noChangeArrowheads="1"/>
            </p:cNvSpPr>
            <p:nvPr/>
          </p:nvSpPr>
          <p:spPr bwMode="auto">
            <a:xfrm>
              <a:off x="3108326" y="5045285"/>
              <a:ext cx="4421549" cy="685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实际网页制作过程中，为了更高效地控制列表项目符号，通常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list-style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的属性值定义为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none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，然后通过为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设置背景图像的方式实现不同的列表项目符号。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背景图像定义列表项目符号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69968" y="3435362"/>
            <a:ext cx="392398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掌握使用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背景图像定义列表项目符号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的方法，能够在网页中使用背景图像定义列表项目符号。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背景图像定义列表项目符号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7"/>
            <a:ext cx="10440988" cy="1128482"/>
            <a:chOff x="1019175" y="1604797"/>
            <a:chExt cx="10440988" cy="1128481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1107921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4"/>
              <a:ext cx="9482075" cy="69518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样式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对列表项目符号的控制能力不强，没有办法准确控制项目符号的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，因此实际工作中常通过为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&lt;li&gt;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设置背景图像的方式实现对列表项目符号的控制。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349235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pic>
        <p:nvPicPr>
          <p:cNvPr id="12290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255" y="3144038"/>
            <a:ext cx="5466630" cy="302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5-3】</a:t>
            </a:r>
            <a:r>
              <a:rPr lang="zh-CN" altLang="en-US" sz="44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超链接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标签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133650"/>
            <a:ext cx="6264696" cy="2838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个网站通常由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构成，用户如果想从首页跳转到其他页面，就需要在首页相应的位置添加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超链接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。例如，当浏览淘宝网时，首先看到的是其首页，当单击导航栏中的导航项，页面会跳转到对应的子页面，这是因为导航项添加了超链接功能。下面，将对超链接标签的相关知识进行详细讲解。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创建超链接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435362"/>
            <a:ext cx="392398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创建超链接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的方法，能够在网页中创建超链接。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创建超链接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7"/>
            <a:ext cx="10440988" cy="747484"/>
            <a:chOff x="1019175" y="1604797"/>
            <a:chExt cx="10440988" cy="747483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744436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4"/>
              <a:ext cx="9482075" cy="3258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中创建超链接非常简单，只需用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&lt;a&gt;&lt;/a&gt;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标签嵌套需要链接的对象即可。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196823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7" name="组合 8"/>
          <p:cNvGrpSpPr/>
          <p:nvPr/>
        </p:nvGrpSpPr>
        <p:grpSpPr bwMode="auto">
          <a:xfrm>
            <a:off x="1990725" y="3928616"/>
            <a:ext cx="8497888" cy="993903"/>
            <a:chOff x="920750" y="2442271"/>
            <a:chExt cx="8348541" cy="1148930"/>
          </a:xfrm>
        </p:grpSpPr>
        <p:sp>
          <p:nvSpPr>
            <p:cNvPr id="18" name="矩形 17"/>
            <p:cNvSpPr/>
            <p:nvPr/>
          </p:nvSpPr>
          <p:spPr>
            <a:xfrm>
              <a:off x="920750" y="2442271"/>
              <a:ext cx="8348541" cy="11489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2002139" y="2688361"/>
              <a:ext cx="6454602" cy="48341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a 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href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="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跳转目标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 target="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目标窗口的弹出方式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"&gt;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文本或图像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&lt;/a</a:t>
              </a:r>
              <a:r>
                <a:rPr lang="en-US" altLang="zh-CN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&gt;</a:t>
              </a:r>
              <a:endPara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 bwMode="auto">
          <a:xfrm>
            <a:off x="2183083" y="2964664"/>
            <a:ext cx="4934323" cy="2651120"/>
            <a:chOff x="1774375" y="2793053"/>
            <a:chExt cx="4932569" cy="2658548"/>
          </a:xfrm>
        </p:grpSpPr>
        <p:sp>
          <p:nvSpPr>
            <p:cNvPr id="21" name="矩形 29"/>
            <p:cNvSpPr>
              <a:spLocks noChangeArrowheads="1"/>
            </p:cNvSpPr>
            <p:nvPr/>
          </p:nvSpPr>
          <p:spPr bwMode="auto">
            <a:xfrm>
              <a:off x="3040656" y="4067711"/>
              <a:ext cx="481935" cy="324841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2" name="直接箭头连接符 33"/>
            <p:cNvCxnSpPr>
              <a:cxnSpLocks noChangeShapeType="1"/>
              <a:stCxn id="21" idx="0"/>
            </p:cNvCxnSpPr>
            <p:nvPr/>
          </p:nvCxnSpPr>
          <p:spPr bwMode="auto">
            <a:xfrm flipV="1">
              <a:off x="3281624" y="3395864"/>
              <a:ext cx="0" cy="671847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Box 40"/>
            <p:cNvSpPr txBox="1">
              <a:spLocks noChangeArrowheads="1"/>
            </p:cNvSpPr>
            <p:nvPr/>
          </p:nvSpPr>
          <p:spPr bwMode="auto">
            <a:xfrm>
              <a:off x="1774375" y="2793053"/>
              <a:ext cx="3165125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指定链接目标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URL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9"/>
            <p:cNvSpPr>
              <a:spLocks noChangeArrowheads="1"/>
            </p:cNvSpPr>
            <p:nvPr/>
          </p:nvSpPr>
          <p:spPr bwMode="auto">
            <a:xfrm>
              <a:off x="4629503" y="4067040"/>
              <a:ext cx="656491" cy="324841"/>
            </a:xfrm>
            <a:prstGeom prst="rect">
              <a:avLst/>
            </a:prstGeom>
            <a:noFill/>
            <a:ln w="28575">
              <a:solidFill>
                <a:srgbClr val="1369B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接箭头连接符 33"/>
            <p:cNvCxnSpPr>
              <a:cxnSpLocks noChangeShapeType="1"/>
            </p:cNvCxnSpPr>
            <p:nvPr/>
          </p:nvCxnSpPr>
          <p:spPr bwMode="auto">
            <a:xfrm>
              <a:off x="4965045" y="4391881"/>
              <a:ext cx="0" cy="596987"/>
            </a:xfrm>
            <a:prstGeom prst="straightConnector1">
              <a:avLst/>
            </a:prstGeom>
            <a:noFill/>
            <a:ln w="28575">
              <a:solidFill>
                <a:srgbClr val="1369B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TextBox 40"/>
            <p:cNvSpPr txBox="1">
              <a:spLocks noChangeArrowheads="1"/>
            </p:cNvSpPr>
            <p:nvPr/>
          </p:nvSpPr>
          <p:spPr bwMode="auto">
            <a:xfrm>
              <a:off x="3522590" y="5081234"/>
              <a:ext cx="3184354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指定链接页面的打开方式</a:t>
              </a:r>
              <a:endPara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创建超链接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22997" y="1954213"/>
            <a:ext cx="16630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369695" y="2593975"/>
            <a:ext cx="9801225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暂时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没有确定链接目标时，通常将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&lt;a&gt;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属性值定义为“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#”(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="#")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表示超链接暂时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为一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个超链接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网页中，不仅可以为文本创建超链接，还可以为图像、表格、音频、视频等网页元素添加超链接。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锚点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435362"/>
            <a:ext cx="392398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创建锚点链接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的方法，能够在网页中创建锚点链接。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锚点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6"/>
            <a:ext cx="10440988" cy="1158963"/>
            <a:chOff x="1019175" y="1604797"/>
            <a:chExt cx="10440988" cy="1158962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115364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4"/>
              <a:ext cx="9482075" cy="738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网站时，为了提高信息的检索速度，常需要用到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语言中一种特殊的链接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锚点链接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。锚点链接属于超链接的一种。通过创建锚点链接，用户能够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快速定位到目标内容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37971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02862" y="2890412"/>
            <a:ext cx="1874297" cy="3693268"/>
            <a:chOff x="748208" y="2890412"/>
            <a:chExt cx="1874297" cy="3693268"/>
          </a:xfrm>
        </p:grpSpPr>
        <p:cxnSp>
          <p:nvCxnSpPr>
            <p:cNvPr id="17" name="直接连接符 27"/>
            <p:cNvCxnSpPr/>
            <p:nvPr/>
          </p:nvCxnSpPr>
          <p:spPr>
            <a:xfrm>
              <a:off x="2563267" y="2890412"/>
              <a:ext cx="0" cy="3693268"/>
            </a:xfrm>
            <a:prstGeom prst="line">
              <a:avLst/>
            </a:prstGeom>
            <a:ln w="15875">
              <a:solidFill>
                <a:srgbClr val="414146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/>
            <p:cNvSpPr/>
            <p:nvPr/>
          </p:nvSpPr>
          <p:spPr>
            <a:xfrm>
              <a:off x="2504028" y="4468343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771522" y="4269585"/>
              <a:ext cx="1697534" cy="515997"/>
              <a:chOff x="-2086" y="2141478"/>
              <a:chExt cx="1697534" cy="515997"/>
            </a:xfrm>
          </p:grpSpPr>
          <p:sp>
            <p:nvSpPr>
              <p:cNvPr id="20" name="箭头: 五边形 31"/>
              <p:cNvSpPr/>
              <p:nvPr/>
            </p:nvSpPr>
            <p:spPr>
              <a:xfrm>
                <a:off x="57150" y="2141478"/>
                <a:ext cx="1638298" cy="515997"/>
              </a:xfrm>
              <a:prstGeom prst="homePlat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-2086" y="2168643"/>
                <a:ext cx="1490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步骤</a:t>
                </a:r>
                <a:r>
                  <a:rPr lang="en-US" altLang="zh-CN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748208" y="5228690"/>
              <a:ext cx="16268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2504028" y="5438630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1"/>
          <p:cNvSpPr txBox="1"/>
          <p:nvPr>
            <p:custDataLst>
              <p:tags r:id="rId1"/>
            </p:custDataLst>
          </p:nvPr>
        </p:nvSpPr>
        <p:spPr>
          <a:xfrm>
            <a:off x="5009728" y="2820555"/>
            <a:ext cx="35856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0" hangingPunct="0">
              <a:defRPr/>
            </a:pPr>
            <a:r>
              <a:rPr lang="zh-CN" altLang="en-US" b="1" spc="2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定义锚点</a:t>
            </a:r>
            <a:endParaRPr lang="en-US" altLang="zh-CN" b="1" spc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316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768" y="3456850"/>
            <a:ext cx="4400231" cy="2899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圆角矩形标注 31"/>
          <p:cNvSpPr/>
          <p:nvPr/>
        </p:nvSpPr>
        <p:spPr bwMode="auto">
          <a:xfrm rot="5400000" flipH="1">
            <a:off x="8524245" y="3535196"/>
            <a:ext cx="2807236" cy="2835111"/>
          </a:xfrm>
          <a:prstGeom prst="wedgeRoundRectCallou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1"/>
          <p:cNvSpPr txBox="1"/>
          <p:nvPr>
            <p:custDataLst>
              <p:tags r:id="rId3"/>
            </p:custDataLst>
          </p:nvPr>
        </p:nvSpPr>
        <p:spPr>
          <a:xfrm>
            <a:off x="8569545" y="3859883"/>
            <a:ext cx="2775874" cy="18846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2000" spc="2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spc="2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 </a:t>
            </a:r>
            <a:r>
              <a:rPr lang="en-US" altLang="zh-CN" sz="2000" spc="2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href</a:t>
            </a:r>
            <a:r>
              <a:rPr lang="en-US" altLang="zh-CN" sz="2000" spc="2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=”#</a:t>
            </a:r>
            <a:r>
              <a:rPr lang="en-US" altLang="zh-CN" sz="20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000" spc="2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r>
              <a:rPr lang="en-US" altLang="zh-CN" sz="2000" spc="2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“&gt;</a:t>
            </a:r>
            <a:r>
              <a:rPr lang="zh-CN" altLang="en-US" sz="20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链接文本</a:t>
            </a:r>
            <a:r>
              <a:rPr lang="en-US" altLang="zh-CN" sz="20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&lt;/a&gt;”</a:t>
            </a:r>
            <a:r>
              <a:rPr lang="zh-CN" altLang="en-US" sz="2000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创建链接</a:t>
            </a:r>
            <a:r>
              <a:rPr lang="zh-CN" altLang="en-US" sz="2000" spc="2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lang="zh-CN" altLang="en-US" sz="2000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spc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锚点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6"/>
            <a:ext cx="10440988" cy="1158963"/>
            <a:chOff x="1019175" y="1604797"/>
            <a:chExt cx="10440988" cy="1158962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115364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4"/>
              <a:ext cx="9482075" cy="738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网站时，为了提高信息的检索速度，常需要用到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语言中一种特殊的链接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锚点链接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。锚点链接属于超链接的一种。通过创建锚点链接，用户能够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快速定位到目标内容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37971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02862" y="2890412"/>
            <a:ext cx="1874297" cy="3693268"/>
            <a:chOff x="748208" y="2890412"/>
            <a:chExt cx="1874297" cy="3693268"/>
          </a:xfrm>
        </p:grpSpPr>
        <p:cxnSp>
          <p:nvCxnSpPr>
            <p:cNvPr id="17" name="直接连接符 27"/>
            <p:cNvCxnSpPr/>
            <p:nvPr/>
          </p:nvCxnSpPr>
          <p:spPr>
            <a:xfrm>
              <a:off x="2563267" y="2890412"/>
              <a:ext cx="0" cy="3693268"/>
            </a:xfrm>
            <a:prstGeom prst="line">
              <a:avLst/>
            </a:prstGeom>
            <a:ln w="15875">
              <a:solidFill>
                <a:srgbClr val="414146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/>
            <p:cNvSpPr/>
            <p:nvPr/>
          </p:nvSpPr>
          <p:spPr>
            <a:xfrm>
              <a:off x="2504028" y="4468343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771522" y="4296750"/>
              <a:ext cx="1697534" cy="1433712"/>
              <a:chOff x="-2086" y="2168643"/>
              <a:chExt cx="1697534" cy="1433712"/>
            </a:xfrm>
          </p:grpSpPr>
          <p:sp>
            <p:nvSpPr>
              <p:cNvPr id="20" name="箭头: 五边形 31"/>
              <p:cNvSpPr/>
              <p:nvPr/>
            </p:nvSpPr>
            <p:spPr>
              <a:xfrm>
                <a:off x="57150" y="3086358"/>
                <a:ext cx="1638298" cy="515997"/>
              </a:xfrm>
              <a:prstGeom prst="homePlat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-2086" y="2168643"/>
                <a:ext cx="14906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步骤</a:t>
                </a:r>
                <a:r>
                  <a:rPr lang="en-US" altLang="zh-CN" sz="2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748208" y="5228690"/>
              <a:ext cx="16268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2504028" y="5438630"/>
              <a:ext cx="118477" cy="11847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1"/>
          <p:cNvSpPr txBox="1"/>
          <p:nvPr>
            <p:custDataLst>
              <p:tags r:id="rId1"/>
            </p:custDataLst>
          </p:nvPr>
        </p:nvSpPr>
        <p:spPr>
          <a:xfrm>
            <a:off x="5009728" y="2820555"/>
            <a:ext cx="35856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eaLnBrk="0" hangingPunct="0">
              <a:defRPr/>
            </a:pPr>
            <a:r>
              <a:rPr lang="zh-CN" altLang="en-US" b="1" spc="2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链接到锚点</a:t>
            </a:r>
            <a:endParaRPr lang="en-US" altLang="zh-CN" b="1" spc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标注 31"/>
          <p:cNvSpPr/>
          <p:nvPr/>
        </p:nvSpPr>
        <p:spPr bwMode="auto">
          <a:xfrm rot="5400000" flipH="1">
            <a:off x="8524245" y="3535196"/>
            <a:ext cx="2807236" cy="2835111"/>
          </a:xfrm>
          <a:prstGeom prst="wedgeRoundRectCallou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1"/>
          <p:cNvSpPr txBox="1"/>
          <p:nvPr>
            <p:custDataLst>
              <p:tags r:id="rId2"/>
            </p:custDataLst>
          </p:nvPr>
        </p:nvSpPr>
        <p:spPr>
          <a:xfrm>
            <a:off x="8569545" y="4430477"/>
            <a:ext cx="2775874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800" spc="2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800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相应的</a:t>
            </a:r>
            <a:r>
              <a:rPr lang="en-US" altLang="zh-CN" sz="18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800" spc="2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名标注</a:t>
            </a:r>
            <a:r>
              <a:rPr lang="zh-CN" altLang="en-US" sz="1800" spc="2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跳转目标的位置。</a:t>
            </a:r>
            <a:endParaRPr lang="en-US" altLang="zh-CN" sz="1800" spc="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338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313" y="3427914"/>
            <a:ext cx="4447687" cy="2928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链接伪类控制超链接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352550" y="3355761"/>
            <a:ext cx="3923980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链接伪类控制超链接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的方法，能够为链接指定不同的状态。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25524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r>
              <a:rPr lang="zh-CN" altLang="en-US" sz="28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</a:t>
            </a:r>
            <a:endParaRPr lang="zh-CN" altLang="en-US" sz="2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链接伪类控制超链接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6"/>
            <a:ext cx="10440988" cy="1158963"/>
            <a:chOff x="1019175" y="1604797"/>
            <a:chExt cx="10440988" cy="1158962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115364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4"/>
              <a:ext cx="9482075" cy="738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latinLnBrk="1"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中，通过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链接伪类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可以实现不同的链接状态。伪类并不是真正意义上的类，它的名称是由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系统定义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的，通常由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id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名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加“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构成。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379716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34086" y="3234494"/>
          <a:ext cx="9886664" cy="27700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74234"/>
                <a:gridCol w="5512430"/>
              </a:tblGrid>
              <a:tr h="554013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超链接标签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&lt;a&gt;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的伪类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540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a:link{ CSS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样式规则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}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未访问时超链接的状态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540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a:visited{ CSS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样式规则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}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访问后超链接的状态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540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a:hover{ CSS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样式规则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}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鼠标经过、悬停时超链接的状态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540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a: active{ CSS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样式规则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}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鼠标单击不动时超链接的状态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60" marR="12196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链接伪类控制超链接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22997" y="1954213"/>
            <a:ext cx="16630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369695" y="2593975"/>
            <a:ext cx="9801225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同时使用链接的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种伪类时，需要按照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a:link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a:visited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a:hover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a:active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的顺序书写，否则定义的样式可能不起作用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除了文本样式之外，链接伪类还可用于控制超链接的背景、边框等样式。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5-4】</a:t>
            </a:r>
            <a:r>
              <a:rPr lang="zh-CN" altLang="en-US" sz="44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页面建设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准备工作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1019175" y="699255"/>
            <a:ext cx="1943101" cy="6180991"/>
            <a:chOff x="-508" y="1013597"/>
            <a:chExt cx="1944216" cy="4860900"/>
          </a:xfrm>
        </p:grpSpPr>
        <p:sp>
          <p:nvSpPr>
            <p:cNvPr id="8" name="矩形 7"/>
            <p:cNvSpPr/>
            <p:nvPr/>
          </p:nvSpPr>
          <p:spPr>
            <a:xfrm>
              <a:off x="-508" y="1320144"/>
              <a:ext cx="1944216" cy="4554353"/>
            </a:xfrm>
            <a:prstGeom prst="rect">
              <a:avLst/>
            </a:prstGeom>
            <a:gradFill>
              <a:gsLst>
                <a:gs pos="48000">
                  <a:srgbClr val="8FE2FF"/>
                </a:gs>
                <a:gs pos="100000">
                  <a:srgbClr val="D1F7F4">
                    <a:alpha val="0"/>
                  </a:srgbClr>
                </a:gs>
                <a:gs pos="0">
                  <a:srgbClr val="D1F7F4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矩形 8"/>
            <p:cNvSpPr>
              <a:spLocks noChangeArrowheads="1"/>
            </p:cNvSpPr>
            <p:nvPr/>
          </p:nvSpPr>
          <p:spPr bwMode="auto">
            <a:xfrm>
              <a:off x="365996" y="1339548"/>
              <a:ext cx="615906" cy="2840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网站项目</a:t>
              </a:r>
              <a:endPara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>
              <a:spLocks noChangeArrowheads="1"/>
            </p:cNvSpPr>
            <p:nvPr/>
          </p:nvSpPr>
          <p:spPr bwMode="auto">
            <a:xfrm>
              <a:off x="1065356" y="1013597"/>
              <a:ext cx="554316" cy="4221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</a:t>
              </a:r>
              <a:r>
                <a:rPr lang="zh-CN" altLang="en-US" sz="2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</a:t>
              </a:r>
              <a:r>
                <a:rPr lang="zh-CN" altLang="en-US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课教育</a:t>
              </a:r>
              <a:r>
                <a:rPr lang="zh-CN" altLang="en-US" sz="2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”网站首页面制作</a:t>
              </a:r>
              <a:endPara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 bwMode="auto">
          <a:xfrm>
            <a:off x="7286547" y="2201085"/>
            <a:ext cx="3987800" cy="2671763"/>
            <a:chOff x="4851400" y="1971912"/>
            <a:chExt cx="3987800" cy="2671826"/>
          </a:xfrm>
        </p:grpSpPr>
        <p:sp>
          <p:nvSpPr>
            <p:cNvPr id="12" name="椭圆形标注 11"/>
            <p:cNvSpPr/>
            <p:nvPr/>
          </p:nvSpPr>
          <p:spPr bwMode="auto">
            <a:xfrm>
              <a:off x="4851400" y="1971912"/>
              <a:ext cx="3987800" cy="2671826"/>
            </a:xfrm>
            <a:prstGeom prst="wedgeEllipseCallout">
              <a:avLst/>
            </a:prstGeom>
            <a:solidFill>
              <a:schemeClr val="bg1"/>
            </a:solidFill>
            <a:ln w="285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5063807" y="2537458"/>
              <a:ext cx="3775393" cy="1308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该怎样制作一个</a:t>
              </a:r>
              <a:endPara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lang="zh-CN" altLang="en-US" sz="2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优课教育</a:t>
              </a:r>
              <a:r>
                <a:rPr lang="en-US" altLang="zh-CN" sz="2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sz="2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首页</a:t>
              </a:r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呢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zh-CN" altLang="en-US" sz="2800" dirty="0"/>
            </a:p>
          </p:txBody>
        </p:sp>
      </p:grpSp>
      <p:pic>
        <p:nvPicPr>
          <p:cNvPr id="17410" name="Picture 2" descr="优课教育网站首页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684" y="2201085"/>
            <a:ext cx="3899455" cy="3165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87094" y="2882951"/>
            <a:ext cx="6264696" cy="1453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在制作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“优课教育”网站首页面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之前，小思需要做一些页面建设的准备工作，主要包括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网站素材整理、页面结构分析、定义基础样式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网站素材整理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建立站点</a:t>
            </a:r>
            <a:endParaRPr lang="zh-CN" altLang="en-US" sz="2000" dirty="0"/>
          </a:p>
        </p:txBody>
      </p:sp>
      <p:grpSp>
        <p:nvGrpSpPr>
          <p:cNvPr id="11" name="Group 5"/>
          <p:cNvGrpSpPr/>
          <p:nvPr/>
        </p:nvGrpSpPr>
        <p:grpSpPr bwMode="auto">
          <a:xfrm>
            <a:off x="3629641" y="4050971"/>
            <a:ext cx="1851025" cy="1049338"/>
            <a:chOff x="0" y="0"/>
            <a:chExt cx="1850766" cy="1048162"/>
          </a:xfrm>
        </p:grpSpPr>
        <p:sp>
          <p:nvSpPr>
            <p:cNvPr id="12" name="椭圆 2"/>
            <p:cNvSpPr/>
            <p:nvPr/>
          </p:nvSpPr>
          <p:spPr bwMode="auto">
            <a:xfrm>
              <a:off x="0" y="124940"/>
              <a:ext cx="1850766" cy="923222"/>
            </a:xfrm>
            <a:custGeom>
              <a:avLst/>
              <a:gdLst>
                <a:gd name="T0" fmla="*/ 0 w 2768819"/>
                <a:gd name="T1" fmla="*/ 0 h 989699"/>
                <a:gd name="T2" fmla="*/ 648 w 2768819"/>
                <a:gd name="T3" fmla="*/ 40695 h 989699"/>
                <a:gd name="T4" fmla="*/ 1313 w 2768819"/>
                <a:gd name="T5" fmla="*/ 0 h 989699"/>
                <a:gd name="T6" fmla="*/ 656 w 2768819"/>
                <a:gd name="T7" fmla="*/ 264095 h 989699"/>
                <a:gd name="T8" fmla="*/ 0 w 2768819"/>
                <a:gd name="T9" fmla="*/ 0 h 9896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68819" h="989699">
                  <a:moveTo>
                    <a:pt x="0" y="0"/>
                  </a:moveTo>
                  <a:cubicBezTo>
                    <a:pt x="380260" y="70629"/>
                    <a:pt x="883212" y="152500"/>
                    <a:pt x="1365445" y="152500"/>
                  </a:cubicBezTo>
                  <a:cubicBezTo>
                    <a:pt x="1847678" y="152500"/>
                    <a:pt x="2284258" y="91012"/>
                    <a:pt x="2768819" y="0"/>
                  </a:cubicBezTo>
                  <a:cubicBezTo>
                    <a:pt x="2572779" y="576015"/>
                    <a:pt x="2026905" y="989699"/>
                    <a:pt x="1384409" y="989699"/>
                  </a:cubicBezTo>
                  <a:cubicBezTo>
                    <a:pt x="741914" y="989699"/>
                    <a:pt x="196039" y="576015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64"/>
                </a:gs>
                <a:gs pos="17999">
                  <a:srgbClr val="004764"/>
                </a:gs>
                <a:gs pos="67999">
                  <a:srgbClr val="009AD9"/>
                </a:gs>
                <a:gs pos="100000">
                  <a:srgbClr val="00B8FF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6" name="椭圆 10"/>
            <p:cNvSpPr/>
            <p:nvPr/>
          </p:nvSpPr>
          <p:spPr bwMode="auto">
            <a:xfrm>
              <a:off x="47" y="0"/>
              <a:ext cx="1850544" cy="268518"/>
            </a:xfrm>
            <a:custGeom>
              <a:avLst/>
              <a:gdLst>
                <a:gd name="T0" fmla="*/ 0 w 1855751"/>
                <a:gd name="T1" fmla="*/ 4622 h 322835"/>
                <a:gd name="T2" fmla="*/ 847952 w 1855751"/>
                <a:gd name="T3" fmla="*/ 2 h 322835"/>
                <a:gd name="T4" fmla="*/ 1759278 w 1855751"/>
                <a:gd name="T5" fmla="*/ 4766 h 322835"/>
                <a:gd name="T6" fmla="*/ 845970 w 1855751"/>
                <a:gd name="T7" fmla="*/ 9721 h 322835"/>
                <a:gd name="T8" fmla="*/ 0 w 1855751"/>
                <a:gd name="T9" fmla="*/ 4622 h 3228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55751" h="322835">
                  <a:moveTo>
                    <a:pt x="0" y="153077"/>
                  </a:moveTo>
                  <a:cubicBezTo>
                    <a:pt x="33893" y="35645"/>
                    <a:pt x="585162" y="-781"/>
                    <a:pt x="894454" y="13"/>
                  </a:cubicBezTo>
                  <a:cubicBezTo>
                    <a:pt x="1203746" y="807"/>
                    <a:pt x="1842019" y="48699"/>
                    <a:pt x="1855751" y="157839"/>
                  </a:cubicBezTo>
                  <a:cubicBezTo>
                    <a:pt x="1812889" y="213003"/>
                    <a:pt x="1365462" y="333923"/>
                    <a:pt x="892361" y="322016"/>
                  </a:cubicBezTo>
                  <a:cubicBezTo>
                    <a:pt x="409709" y="322016"/>
                    <a:pt x="75442" y="209390"/>
                    <a:pt x="0" y="153077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764"/>
                </a:gs>
                <a:gs pos="17999">
                  <a:srgbClr val="004764"/>
                </a:gs>
                <a:gs pos="67999">
                  <a:srgbClr val="009AD9"/>
                </a:gs>
                <a:gs pos="100000">
                  <a:srgbClr val="00B8FF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0" name="Group 11"/>
          <p:cNvGrpSpPr/>
          <p:nvPr/>
        </p:nvGrpSpPr>
        <p:grpSpPr bwMode="auto">
          <a:xfrm>
            <a:off x="3599478" y="3258973"/>
            <a:ext cx="1906588" cy="868362"/>
            <a:chOff x="0" y="0"/>
            <a:chExt cx="1906927" cy="868230"/>
          </a:xfrm>
        </p:grpSpPr>
        <p:sp>
          <p:nvSpPr>
            <p:cNvPr id="21" name="椭圆 6"/>
            <p:cNvSpPr/>
            <p:nvPr/>
          </p:nvSpPr>
          <p:spPr bwMode="auto">
            <a:xfrm>
              <a:off x="0" y="110698"/>
              <a:ext cx="1906927" cy="757532"/>
            </a:xfrm>
            <a:custGeom>
              <a:avLst/>
              <a:gdLst>
                <a:gd name="T0" fmla="*/ 158 w 2852836"/>
                <a:gd name="T1" fmla="*/ 0 h 812079"/>
                <a:gd name="T2" fmla="*/ 675 w 2852836"/>
                <a:gd name="T3" fmla="*/ 48804 h 812079"/>
                <a:gd name="T4" fmla="*/ 1161 w 2852836"/>
                <a:gd name="T5" fmla="*/ 6290 h 812079"/>
                <a:gd name="T6" fmla="*/ 1192 w 2852836"/>
                <a:gd name="T7" fmla="*/ 280 h 812079"/>
                <a:gd name="T8" fmla="*/ 1354 w 2852836"/>
                <a:gd name="T9" fmla="*/ 172617 h 812079"/>
                <a:gd name="T10" fmla="*/ 677 w 2852836"/>
                <a:gd name="T11" fmla="*/ 216695 h 812079"/>
                <a:gd name="T12" fmla="*/ 0 w 2852836"/>
                <a:gd name="T13" fmla="*/ 172617 h 812079"/>
                <a:gd name="T14" fmla="*/ 158 w 2852836"/>
                <a:gd name="T15" fmla="*/ 0 h 8120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52836" h="812079">
                  <a:moveTo>
                    <a:pt x="334026" y="0"/>
                  </a:moveTo>
                  <a:cubicBezTo>
                    <a:pt x="629853" y="114341"/>
                    <a:pt x="1009624" y="182893"/>
                    <a:pt x="1423773" y="182893"/>
                  </a:cubicBezTo>
                  <a:cubicBezTo>
                    <a:pt x="1807753" y="182893"/>
                    <a:pt x="2162182" y="123965"/>
                    <a:pt x="2447320" y="23572"/>
                  </a:cubicBezTo>
                  <a:cubicBezTo>
                    <a:pt x="2470720" y="18147"/>
                    <a:pt x="2493390" y="11141"/>
                    <a:pt x="2514376" y="1055"/>
                  </a:cubicBezTo>
                  <a:cubicBezTo>
                    <a:pt x="2679522" y="179535"/>
                    <a:pt x="2797076" y="401441"/>
                    <a:pt x="2852836" y="646891"/>
                  </a:cubicBezTo>
                  <a:cubicBezTo>
                    <a:pt x="2427255" y="752598"/>
                    <a:pt x="1941751" y="812079"/>
                    <a:pt x="1426418" y="812079"/>
                  </a:cubicBezTo>
                  <a:cubicBezTo>
                    <a:pt x="911085" y="812079"/>
                    <a:pt x="425581" y="752598"/>
                    <a:pt x="0" y="646891"/>
                  </a:cubicBezTo>
                  <a:cubicBezTo>
                    <a:pt x="55592" y="402182"/>
                    <a:pt x="172605" y="180875"/>
                    <a:pt x="33402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73401"/>
                </a:gs>
                <a:gs pos="41000">
                  <a:srgbClr val="FF7711"/>
                </a:gs>
                <a:gs pos="62000">
                  <a:srgbClr val="FFAA01"/>
                </a:gs>
                <a:gs pos="88000">
                  <a:srgbClr val="FFC000"/>
                </a:gs>
                <a:gs pos="100000">
                  <a:srgbClr val="FECE02"/>
                </a:gs>
              </a:gsLst>
              <a:lin ang="18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2" name="椭圆 10"/>
            <p:cNvSpPr/>
            <p:nvPr/>
          </p:nvSpPr>
          <p:spPr bwMode="auto">
            <a:xfrm>
              <a:off x="227718" y="0"/>
              <a:ext cx="1449802" cy="281550"/>
            </a:xfrm>
            <a:custGeom>
              <a:avLst/>
              <a:gdLst>
                <a:gd name="T0" fmla="*/ 0 w 1747836"/>
                <a:gd name="T1" fmla="*/ 4022 h 338503"/>
                <a:gd name="T2" fmla="*/ 24709 w 1747836"/>
                <a:gd name="T3" fmla="*/ 0 h 338503"/>
                <a:gd name="T4" fmla="*/ 50102 w 1747836"/>
                <a:gd name="T5" fmla="*/ 4022 h 338503"/>
                <a:gd name="T6" fmla="*/ 23890 w 1747836"/>
                <a:gd name="T7" fmla="*/ 10201 h 338503"/>
                <a:gd name="T8" fmla="*/ 0 w 1747836"/>
                <a:gd name="T9" fmla="*/ 4022 h 3385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7836" h="338503">
                  <a:moveTo>
                    <a:pt x="0" y="133220"/>
                  </a:moveTo>
                  <a:cubicBezTo>
                    <a:pt x="4763" y="65001"/>
                    <a:pt x="379360" y="0"/>
                    <a:pt x="862012" y="0"/>
                  </a:cubicBezTo>
                  <a:cubicBezTo>
                    <a:pt x="1344664" y="0"/>
                    <a:pt x="1704974" y="39955"/>
                    <a:pt x="1747836" y="133220"/>
                  </a:cubicBezTo>
                  <a:cubicBezTo>
                    <a:pt x="1704974" y="188384"/>
                    <a:pt x="1306538" y="349785"/>
                    <a:pt x="833437" y="337878"/>
                  </a:cubicBezTo>
                  <a:cubicBezTo>
                    <a:pt x="350785" y="337878"/>
                    <a:pt x="35718" y="189533"/>
                    <a:pt x="0" y="133220"/>
                  </a:cubicBezTo>
                  <a:close/>
                </a:path>
              </a:pathLst>
            </a:custGeom>
            <a:gradFill rotWithShape="1">
              <a:gsLst>
                <a:gs pos="0">
                  <a:srgbClr val="A73401"/>
                </a:gs>
                <a:gs pos="42999">
                  <a:srgbClr val="FF7711"/>
                </a:gs>
                <a:gs pos="75000">
                  <a:srgbClr val="FFAA01"/>
                </a:gs>
                <a:gs pos="88000">
                  <a:srgbClr val="FFC000"/>
                </a:gs>
                <a:gs pos="100000">
                  <a:srgbClr val="FECE02"/>
                </a:gs>
              </a:gsLst>
              <a:lin ang="4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23" name="Group 14"/>
          <p:cNvGrpSpPr/>
          <p:nvPr/>
        </p:nvGrpSpPr>
        <p:grpSpPr bwMode="auto">
          <a:xfrm>
            <a:off x="3899516" y="2690648"/>
            <a:ext cx="1304925" cy="631825"/>
            <a:chOff x="0" y="0"/>
            <a:chExt cx="1569720" cy="759442"/>
          </a:xfrm>
        </p:grpSpPr>
        <p:sp>
          <p:nvSpPr>
            <p:cNvPr id="24" name="椭圆 4"/>
            <p:cNvSpPr/>
            <p:nvPr/>
          </p:nvSpPr>
          <p:spPr bwMode="auto">
            <a:xfrm>
              <a:off x="0" y="0"/>
              <a:ext cx="1569720" cy="759442"/>
            </a:xfrm>
            <a:custGeom>
              <a:avLst/>
              <a:gdLst>
                <a:gd name="T0" fmla="*/ 6203 w 2054038"/>
                <a:gd name="T1" fmla="*/ 4214 h 677149"/>
                <a:gd name="T2" fmla="*/ 12407 w 2054038"/>
                <a:gd name="T3" fmla="*/ 4357198 h 677149"/>
                <a:gd name="T4" fmla="*/ 6203 w 2054038"/>
                <a:gd name="T5" fmla="*/ 5985242 h 677149"/>
                <a:gd name="T6" fmla="*/ 0 w 2054038"/>
                <a:gd name="T7" fmla="*/ 4297152 h 677149"/>
                <a:gd name="T8" fmla="*/ 6203 w 2054038"/>
                <a:gd name="T9" fmla="*/ 4214 h 6771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54038" h="677149">
                  <a:moveTo>
                    <a:pt x="1027019" y="476"/>
                  </a:moveTo>
                  <a:cubicBezTo>
                    <a:pt x="1493997" y="-11131"/>
                    <a:pt x="1853323" y="190395"/>
                    <a:pt x="2054038" y="492958"/>
                  </a:cubicBezTo>
                  <a:cubicBezTo>
                    <a:pt x="1757656" y="608038"/>
                    <a:pt x="1442853" y="677149"/>
                    <a:pt x="1027019" y="677149"/>
                  </a:cubicBezTo>
                  <a:cubicBezTo>
                    <a:pt x="611185" y="677149"/>
                    <a:pt x="296382" y="601244"/>
                    <a:pt x="0" y="486164"/>
                  </a:cubicBezTo>
                  <a:cubicBezTo>
                    <a:pt x="210197" y="190396"/>
                    <a:pt x="684679" y="-656"/>
                    <a:pt x="1027019" y="476"/>
                  </a:cubicBezTo>
                  <a:close/>
                </a:path>
              </a:pathLst>
            </a:custGeom>
            <a:gradFill rotWithShape="1">
              <a:gsLst>
                <a:gs pos="0">
                  <a:srgbClr val="BE1247"/>
                </a:gs>
                <a:gs pos="27000">
                  <a:srgbClr val="D2144F"/>
                </a:gs>
                <a:gs pos="66000">
                  <a:srgbClr val="F87477"/>
                </a:gs>
                <a:gs pos="100000">
                  <a:srgbClr val="FA9496"/>
                </a:gs>
              </a:gsLst>
              <a:lin ang="192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25" name="Group 16"/>
            <p:cNvGrpSpPr/>
            <p:nvPr/>
          </p:nvGrpSpPr>
          <p:grpSpPr bwMode="auto">
            <a:xfrm>
              <a:off x="492487" y="61980"/>
              <a:ext cx="820862" cy="579001"/>
              <a:chOff x="0" y="0"/>
              <a:chExt cx="682752" cy="481584"/>
            </a:xfrm>
          </p:grpSpPr>
          <p:pic>
            <p:nvPicPr>
              <p:cNvPr id="26" name="椭圆 15"/>
              <p:cNvPicPr>
                <a:picLocks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682752" cy="4815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Text Box 18"/>
              <p:cNvSpPr txBox="1">
                <a:spLocks noChangeArrowheads="1"/>
              </p:cNvSpPr>
              <p:nvPr/>
            </p:nvSpPr>
            <p:spPr bwMode="auto">
              <a:xfrm rot="277197">
                <a:off x="101490" y="75279"/>
                <a:ext cx="479507" cy="331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cxnSp>
        <p:nvCxnSpPr>
          <p:cNvPr id="28" name="直接连接符 16"/>
          <p:cNvCxnSpPr>
            <a:cxnSpLocks noChangeShapeType="1"/>
          </p:cNvCxnSpPr>
          <p:nvPr/>
        </p:nvCxnSpPr>
        <p:spPr bwMode="auto">
          <a:xfrm>
            <a:off x="5059978" y="3028785"/>
            <a:ext cx="3133725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TextBox 11"/>
          <p:cNvSpPr txBox="1">
            <a:spLocks noChangeArrowheads="1"/>
          </p:cNvSpPr>
          <p:nvPr/>
        </p:nvSpPr>
        <p:spPr bwMode="auto">
          <a:xfrm flipH="1">
            <a:off x="6054529" y="2641435"/>
            <a:ext cx="24653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创建网站根目录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11"/>
          <p:cNvSpPr txBox="1">
            <a:spLocks noChangeArrowheads="1"/>
          </p:cNvSpPr>
          <p:nvPr/>
        </p:nvSpPr>
        <p:spPr bwMode="auto">
          <a:xfrm flipH="1">
            <a:off x="6092628" y="4440073"/>
            <a:ext cx="17917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新建站点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22"/>
          <p:cNvCxnSpPr>
            <a:cxnSpLocks noChangeShapeType="1"/>
          </p:cNvCxnSpPr>
          <p:nvPr/>
        </p:nvCxnSpPr>
        <p:spPr bwMode="auto">
          <a:xfrm>
            <a:off x="5277466" y="3803485"/>
            <a:ext cx="2916237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Box 11"/>
          <p:cNvSpPr txBox="1">
            <a:spLocks noChangeArrowheads="1"/>
          </p:cNvSpPr>
          <p:nvPr/>
        </p:nvSpPr>
        <p:spPr bwMode="auto">
          <a:xfrm flipH="1">
            <a:off x="6054527" y="3416135"/>
            <a:ext cx="31361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在根目录下新建文件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11"/>
          <p:cNvSpPr txBox="1">
            <a:spLocks noChangeArrowheads="1"/>
          </p:cNvSpPr>
          <p:nvPr/>
        </p:nvSpPr>
        <p:spPr bwMode="auto">
          <a:xfrm flipH="1">
            <a:off x="3969366" y="2903373"/>
            <a:ext cx="1309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step1</a:t>
            </a:r>
            <a:endParaRPr lang="en-US" altLang="zh-CN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11"/>
          <p:cNvSpPr txBox="1">
            <a:spLocks noChangeArrowheads="1"/>
          </p:cNvSpPr>
          <p:nvPr/>
        </p:nvSpPr>
        <p:spPr bwMode="auto">
          <a:xfrm flipH="1">
            <a:off x="3969366" y="3663785"/>
            <a:ext cx="1309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step2</a:t>
            </a:r>
            <a:endParaRPr lang="en-US" altLang="zh-CN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11"/>
          <p:cNvSpPr txBox="1">
            <a:spLocks noChangeArrowheads="1"/>
          </p:cNvSpPr>
          <p:nvPr/>
        </p:nvSpPr>
        <p:spPr bwMode="auto">
          <a:xfrm flipH="1">
            <a:off x="3969366" y="4430384"/>
            <a:ext cx="13096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step3</a:t>
            </a:r>
            <a:endParaRPr lang="en-US" altLang="zh-CN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22"/>
          <p:cNvCxnSpPr>
            <a:cxnSpLocks noChangeShapeType="1"/>
          </p:cNvCxnSpPr>
          <p:nvPr/>
        </p:nvCxnSpPr>
        <p:spPr bwMode="auto">
          <a:xfrm>
            <a:off x="5059749" y="4798684"/>
            <a:ext cx="2916237" cy="0"/>
          </a:xfrm>
          <a:prstGeom prst="line">
            <a:avLst/>
          </a:prstGeom>
          <a:noFill/>
          <a:ln w="9525">
            <a:solidFill>
              <a:srgbClr val="262626"/>
            </a:solidFill>
            <a:prstDash val="sysDash"/>
            <a:round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网站素材整理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切图</a:t>
            </a:r>
            <a:endParaRPr lang="zh-CN" altLang="en-US" sz="2000" dirty="0"/>
          </a:p>
        </p:txBody>
      </p:sp>
      <p:sp>
        <p:nvSpPr>
          <p:cNvPr id="42" name="圆角矩形 41"/>
          <p:cNvSpPr/>
          <p:nvPr/>
        </p:nvSpPr>
        <p:spPr>
          <a:xfrm>
            <a:off x="1019175" y="1604798"/>
            <a:ext cx="10440988" cy="1010697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3" name="TextBox 38"/>
          <p:cNvSpPr txBox="1"/>
          <p:nvPr/>
        </p:nvSpPr>
        <p:spPr>
          <a:xfrm>
            <a:off x="1585974" y="1754840"/>
            <a:ext cx="948207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Adobe Fireworks CS6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的切片工具，</a:t>
            </a:r>
            <a:r>
              <a:rPr lang="zh-CN" altLang="zh-CN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“优课教育”页面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中的素材图片，存储在站点中的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images”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文件夹中。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5" name="矩形 93"/>
          <p:cNvSpPr/>
          <p:nvPr/>
        </p:nvSpPr>
        <p:spPr>
          <a:xfrm rot="10800000">
            <a:off x="11076120" y="223145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pic>
        <p:nvPicPr>
          <p:cNvPr id="18434" name="图片 1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" t="18175" r="2267" b="12045"/>
          <a:stretch>
            <a:fillRect/>
          </a:stretch>
        </p:blipFill>
        <p:spPr bwMode="auto">
          <a:xfrm>
            <a:off x="3086100" y="2889313"/>
            <a:ext cx="5372100" cy="3270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页面结构分析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 bwMode="auto">
          <a:xfrm>
            <a:off x="1370368" y="2292090"/>
            <a:ext cx="3966741" cy="2292350"/>
            <a:chOff x="450056" y="2672554"/>
            <a:chExt cx="5116819" cy="2291733"/>
          </a:xfrm>
        </p:grpSpPr>
        <p:sp>
          <p:nvSpPr>
            <p:cNvPr id="47" name="圆角矩形标注 46"/>
            <p:cNvSpPr/>
            <p:nvPr/>
          </p:nvSpPr>
          <p:spPr bwMode="auto">
            <a:xfrm rot="16200000" flipH="1">
              <a:off x="1862599" y="1260011"/>
              <a:ext cx="2291733" cy="5116819"/>
            </a:xfrm>
            <a:prstGeom prst="wedgeRoundRectCallou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48" name="矩形 30"/>
            <p:cNvSpPr>
              <a:spLocks noChangeArrowheads="1"/>
            </p:cNvSpPr>
            <p:nvPr/>
          </p:nvSpPr>
          <p:spPr bwMode="auto">
            <a:xfrm>
              <a:off x="764811" y="3129219"/>
              <a:ext cx="4487309" cy="1200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“优课教育”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页面从上到下可以分为</a:t>
              </a:r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个模块。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5880100" y="1511300"/>
            <a:ext cx="1281439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880099" y="1511300"/>
          <a:ext cx="5431719" cy="439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6" name="" r:id="rId1" imgW="24485600" imgH="19799300" progId="Visio.Drawing.11">
                  <p:embed/>
                </p:oleObj>
              </mc:Choice>
              <mc:Fallback>
                <p:oleObj name="" r:id="rId1" imgW="24485600" imgH="197993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099" y="1511300"/>
                        <a:ext cx="5431719" cy="4394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同侧圆角矩形 49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1.HTML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结构分析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页面结构分析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5880100" y="1511300"/>
            <a:ext cx="1281439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0" name="同侧圆角矩形 49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2.CSS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样式分析</a:t>
            </a:r>
            <a:endParaRPr lang="zh-CN" altLang="en-US" sz="2000" dirty="0"/>
          </a:p>
        </p:txBody>
      </p:sp>
      <p:sp>
        <p:nvSpPr>
          <p:cNvPr id="10" name="圆角矩形 9"/>
          <p:cNvSpPr/>
          <p:nvPr/>
        </p:nvSpPr>
        <p:spPr>
          <a:xfrm>
            <a:off x="1019175" y="2696480"/>
            <a:ext cx="10440988" cy="1847529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1" name="TextBox 38"/>
          <p:cNvSpPr txBox="1"/>
          <p:nvPr/>
        </p:nvSpPr>
        <p:spPr>
          <a:xfrm>
            <a:off x="1585974" y="3080522"/>
            <a:ext cx="948207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“优课教育”页面中。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“导航”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“版权信息”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模块通栏</a:t>
            </a:r>
            <a:r>
              <a:rPr lang="zh-CN" altLang="en-US" sz="16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“主体模块”宽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980px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且居中显示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。另外，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页面背景为浅橙色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，页面中的文字多为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字体，可以通过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公共样式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进行定义。最后，在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“导航”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“精品展示”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模块中，需要设置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鼠标经过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悬停时超链接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的状态。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93"/>
          <p:cNvSpPr/>
          <p:nvPr/>
        </p:nvSpPr>
        <p:spPr>
          <a:xfrm>
            <a:off x="1024831" y="2696479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3" name="矩形 93"/>
          <p:cNvSpPr/>
          <p:nvPr/>
        </p:nvSpPr>
        <p:spPr>
          <a:xfrm rot="10800000">
            <a:off x="11076120" y="4159966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定义基础样式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5880100" y="1511300"/>
            <a:ext cx="1281439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0" name="同侧圆角矩形 49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页面布局</a:t>
            </a:r>
            <a:endParaRPr lang="zh-CN" altLang="en-US" sz="2000" dirty="0"/>
          </a:p>
        </p:txBody>
      </p:sp>
      <p:grpSp>
        <p:nvGrpSpPr>
          <p:cNvPr id="3" name="组合 2"/>
          <p:cNvGrpSpPr/>
          <p:nvPr/>
        </p:nvGrpSpPr>
        <p:grpSpPr>
          <a:xfrm>
            <a:off x="1019175" y="1660159"/>
            <a:ext cx="10440988" cy="971231"/>
            <a:chOff x="1019175" y="2696479"/>
            <a:chExt cx="10440988" cy="971231"/>
          </a:xfrm>
        </p:grpSpPr>
        <p:sp>
          <p:nvSpPr>
            <p:cNvPr id="10" name="圆角矩形 9"/>
            <p:cNvSpPr/>
            <p:nvPr/>
          </p:nvSpPr>
          <p:spPr>
            <a:xfrm>
              <a:off x="1019175" y="2696481"/>
              <a:ext cx="10440988" cy="94841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TextBox 38"/>
            <p:cNvSpPr txBox="1"/>
            <p:nvPr/>
          </p:nvSpPr>
          <p:spPr>
            <a:xfrm>
              <a:off x="1585974" y="3007761"/>
              <a:ext cx="9482075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站点根目录下新建一个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文件，命名为“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project05”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，然后使用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&lt;div&gt;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标签对页面进行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布局。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93"/>
            <p:cNvSpPr/>
            <p:nvPr/>
          </p:nvSpPr>
          <p:spPr>
            <a:xfrm>
              <a:off x="1024831" y="2696479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矩形 93"/>
            <p:cNvSpPr/>
            <p:nvPr/>
          </p:nvSpPr>
          <p:spPr>
            <a:xfrm rot="10800000">
              <a:off x="11076120" y="328366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4" name="同侧圆角矩形 13"/>
          <p:cNvSpPr/>
          <p:nvPr/>
        </p:nvSpPr>
        <p:spPr>
          <a:xfrm rot="10800000">
            <a:off x="1019175" y="3262297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19175" y="3295605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定义基础样式</a:t>
            </a:r>
            <a:endParaRPr lang="zh-CN" altLang="en-US" sz="2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1019175" y="4144279"/>
            <a:ext cx="10440988" cy="1265921"/>
            <a:chOff x="1019175" y="2696479"/>
            <a:chExt cx="10440988" cy="1265921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2696481"/>
              <a:ext cx="10440988" cy="1265919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8" name="TextBox 38"/>
            <p:cNvSpPr txBox="1"/>
            <p:nvPr/>
          </p:nvSpPr>
          <p:spPr>
            <a:xfrm>
              <a:off x="1585974" y="3007761"/>
              <a:ext cx="9482075" cy="695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站点根目录下的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文件夹内新建样式表文件“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style05.css”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，使用链入式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在“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project05.html”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文件中引入样式表文件。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93"/>
            <p:cNvSpPr/>
            <p:nvPr/>
          </p:nvSpPr>
          <p:spPr>
            <a:xfrm>
              <a:off x="1024831" y="2696479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0" name="矩形 93"/>
            <p:cNvSpPr/>
            <p:nvPr/>
          </p:nvSpPr>
          <p:spPr>
            <a:xfrm rot="10800000">
              <a:off x="11076120" y="328366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5-5】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44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“导航”模块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5880100" y="1511300"/>
            <a:ext cx="1281439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9438" y="1231265"/>
            <a:ext cx="1634522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749438" y="1231265"/>
          <a:ext cx="8261324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8" name="" r:id="rId1" imgW="13766800" imgH="2806700" progId="Visio.Drawing.11">
                  <p:embed/>
                </p:oleObj>
              </mc:Choice>
              <mc:Fallback>
                <p:oleObj name="" r:id="rId1" imgW="13766800" imgH="28067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438" y="1231265"/>
                        <a:ext cx="8261324" cy="1679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07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651" y="3125709"/>
            <a:ext cx="6052185" cy="13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650" y="4798225"/>
            <a:ext cx="6048993" cy="137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2523208"/>
            <a:ext cx="7633271" cy="165641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5-6】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36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</a:t>
            </a:r>
            <a:r>
              <a:rPr lang="en-US" altLang="zh-CN" sz="36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banner</a:t>
            </a:r>
            <a:r>
              <a:rPr lang="zh-CN" altLang="en-US" sz="36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”模块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和</a:t>
            </a:r>
            <a:r>
              <a:rPr lang="zh-CN" altLang="en-US" sz="36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“课程分类”模块</a:t>
            </a:r>
            <a:endParaRPr lang="en-GB" altLang="zh-CN" sz="3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5880100" y="1511300"/>
            <a:ext cx="1281439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9438" y="1231265"/>
            <a:ext cx="1634522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762263" y="1647127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020368" y="1973552"/>
          <a:ext cx="5075632" cy="3444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1" name="" r:id="rId1" imgW="12560300" imgH="8534400" progId="Visio.Drawing.11">
                  <p:embed/>
                </p:oleObj>
              </mc:Choice>
              <mc:Fallback>
                <p:oleObj name="" r:id="rId1" imgW="12560300" imgH="85344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368" y="1973552"/>
                        <a:ext cx="5075632" cy="3444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1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038" y="1954213"/>
            <a:ext cx="4702175" cy="346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151255"/>
            <a:ext cx="11687175" cy="41338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89865" y="5473065"/>
            <a:ext cx="60280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padding: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36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" y="1334135"/>
            <a:ext cx="11744325" cy="4191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8325" y="5708015"/>
            <a:ext cx="64998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div1: 313*279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div2: 313*279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div3: 322*279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410" y="1324610"/>
            <a:ext cx="11725275" cy="4210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89865" y="5473065"/>
            <a:ext cx="60280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padding: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8px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10px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8px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6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89865" y="5515610"/>
            <a:ext cx="1306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左上：</a:t>
            </a:r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dd: 162*169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dt:   117*169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43430" y="5515610"/>
            <a:ext cx="1306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下：</a:t>
            </a:r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dd: 162*137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dt:   117*137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410" y="1343660"/>
            <a:ext cx="11725275" cy="41719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96995" y="5515610"/>
            <a:ext cx="1306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上：</a:t>
            </a:r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dd: 162*117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dt:   117*117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50560" y="5515610"/>
            <a:ext cx="1306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下：</a:t>
            </a:r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dd: 162*188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dt:   117*188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77125" y="5515610"/>
            <a:ext cx="1306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右：</a:t>
            </a:r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dd: 205*314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dt:   117*314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2897862"/>
            <a:ext cx="7633271" cy="92333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5-7】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36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“精品展示”模块</a:t>
            </a:r>
            <a:endParaRPr lang="en-GB" altLang="zh-CN" sz="3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07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5880100" y="1511300"/>
            <a:ext cx="1281439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9438" y="1231265"/>
            <a:ext cx="1634522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762263" y="1647127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584796" y="1231266"/>
            <a:ext cx="1313844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584795" y="1059815"/>
          <a:ext cx="6590609" cy="2545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1" name="" r:id="rId1" imgW="14262100" imgH="5511800" progId="Visio.Drawing.11">
                  <p:embed/>
                </p:oleObj>
              </mc:Choice>
              <mc:Fallback>
                <p:oleObj name="" r:id="rId1" imgW="14262100" imgH="55118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795" y="1059815"/>
                        <a:ext cx="6590609" cy="25459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3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069" y="3741546"/>
            <a:ext cx="5804335" cy="2396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941070" y="3730625"/>
            <a:ext cx="210185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&lt;h2&gt; 45px * 259px        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➡</a:t>
            </a:r>
            <a:endParaRPr lang="zh-CN" alt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195" y="1005205"/>
            <a:ext cx="11398250" cy="47078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69620" y="5872480"/>
            <a:ext cx="17259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盒子：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978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 * 355px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边框：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655" y="934085"/>
            <a:ext cx="11868150" cy="49911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4950" y="6024880"/>
            <a:ext cx="212153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padding: 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20px 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005" y="1005840"/>
            <a:ext cx="2828925" cy="27813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5005" y="4110355"/>
            <a:ext cx="136207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的高度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212px 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825" y="1005840"/>
            <a:ext cx="3143250" cy="4210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55745" y="5623560"/>
            <a:ext cx="232791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文字部分的宽高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229px * 66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px 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635" y="1762125"/>
            <a:ext cx="4257675" cy="20250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552180" y="4110355"/>
            <a:ext cx="217551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下部分的宽高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200px * 38px 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2897862"/>
            <a:ext cx="7633271" cy="92333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5-8】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制作</a:t>
            </a:r>
            <a:r>
              <a:rPr lang="zh-CN" altLang="en-US" sz="3600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“版权信息”模块</a:t>
            </a:r>
            <a:endParaRPr lang="en-GB" altLang="zh-CN" sz="3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08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效果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展示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5880100" y="1511300"/>
            <a:ext cx="1281439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49438" y="1231265"/>
            <a:ext cx="1634522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762263" y="1647127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584796" y="1231266"/>
            <a:ext cx="1313844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538" y="1511299"/>
            <a:ext cx="9332934" cy="1403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538" y="3336925"/>
            <a:ext cx="9305504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98880" y="1721484"/>
            <a:ext cx="9794240" cy="410219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4" name="TextBox 38"/>
          <p:cNvSpPr txBox="1"/>
          <p:nvPr/>
        </p:nvSpPr>
        <p:spPr>
          <a:xfrm>
            <a:off x="1716785" y="2440304"/>
            <a:ext cx="9001000" cy="32316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列表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和超链接是网页中必不可少的元素，需要读者能够熟练地运用列表与超链接组织页面元素。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制作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项目时，读者要熟练掌握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CSS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控制列表和超链接，并注意清除列表和超链接的默认样式。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在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实际工作中，读者要注意超链接伪类的几种状态，能够设置超链接在单击前、单击后和鼠标悬停时的样式。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420235" y="1312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139055" y="1312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857875" y="1312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576695" y="13125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PA" val="v5.2.7"/>
  <p:tag name="RESOURCELIBID_ANIM" val="460"/>
</p:tagLst>
</file>

<file path=ppt/tags/tag2.xml><?xml version="1.0" encoding="utf-8"?>
<p:tagLst xmlns:p="http://schemas.openxmlformats.org/presentationml/2006/main">
  <p:tag name="PA" val="v5.2.7"/>
  <p:tag name="RESOURCELIBID_ANIM" val="460"/>
</p:tagLst>
</file>

<file path=ppt/tags/tag3.xml><?xml version="1.0" encoding="utf-8"?>
<p:tagLst xmlns:p="http://schemas.openxmlformats.org/presentationml/2006/main">
  <p:tag name="PA" val="v5.2.7"/>
  <p:tag name="RESOURCELIBID_ANIM" val="460"/>
</p:tagLst>
</file>

<file path=ppt/tags/tag4.xml><?xml version="1.0" encoding="utf-8"?>
<p:tagLst xmlns:p="http://schemas.openxmlformats.org/presentationml/2006/main">
  <p:tag name="PA" val="v5.2.7"/>
  <p:tag name="RESOURCELIBID_ANIM" val="460"/>
</p:tagLst>
</file>

<file path=ppt/tags/tag5.xml><?xml version="1.0" encoding="utf-8"?>
<p:tagLst xmlns:p="http://schemas.openxmlformats.org/presentationml/2006/main">
  <p:tag name="ISPRING_RESOURCE_PATHS_HASH_PRESENTER" val="3b676175a87a61a52b49888dc1caede85834b95f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4909</Words>
  <Application>WPS 演示</Application>
  <PresentationFormat>自定义</PresentationFormat>
  <Paragraphs>512</Paragraphs>
  <Slides>59</Slides>
  <Notes>52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59</vt:i4>
      </vt:variant>
    </vt:vector>
  </HeadingPairs>
  <TitlesOfParts>
    <vt:vector size="84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Yu Gothic UI Semibold</vt:lpstr>
      <vt:lpstr>U.S. 101</vt:lpstr>
      <vt:lpstr>Segoe Print</vt:lpstr>
      <vt:lpstr>Roboto</vt:lpstr>
      <vt:lpstr>Times New Roman</vt:lpstr>
      <vt:lpstr>Open Sans Light</vt:lpstr>
      <vt:lpstr>Courier New</vt:lpstr>
      <vt:lpstr>字魂105号-简雅黑</vt:lpstr>
      <vt:lpstr>Arial Unicode MS</vt:lpstr>
      <vt:lpstr>webwppDefTheme</vt:lpstr>
      <vt:lpstr>Office 主题</vt:lpstr>
      <vt:lpstr>Visio.Drawing.11</vt:lpstr>
      <vt:lpstr>Visio.Drawing.11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陶磊</cp:lastModifiedBy>
  <cp:revision>190</cp:revision>
  <dcterms:created xsi:type="dcterms:W3CDTF">2020-11-11T09:29:00Z</dcterms:created>
  <dcterms:modified xsi:type="dcterms:W3CDTF">2025-10-21T08:04:49Z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D56413D72CF14D05B083B6CB5E7BC8C5_12</vt:lpwstr>
  </property>
</Properties>
</file>