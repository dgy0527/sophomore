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84"/>
  </p:handoutMasterIdLst>
  <p:sldIdLst>
    <p:sldId id="325" r:id="rId4"/>
    <p:sldId id="264" r:id="rId6"/>
    <p:sldId id="328" r:id="rId7"/>
    <p:sldId id="327" r:id="rId8"/>
    <p:sldId id="415" r:id="rId9"/>
    <p:sldId id="309" r:id="rId10"/>
    <p:sldId id="259" r:id="rId11"/>
    <p:sldId id="348" r:id="rId12"/>
    <p:sldId id="416" r:id="rId13"/>
    <p:sldId id="417" r:id="rId14"/>
    <p:sldId id="418" r:id="rId15"/>
    <p:sldId id="493" r:id="rId16"/>
    <p:sldId id="358" r:id="rId17"/>
    <p:sldId id="419" r:id="rId18"/>
    <p:sldId id="420" r:id="rId19"/>
    <p:sldId id="421" r:id="rId20"/>
    <p:sldId id="494" r:id="rId21"/>
    <p:sldId id="422" r:id="rId22"/>
    <p:sldId id="427" r:id="rId23"/>
    <p:sldId id="428" r:id="rId24"/>
    <p:sldId id="495" r:id="rId25"/>
    <p:sldId id="429" r:id="rId26"/>
    <p:sldId id="496" r:id="rId27"/>
    <p:sldId id="431" r:id="rId28"/>
    <p:sldId id="432" r:id="rId29"/>
    <p:sldId id="433" r:id="rId30"/>
    <p:sldId id="435" r:id="rId31"/>
    <p:sldId id="436" r:id="rId32"/>
    <p:sldId id="437" r:id="rId33"/>
    <p:sldId id="434" r:id="rId34"/>
    <p:sldId id="443" r:id="rId35"/>
    <p:sldId id="441" r:id="rId36"/>
    <p:sldId id="442" r:id="rId37"/>
    <p:sldId id="444" r:id="rId38"/>
    <p:sldId id="445" r:id="rId39"/>
    <p:sldId id="448" r:id="rId40"/>
    <p:sldId id="438" r:id="rId41"/>
    <p:sldId id="449" r:id="rId42"/>
    <p:sldId id="446" r:id="rId43"/>
    <p:sldId id="450" r:id="rId44"/>
    <p:sldId id="447" r:id="rId45"/>
    <p:sldId id="451" r:id="rId46"/>
    <p:sldId id="439" r:id="rId47"/>
    <p:sldId id="452" r:id="rId48"/>
    <p:sldId id="453" r:id="rId49"/>
    <p:sldId id="454" r:id="rId50"/>
    <p:sldId id="440" r:id="rId51"/>
    <p:sldId id="455" r:id="rId52"/>
    <p:sldId id="457" r:id="rId53"/>
    <p:sldId id="458" r:id="rId54"/>
    <p:sldId id="473" r:id="rId55"/>
    <p:sldId id="456" r:id="rId56"/>
    <p:sldId id="459" r:id="rId57"/>
    <p:sldId id="460" r:id="rId58"/>
    <p:sldId id="461" r:id="rId59"/>
    <p:sldId id="474" r:id="rId60"/>
    <p:sldId id="462" r:id="rId61"/>
    <p:sldId id="463" r:id="rId62"/>
    <p:sldId id="464" r:id="rId63"/>
    <p:sldId id="465" r:id="rId64"/>
    <p:sldId id="476" r:id="rId65"/>
    <p:sldId id="478" r:id="rId66"/>
    <p:sldId id="479" r:id="rId67"/>
    <p:sldId id="469" r:id="rId68"/>
    <p:sldId id="481" r:id="rId69"/>
    <p:sldId id="480" r:id="rId70"/>
    <p:sldId id="482" r:id="rId71"/>
    <p:sldId id="483" r:id="rId72"/>
    <p:sldId id="488" r:id="rId73"/>
    <p:sldId id="484" r:id="rId74"/>
    <p:sldId id="489" r:id="rId75"/>
    <p:sldId id="485" r:id="rId76"/>
    <p:sldId id="490" r:id="rId77"/>
    <p:sldId id="486" r:id="rId78"/>
    <p:sldId id="491" r:id="rId79"/>
    <p:sldId id="487" r:id="rId80"/>
    <p:sldId id="492" r:id="rId81"/>
    <p:sldId id="338" r:id="rId82"/>
    <p:sldId id="326" r:id="rId83"/>
  </p:sldIdLst>
  <p:sldSz cx="12190095" cy="6859270"/>
  <p:notesSz cx="6858000" cy="9144000"/>
  <p:custDataLst>
    <p:tags r:id="rId8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pos="6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/>
  <p:cmAuthor id="2" name="韩冬" initials="w" lastIdx="3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2F2F2"/>
    <a:srgbClr val="FF0000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6379" autoAdjust="0"/>
  </p:normalViewPr>
  <p:slideViewPr>
    <p:cSldViewPr snapToGrid="0">
      <p:cViewPr varScale="1">
        <p:scale>
          <a:sx n="102" d="100"/>
          <a:sy n="102" d="100"/>
        </p:scale>
        <p:origin x="144" y="294"/>
      </p:cViewPr>
      <p:guideLst>
        <p:guide orient="horz" pos="1049"/>
        <p:guide pos="7151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9" Type="http://schemas.openxmlformats.org/officeDocument/2006/relationships/tags" Target="tags/tag1.xml"/><Relationship Id="rId88" Type="http://schemas.openxmlformats.org/officeDocument/2006/relationships/commentAuthors" Target="commentAuthors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handoutMaster" Target="handoutMasters/handoutMaster1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161280" y="2287270"/>
            <a:ext cx="18681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6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3.wmf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hyperlink" Target="http://www.itcast.cn/images/logo.gif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3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9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oleObject" Target="../embeddings/oleObject4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1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oleObject" Target="../embeddings/oleObject5.bin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3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oleObject" Target="../embeddings/oleObject6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5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oleObject" Target="../embeddings/oleObject7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7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oleObject" Target="../embeddings/oleObject8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09714"/>
            <a:ext cx="7706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4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2  “</a:t>
            </a:r>
            <a:r>
              <a:rPr lang="zh-CN" altLang="en-US" sz="4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博客”页面制作</a:t>
            </a:r>
            <a:endParaRPr lang="zh-CN" altLang="en-US" sz="4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8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文档基本格式，对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文档格式有一个基本的认识。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文档头部相关标签，知道一些常用头部标签的作用。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掌握图像标签的用法，能够制作图文混排页面。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掌握网页中文本的字体、字号和颜色的设置方法。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项目描述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9293" y="2604441"/>
            <a:ext cx="1032292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也被称为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网络日记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，是一种深受欢迎的网络交流方式。在博客中，博主（博客账号的拥有者）可以记录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技术感悟、旅游随笔、心情写照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等。随着互联网用户的激增，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已经成为一种全新的生活、工作、学习的方式。最近热爱旅游的小思想要制作一个关于旅游的个人博客页面，来分享一些旅游心情随笔。由于之前没有接触过网页制作，小思决定先从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、基本格式、基础标签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学起，等夯实基础之后，再着手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“博客”页面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的制作。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76392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96790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827368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54213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HTML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79964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2-2】HTML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文本控制标签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805715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2-3】HTML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图像应用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19265" y="4762913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5693491"/>
            <a:ext cx="1192190" cy="614525"/>
            <a:chOff x="2215144" y="3084852"/>
            <a:chExt cx="1244730" cy="844793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024817" y="4746087"/>
            <a:ext cx="5142331" cy="613062"/>
            <a:chOff x="4315150" y="1647579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页面建设准备工作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5671838"/>
            <a:ext cx="5142331" cy="613062"/>
            <a:chOff x="4315150" y="2341731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制作“头部”模块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9626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1666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24724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37409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制作“博主简介”模块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9984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制作“旅游随笔”模块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22559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2-8】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制作“驴友评论”模块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19265" y="5182790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09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024817" y="5165964"/>
            <a:ext cx="5142331" cy="613062"/>
            <a:chOff x="4315150" y="1647579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2-9】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制作“页脚”模块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en-US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HTML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，主要用来描述网页中的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文字、图像等信息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结构搭建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标签来完成的。因此我们想要制作网页，首先要认识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标签等知识进行讲解，使读者进一步认识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的基本格式，能够说出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文档由哪些标签构成。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各标签，能够说出各标签的含义及其所处位置。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497" y="2107845"/>
            <a:ext cx="4754563" cy="2643187"/>
          </a:xfrm>
          <a:prstGeom prst="rect">
            <a:avLst/>
          </a:prstGeom>
          <a:noFill/>
          <a:ln w="12700">
            <a:solidFill>
              <a:srgbClr val="D9D9D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1"/>
          <p:cNvSpPr txBox="1"/>
          <p:nvPr/>
        </p:nvSpPr>
        <p:spPr>
          <a:xfrm>
            <a:off x="3734772" y="2141182"/>
            <a:ext cx="24765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</a:t>
            </a:r>
            <a:r>
              <a:rPr lang="zh-CN" altLang="en-US" sz="1400" dirty="0" smtClean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智教育：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传智播客教育科技有限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公司是一家专门致力于高素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质软件开发人才培养的高科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技公司。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此致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914400" eaLnBrk="0" hangingPunct="0">
              <a:lnSpc>
                <a:spcPct val="125000"/>
              </a:lnSpc>
              <a:defRPr/>
            </a:pP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敬礼</a:t>
            </a:r>
            <a:endParaRPr lang="en-US" altLang="zh-CN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914400" eaLnBrk="0" hangingPunct="0">
              <a:lnSpc>
                <a:spcPct val="125000"/>
              </a:lnSpc>
              <a:defRPr/>
            </a:pPr>
            <a:r>
              <a:rPr lang="en-US" altLang="zh-CN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400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传智播客学员</a:t>
            </a:r>
            <a:endParaRPr lang="zh-CN" altLang="en-US" sz="1400" dirty="0">
              <a:solidFill>
                <a:srgbClr val="66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43785" y="1575324"/>
            <a:ext cx="4476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写信</a:t>
            </a:r>
            <a:r>
              <a:rPr lang="zh-CN" altLang="zh-CN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需要符合</a:t>
            </a: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书信</a:t>
            </a:r>
            <a:r>
              <a:rPr lang="zh-CN" altLang="zh-CN" spc="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格式要求</a:t>
            </a:r>
            <a:endParaRPr lang="zh-CN" altLang="en-US" spc="2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2508674" y="4884374"/>
            <a:ext cx="7054850" cy="1396645"/>
            <a:chOff x="1219201" y="5098839"/>
            <a:chExt cx="7054512" cy="139613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57299" y="5327355"/>
              <a:ext cx="681004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4050272" y="5098839"/>
              <a:ext cx="1611350" cy="4614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95959"/>
              </a:solidFill>
              <a:miter lim="800000"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>
                <a:solidFill>
                  <a:srgbClr val="1369B2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1219201" y="6494970"/>
              <a:ext cx="684814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1225551" y="5639431"/>
              <a:ext cx="7048162" cy="7499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亦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不例外，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同样需要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先掌握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它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的基本格式，遵从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相应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</a:t>
              </a:r>
              <a:r>
                <a:rPr lang="zh-CN" altLang="en-US" sz="1800" dirty="0">
                  <a:solidFill>
                    <a:srgbClr val="595959"/>
                  </a:solidFill>
                </a:rPr>
                <a:t>。</a:t>
              </a:r>
              <a:endParaRPr lang="en-US" altLang="zh-CN" sz="1800" dirty="0">
                <a:solidFill>
                  <a:srgbClr val="595959"/>
                </a:solidFill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sp>
        <p:nvSpPr>
          <p:cNvPr id="6" name="矩形 45"/>
          <p:cNvSpPr>
            <a:spLocks noChangeArrowheads="1"/>
          </p:cNvSpPr>
          <p:nvPr/>
        </p:nvSpPr>
        <p:spPr bwMode="auto">
          <a:xfrm>
            <a:off x="925868" y="1621142"/>
            <a:ext cx="447103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8"/>
          <p:cNvGrpSpPr/>
          <p:nvPr/>
        </p:nvGrpSpPr>
        <p:grpSpPr bwMode="auto">
          <a:xfrm>
            <a:off x="1019175" y="2258539"/>
            <a:ext cx="10333038" cy="4011632"/>
            <a:chOff x="920750" y="2283718"/>
            <a:chExt cx="8156200" cy="4013027"/>
          </a:xfrm>
        </p:grpSpPr>
        <p:sp>
          <p:nvSpPr>
            <p:cNvPr id="8" name="矩形 7"/>
            <p:cNvSpPr/>
            <p:nvPr/>
          </p:nvSpPr>
          <p:spPr>
            <a:xfrm>
              <a:off x="920750" y="2283718"/>
              <a:ext cx="8156200" cy="40130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251130" y="2414394"/>
              <a:ext cx="7261103" cy="3743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&lt;!DOCTYPE html PUBLIC "-//W3C//DTD XHTML 1.0 Transitional//EN"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"http://www.w3.org/TR/xhtml1/DTD/xhtml1-transitional.dtd"&gt;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&lt;html xmlns="http://www.w3.org/1999/xhtml"&gt;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&lt;head&gt;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&lt;meta http-equiv="Content-Type" content="text/html; charset=utf-8" /&gt;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&lt;title&gt;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无标题文档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title&gt;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&lt;/head&gt;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&lt;body&gt;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&lt;/body&gt;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&lt;/html&gt;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5593199" y="4523158"/>
            <a:ext cx="4521200" cy="1952288"/>
            <a:chOff x="4605252" y="4298470"/>
            <a:chExt cx="4521295" cy="1952941"/>
          </a:xfrm>
        </p:grpSpPr>
        <p:sp>
          <p:nvSpPr>
            <p:cNvPr id="11" name="圆角矩形标注 10"/>
            <p:cNvSpPr/>
            <p:nvPr/>
          </p:nvSpPr>
          <p:spPr bwMode="auto">
            <a:xfrm rot="5400000" flipH="1">
              <a:off x="5889429" y="3014293"/>
              <a:ext cx="1952941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2" name="矩形 1"/>
            <p:cNvSpPr>
              <a:spLocks noChangeArrowheads="1"/>
            </p:cNvSpPr>
            <p:nvPr/>
          </p:nvSpPr>
          <p:spPr bwMode="auto">
            <a:xfrm>
              <a:off x="5058647" y="4473190"/>
              <a:ext cx="3736970" cy="155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&lt;!DOCTYPE&gt;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文档类型声明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&lt;html&gt;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根标签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&lt;head&gt;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头部标签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&lt;body&gt;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主体标签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文档基本格式</a:t>
            </a:r>
            <a:endParaRPr lang="zh-CN" altLang="en-US" sz="2000" dirty="0"/>
          </a:p>
        </p:txBody>
      </p:sp>
      <p:graphicFrame>
        <p:nvGraphicFramePr>
          <p:cNvPr id="6" name="对象 8"/>
          <p:cNvGraphicFramePr>
            <a:graphicFrameLocks noChangeAspect="1"/>
          </p:cNvGraphicFramePr>
          <p:nvPr/>
        </p:nvGraphicFramePr>
        <p:xfrm>
          <a:off x="1024815" y="2162597"/>
          <a:ext cx="61420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7073900" imgH="3530600" progId="Visio.Drawing.11">
                  <p:embed/>
                </p:oleObj>
              </mc:Choice>
              <mc:Fallback>
                <p:oleObj name="" r:id="rId1" imgW="7073900" imgH="3530600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191" r="1619"/>
                      <a:stretch>
                        <a:fillRect/>
                      </a:stretch>
                    </p:blipFill>
                    <p:spPr bwMode="auto">
                      <a:xfrm>
                        <a:off x="1024815" y="2162597"/>
                        <a:ext cx="61420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874" y="3674285"/>
            <a:ext cx="1747837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45"/>
          <p:cNvSpPr>
            <a:spLocks noChangeArrowheads="1"/>
          </p:cNvSpPr>
          <p:nvPr/>
        </p:nvSpPr>
        <p:spPr bwMode="auto">
          <a:xfrm>
            <a:off x="953378" y="1610147"/>
            <a:ext cx="548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版本中，文档格式有了一些的变化。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6912885" y="2237795"/>
            <a:ext cx="3933825" cy="1249362"/>
            <a:chOff x="4571997" y="3719179"/>
            <a:chExt cx="3933429" cy="1249822"/>
          </a:xfrm>
        </p:grpSpPr>
        <p:sp>
          <p:nvSpPr>
            <p:cNvPr id="10" name="圆角矩形标注 9"/>
            <p:cNvSpPr/>
            <p:nvPr/>
          </p:nvSpPr>
          <p:spPr bwMode="auto">
            <a:xfrm rot="16200000" flipV="1">
              <a:off x="5913801" y="2377375"/>
              <a:ext cx="1249822" cy="3933429"/>
            </a:xfrm>
            <a:prstGeom prst="wedgeRoundRect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29"/>
            <p:cNvSpPr>
              <a:spLocks noChangeArrowheads="1"/>
            </p:cNvSpPr>
            <p:nvPr/>
          </p:nvSpPr>
          <p:spPr bwMode="auto">
            <a:xfrm>
              <a:off x="4745566" y="3904140"/>
              <a:ext cx="3559401" cy="831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还简化了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标签，让定义字符编码的格式变得更加简单。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916054" y="5282880"/>
            <a:ext cx="7312025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文档格式中，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&lt;!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doctype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既可以大写，也可以小写，对整个文档格式并没有什么影响。</a:t>
            </a:r>
            <a:endParaRPr lang="zh-CN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标签的分类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，能够写出单标签和双标签的语法格式及用法。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8125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068" y="1115937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36"/>
          <p:cNvGrpSpPr/>
          <p:nvPr/>
        </p:nvGrpSpPr>
        <p:grpSpPr bwMode="auto">
          <a:xfrm>
            <a:off x="4414968" y="1458037"/>
            <a:ext cx="2800350" cy="2089150"/>
            <a:chOff x="763578" y="1772817"/>
            <a:chExt cx="2800310" cy="2088231"/>
          </a:xfrm>
        </p:grpSpPr>
        <p:grpSp>
          <p:nvGrpSpPr>
            <p:cNvPr id="8" name="组合 11"/>
            <p:cNvGrpSpPr/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10" name="椭圆形标注 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椭圆形标注 10"/>
              <p:cNvSpPr/>
              <p:nvPr/>
            </p:nvSpPr>
            <p:spPr>
              <a:xfrm>
                <a:off x="1043413" y="1917052"/>
                <a:ext cx="2592351" cy="1999370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TextBox 10"/>
            <p:cNvSpPr txBox="1">
              <a:spLocks noChangeArrowheads="1"/>
            </p:cNvSpPr>
            <p:nvPr/>
          </p:nvSpPr>
          <p:spPr bwMode="auto">
            <a:xfrm>
              <a:off x="1103297" y="2323070"/>
              <a:ext cx="2170608" cy="101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/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带有“</a:t>
              </a:r>
              <a:r>
                <a:rPr lang="en-US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 &gt;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”符号的元素被称为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7272468" y="2474037"/>
            <a:ext cx="2800350" cy="2089150"/>
            <a:chOff x="5030080" y="1631236"/>
            <a:chExt cx="2800350" cy="2089150"/>
          </a:xfrm>
        </p:grpSpPr>
        <p:grpSp>
          <p:nvGrpSpPr>
            <p:cNvPr id="13" name="组合 12"/>
            <p:cNvGrpSpPr/>
            <p:nvPr/>
          </p:nvGrpSpPr>
          <p:grpSpPr bwMode="auto">
            <a:xfrm>
              <a:off x="5030080" y="1631236"/>
              <a:ext cx="2800350" cy="2089150"/>
              <a:chOff x="956102" y="1844825"/>
              <a:chExt cx="2800310" cy="2160239"/>
            </a:xfrm>
          </p:grpSpPr>
          <p:sp>
            <p:nvSpPr>
              <p:cNvPr id="15" name="椭圆形标注 14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椭圆形标注 15"/>
              <p:cNvSpPr/>
              <p:nvPr/>
            </p:nvSpPr>
            <p:spPr>
              <a:xfrm>
                <a:off x="1043413" y="1917052"/>
                <a:ext cx="2592351" cy="1999370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TextBox 20"/>
            <p:cNvSpPr txBox="1">
              <a:spLocks noChangeArrowheads="1"/>
            </p:cNvSpPr>
            <p:nvPr/>
          </p:nvSpPr>
          <p:spPr bwMode="auto">
            <a:xfrm>
              <a:off x="5478959" y="2135836"/>
              <a:ext cx="2335638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/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例如：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&lt;html&gt;</a:t>
              </a: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&lt;head&gt;</a:t>
              </a: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&lt;body&gt;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都是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4595943" y="3755150"/>
            <a:ext cx="2482850" cy="1851025"/>
            <a:chOff x="2925056" y="3658439"/>
            <a:chExt cx="2483520" cy="1851378"/>
          </a:xfrm>
        </p:grpSpPr>
        <p:grpSp>
          <p:nvGrpSpPr>
            <p:cNvPr id="18" name="组合 16"/>
            <p:cNvGrpSpPr/>
            <p:nvPr/>
          </p:nvGrpSpPr>
          <p:grpSpPr bwMode="auto">
            <a:xfrm>
              <a:off x="2925056" y="3658439"/>
              <a:ext cx="2483520" cy="1851378"/>
              <a:chOff x="956102" y="1844825"/>
              <a:chExt cx="2800310" cy="2160239"/>
            </a:xfrm>
          </p:grpSpPr>
          <p:sp>
            <p:nvSpPr>
              <p:cNvPr id="20" name="椭圆形标注 1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椭圆形标注 20"/>
              <p:cNvSpPr/>
              <p:nvPr/>
            </p:nvSpPr>
            <p:spPr>
              <a:xfrm>
                <a:off x="1043835" y="1917079"/>
                <a:ext cx="2592614" cy="1999055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TextBox 15"/>
            <p:cNvSpPr txBox="1">
              <a:spLocks noChangeArrowheads="1"/>
            </p:cNvSpPr>
            <p:nvPr/>
          </p:nvSpPr>
          <p:spPr bwMode="auto">
            <a:xfrm>
              <a:off x="3187347" y="4139636"/>
              <a:ext cx="2221229" cy="8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也称为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     </a:t>
              </a:r>
              <a:endPara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</a:t>
              </a:r>
              <a:r>
                <a:rPr lang="zh-CN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 bwMode="auto">
          <a:xfrm>
            <a:off x="1019175" y="4192372"/>
            <a:ext cx="1492250" cy="1184275"/>
            <a:chOff x="506677" y="2899213"/>
            <a:chExt cx="1492167" cy="1183970"/>
          </a:xfrm>
          <a:solidFill>
            <a:srgbClr val="007FAC"/>
          </a:solidFill>
        </p:grpSpPr>
        <p:sp>
          <p:nvSpPr>
            <p:cNvPr id="23" name="任意多边形 22"/>
            <p:cNvSpPr/>
            <p:nvPr/>
          </p:nvSpPr>
          <p:spPr>
            <a:xfrm>
              <a:off x="506677" y="2899213"/>
              <a:ext cx="1492167" cy="1183970"/>
            </a:xfrm>
            <a:custGeom>
              <a:avLst/>
              <a:gdLst>
                <a:gd name="connsiteX0" fmla="*/ 0 w 1492167"/>
                <a:gd name="connsiteY0" fmla="*/ 197332 h 1183970"/>
                <a:gd name="connsiteX1" fmla="*/ 197332 w 1492167"/>
                <a:gd name="connsiteY1" fmla="*/ 0 h 1183970"/>
                <a:gd name="connsiteX2" fmla="*/ 1294835 w 1492167"/>
                <a:gd name="connsiteY2" fmla="*/ 0 h 1183970"/>
                <a:gd name="connsiteX3" fmla="*/ 1492167 w 1492167"/>
                <a:gd name="connsiteY3" fmla="*/ 197332 h 1183970"/>
                <a:gd name="connsiteX4" fmla="*/ 1492167 w 1492167"/>
                <a:gd name="connsiteY4" fmla="*/ 986638 h 1183970"/>
                <a:gd name="connsiteX5" fmla="*/ 1294835 w 1492167"/>
                <a:gd name="connsiteY5" fmla="*/ 1183970 h 1183970"/>
                <a:gd name="connsiteX6" fmla="*/ 197332 w 1492167"/>
                <a:gd name="connsiteY6" fmla="*/ 1183970 h 1183970"/>
                <a:gd name="connsiteX7" fmla="*/ 0 w 1492167"/>
                <a:gd name="connsiteY7" fmla="*/ 986638 h 1183970"/>
                <a:gd name="connsiteX8" fmla="*/ 0 w 1492167"/>
                <a:gd name="connsiteY8" fmla="*/ 197332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2167" h="1183970">
                  <a:moveTo>
                    <a:pt x="0" y="197332"/>
                  </a:moveTo>
                  <a:cubicBezTo>
                    <a:pt x="0" y="88349"/>
                    <a:pt x="88349" y="0"/>
                    <a:pt x="197332" y="0"/>
                  </a:cubicBezTo>
                  <a:lnTo>
                    <a:pt x="1294835" y="0"/>
                  </a:lnTo>
                  <a:cubicBezTo>
                    <a:pt x="1403818" y="0"/>
                    <a:pt x="1492167" y="88349"/>
                    <a:pt x="1492167" y="197332"/>
                  </a:cubicBezTo>
                  <a:lnTo>
                    <a:pt x="1492167" y="986638"/>
                  </a:lnTo>
                  <a:cubicBezTo>
                    <a:pt x="1492167" y="1095621"/>
                    <a:pt x="1403818" y="1183970"/>
                    <a:pt x="1294835" y="1183970"/>
                  </a:cubicBezTo>
                  <a:lnTo>
                    <a:pt x="197332" y="1183970"/>
                  </a:lnTo>
                  <a:cubicBezTo>
                    <a:pt x="88349" y="1183970"/>
                    <a:pt x="0" y="1095621"/>
                    <a:pt x="0" y="986638"/>
                  </a:cubicBezTo>
                  <a:lnTo>
                    <a:pt x="0" y="197332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94957" tIns="126377" rIns="194957" bIns="126377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9"/>
            <p:cNvSpPr>
              <a:spLocks noChangeArrowheads="1"/>
            </p:cNvSpPr>
            <p:nvPr/>
          </p:nvSpPr>
          <p:spPr bwMode="auto">
            <a:xfrm>
              <a:off x="608450" y="3253441"/>
              <a:ext cx="1261884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双标签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 bwMode="auto">
          <a:xfrm>
            <a:off x="1024182" y="2380802"/>
            <a:ext cx="1492250" cy="1184275"/>
            <a:chOff x="506677" y="4461228"/>
            <a:chExt cx="1492167" cy="1183970"/>
          </a:xfrm>
          <a:solidFill>
            <a:srgbClr val="116197"/>
          </a:solidFill>
        </p:grpSpPr>
        <p:sp>
          <p:nvSpPr>
            <p:cNvPr id="26" name="任意多边形 25"/>
            <p:cNvSpPr/>
            <p:nvPr/>
          </p:nvSpPr>
          <p:spPr>
            <a:xfrm>
              <a:off x="506677" y="4461228"/>
              <a:ext cx="1492167" cy="1183970"/>
            </a:xfrm>
            <a:custGeom>
              <a:avLst/>
              <a:gdLst>
                <a:gd name="connsiteX0" fmla="*/ 0 w 1492167"/>
                <a:gd name="connsiteY0" fmla="*/ 197332 h 1183970"/>
                <a:gd name="connsiteX1" fmla="*/ 197332 w 1492167"/>
                <a:gd name="connsiteY1" fmla="*/ 0 h 1183970"/>
                <a:gd name="connsiteX2" fmla="*/ 1294835 w 1492167"/>
                <a:gd name="connsiteY2" fmla="*/ 0 h 1183970"/>
                <a:gd name="connsiteX3" fmla="*/ 1492167 w 1492167"/>
                <a:gd name="connsiteY3" fmla="*/ 197332 h 1183970"/>
                <a:gd name="connsiteX4" fmla="*/ 1492167 w 1492167"/>
                <a:gd name="connsiteY4" fmla="*/ 986638 h 1183970"/>
                <a:gd name="connsiteX5" fmla="*/ 1294835 w 1492167"/>
                <a:gd name="connsiteY5" fmla="*/ 1183970 h 1183970"/>
                <a:gd name="connsiteX6" fmla="*/ 197332 w 1492167"/>
                <a:gd name="connsiteY6" fmla="*/ 1183970 h 1183970"/>
                <a:gd name="connsiteX7" fmla="*/ 0 w 1492167"/>
                <a:gd name="connsiteY7" fmla="*/ 986638 h 1183970"/>
                <a:gd name="connsiteX8" fmla="*/ 0 w 1492167"/>
                <a:gd name="connsiteY8" fmla="*/ 197332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2167" h="1183970">
                  <a:moveTo>
                    <a:pt x="0" y="197332"/>
                  </a:moveTo>
                  <a:cubicBezTo>
                    <a:pt x="0" y="88349"/>
                    <a:pt x="88349" y="0"/>
                    <a:pt x="197332" y="0"/>
                  </a:cubicBezTo>
                  <a:lnTo>
                    <a:pt x="1294835" y="0"/>
                  </a:lnTo>
                  <a:cubicBezTo>
                    <a:pt x="1403818" y="0"/>
                    <a:pt x="1492167" y="88349"/>
                    <a:pt x="1492167" y="197332"/>
                  </a:cubicBezTo>
                  <a:lnTo>
                    <a:pt x="1492167" y="986638"/>
                  </a:lnTo>
                  <a:cubicBezTo>
                    <a:pt x="1492167" y="1095621"/>
                    <a:pt x="1403818" y="1183970"/>
                    <a:pt x="1294835" y="1183970"/>
                  </a:cubicBezTo>
                  <a:lnTo>
                    <a:pt x="197332" y="1183970"/>
                  </a:lnTo>
                  <a:cubicBezTo>
                    <a:pt x="88349" y="1183970"/>
                    <a:pt x="0" y="1095621"/>
                    <a:pt x="0" y="986638"/>
                  </a:cubicBezTo>
                  <a:lnTo>
                    <a:pt x="0" y="197332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94957" tIns="126377" rIns="194957" bIns="126377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2"/>
            <p:cNvSpPr>
              <a:spLocks noChangeArrowheads="1"/>
            </p:cNvSpPr>
            <p:nvPr/>
          </p:nvSpPr>
          <p:spPr bwMode="auto">
            <a:xfrm>
              <a:off x="597975" y="4812217"/>
              <a:ext cx="1261884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单标签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 bwMode="auto">
          <a:xfrm>
            <a:off x="2510894" y="4192361"/>
            <a:ext cx="3877462" cy="1184275"/>
            <a:chOff x="1998844" y="2899213"/>
            <a:chExt cx="3182756" cy="1183970"/>
          </a:xfrm>
        </p:grpSpPr>
        <p:sp>
          <p:nvSpPr>
            <p:cNvPr id="29" name="任意多边形 28"/>
            <p:cNvSpPr/>
            <p:nvPr/>
          </p:nvSpPr>
          <p:spPr>
            <a:xfrm>
              <a:off x="1998844" y="2899213"/>
              <a:ext cx="3182756" cy="1183970"/>
            </a:xfrm>
            <a:custGeom>
              <a:avLst/>
              <a:gdLst>
                <a:gd name="connsiteX0" fmla="*/ 0 w 2238251"/>
                <a:gd name="connsiteY0" fmla="*/ 147996 h 1183970"/>
                <a:gd name="connsiteX1" fmla="*/ 1646266 w 2238251"/>
                <a:gd name="connsiteY1" fmla="*/ 147996 h 1183970"/>
                <a:gd name="connsiteX2" fmla="*/ 1646266 w 2238251"/>
                <a:gd name="connsiteY2" fmla="*/ 0 h 1183970"/>
                <a:gd name="connsiteX3" fmla="*/ 2238251 w 2238251"/>
                <a:gd name="connsiteY3" fmla="*/ 591985 h 1183970"/>
                <a:gd name="connsiteX4" fmla="*/ 1646266 w 2238251"/>
                <a:gd name="connsiteY4" fmla="*/ 1183970 h 1183970"/>
                <a:gd name="connsiteX5" fmla="*/ 1646266 w 2238251"/>
                <a:gd name="connsiteY5" fmla="*/ 1035974 h 1183970"/>
                <a:gd name="connsiteX6" fmla="*/ 0 w 2238251"/>
                <a:gd name="connsiteY6" fmla="*/ 1035974 h 1183970"/>
                <a:gd name="connsiteX7" fmla="*/ 0 w 2238251"/>
                <a:gd name="connsiteY7" fmla="*/ 147996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8251" h="1183970">
                  <a:moveTo>
                    <a:pt x="0" y="147996"/>
                  </a:moveTo>
                  <a:lnTo>
                    <a:pt x="1646266" y="147996"/>
                  </a:lnTo>
                  <a:lnTo>
                    <a:pt x="1646266" y="0"/>
                  </a:lnTo>
                  <a:lnTo>
                    <a:pt x="2238251" y="591985"/>
                  </a:lnTo>
                  <a:lnTo>
                    <a:pt x="1646266" y="1183970"/>
                  </a:lnTo>
                  <a:lnTo>
                    <a:pt x="1646266" y="1035974"/>
                  </a:lnTo>
                  <a:lnTo>
                    <a:pt x="0" y="1035974"/>
                  </a:lnTo>
                  <a:lnTo>
                    <a:pt x="0" y="147996"/>
                  </a:lnTo>
                  <a:close/>
                </a:path>
              </a:pathLst>
            </a:custGeom>
            <a:solidFill>
              <a:srgbClr val="E1F9FF">
                <a:alpha val="90000"/>
              </a:srgbClr>
            </a:solidFill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510" tIns="164506" rIns="460499" bIns="164506" spcCol="1270"/>
            <a:lstStyle/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10"/>
            <p:cNvSpPr>
              <a:spLocks noChangeArrowheads="1"/>
            </p:cNvSpPr>
            <p:nvPr/>
          </p:nvSpPr>
          <p:spPr bwMode="auto">
            <a:xfrm>
              <a:off x="2015066" y="3082026"/>
              <a:ext cx="2703689" cy="830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，是指由开始和结束两个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符组成的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auto">
          <a:xfrm>
            <a:off x="2515657" y="2379436"/>
            <a:ext cx="3942549" cy="1184275"/>
            <a:chOff x="1998844" y="4461228"/>
            <a:chExt cx="3182756" cy="1183970"/>
          </a:xfrm>
        </p:grpSpPr>
        <p:sp>
          <p:nvSpPr>
            <p:cNvPr id="33" name="任意多边形 32"/>
            <p:cNvSpPr/>
            <p:nvPr/>
          </p:nvSpPr>
          <p:spPr>
            <a:xfrm>
              <a:off x="1998844" y="4461228"/>
              <a:ext cx="3182756" cy="1183970"/>
            </a:xfrm>
            <a:custGeom>
              <a:avLst/>
              <a:gdLst>
                <a:gd name="connsiteX0" fmla="*/ 0 w 2238251"/>
                <a:gd name="connsiteY0" fmla="*/ 147996 h 1183970"/>
                <a:gd name="connsiteX1" fmla="*/ 1646266 w 2238251"/>
                <a:gd name="connsiteY1" fmla="*/ 147996 h 1183970"/>
                <a:gd name="connsiteX2" fmla="*/ 1646266 w 2238251"/>
                <a:gd name="connsiteY2" fmla="*/ 0 h 1183970"/>
                <a:gd name="connsiteX3" fmla="*/ 2238251 w 2238251"/>
                <a:gd name="connsiteY3" fmla="*/ 591985 h 1183970"/>
                <a:gd name="connsiteX4" fmla="*/ 1646266 w 2238251"/>
                <a:gd name="connsiteY4" fmla="*/ 1183970 h 1183970"/>
                <a:gd name="connsiteX5" fmla="*/ 1646266 w 2238251"/>
                <a:gd name="connsiteY5" fmla="*/ 1035974 h 1183970"/>
                <a:gd name="connsiteX6" fmla="*/ 0 w 2238251"/>
                <a:gd name="connsiteY6" fmla="*/ 1035974 h 1183970"/>
                <a:gd name="connsiteX7" fmla="*/ 0 w 2238251"/>
                <a:gd name="connsiteY7" fmla="*/ 147996 h 118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8251" h="1183970">
                  <a:moveTo>
                    <a:pt x="0" y="147996"/>
                  </a:moveTo>
                  <a:lnTo>
                    <a:pt x="1646266" y="147996"/>
                  </a:lnTo>
                  <a:lnTo>
                    <a:pt x="1646266" y="0"/>
                  </a:lnTo>
                  <a:lnTo>
                    <a:pt x="2238251" y="591985"/>
                  </a:lnTo>
                  <a:lnTo>
                    <a:pt x="1646266" y="1183970"/>
                  </a:lnTo>
                  <a:lnTo>
                    <a:pt x="1646266" y="1035974"/>
                  </a:lnTo>
                  <a:lnTo>
                    <a:pt x="0" y="1035974"/>
                  </a:lnTo>
                  <a:lnTo>
                    <a:pt x="0" y="14799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89804"/>
              </a:schemeClr>
            </a:solidFill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6510" tIns="164506" rIns="460499" bIns="164506" spcCol="1270"/>
            <a:lstStyle/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lvl="1" indent="-228600" defTabSz="11557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24"/>
            <p:cNvSpPr>
              <a:spLocks noChangeArrowheads="1"/>
            </p:cNvSpPr>
            <p:nvPr/>
          </p:nvSpPr>
          <p:spPr bwMode="auto">
            <a:xfrm>
              <a:off x="2031997" y="4630343"/>
              <a:ext cx="2867381" cy="830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也称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，是指用一个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符号即可完整地描述某个功能的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6750203" y="4859194"/>
            <a:ext cx="3108325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50203" y="2526394"/>
            <a:ext cx="16700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 bwMode="auto">
          <a:xfrm>
            <a:off x="6485193" y="3033403"/>
            <a:ext cx="2241550" cy="1671637"/>
            <a:chOff x="763578" y="1772817"/>
            <a:chExt cx="2800310" cy="2088231"/>
          </a:xfrm>
        </p:grpSpPr>
        <p:grpSp>
          <p:nvGrpSpPr>
            <p:cNvPr id="38" name="组合 11"/>
            <p:cNvGrpSpPr/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40" name="椭圆形标注 39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椭圆形标注 40"/>
              <p:cNvSpPr/>
              <p:nvPr/>
            </p:nvSpPr>
            <p:spPr>
              <a:xfrm>
                <a:off x="1043364" y="1930988"/>
                <a:ext cx="2592072" cy="200022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10"/>
            <p:cNvSpPr txBox="1">
              <a:spLocks noChangeArrowheads="1"/>
            </p:cNvSpPr>
            <p:nvPr/>
          </p:nvSpPr>
          <p:spPr bwMode="auto">
            <a:xfrm>
              <a:off x="1050050" y="2222645"/>
              <a:ext cx="2371118" cy="115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表示该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的作用开始，一般称为</a:t>
              </a:r>
              <a:r>
                <a:rPr lang="zh-CN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“开始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标签“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36"/>
          <p:cNvGrpSpPr/>
          <p:nvPr/>
        </p:nvGrpSpPr>
        <p:grpSpPr bwMode="auto">
          <a:xfrm flipH="1">
            <a:off x="9112078" y="3057487"/>
            <a:ext cx="2241550" cy="1671637"/>
            <a:chOff x="763578" y="1772817"/>
            <a:chExt cx="2800310" cy="2088231"/>
          </a:xfrm>
        </p:grpSpPr>
        <p:grpSp>
          <p:nvGrpSpPr>
            <p:cNvPr id="43" name="组合 11"/>
            <p:cNvGrpSpPr/>
            <p:nvPr/>
          </p:nvGrpSpPr>
          <p:grpSpPr bwMode="auto">
            <a:xfrm>
              <a:off x="763578" y="1772817"/>
              <a:ext cx="2800310" cy="2088231"/>
              <a:chOff x="956102" y="1844825"/>
              <a:chExt cx="2800310" cy="2160239"/>
            </a:xfrm>
          </p:grpSpPr>
          <p:sp>
            <p:nvSpPr>
              <p:cNvPr id="45" name="椭圆形标注 44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椭圆形标注 45"/>
              <p:cNvSpPr/>
              <p:nvPr/>
            </p:nvSpPr>
            <p:spPr>
              <a:xfrm>
                <a:off x="1043364" y="1930988"/>
                <a:ext cx="2592072" cy="200022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TextBox 10"/>
            <p:cNvSpPr txBox="1">
              <a:spLocks noChangeArrowheads="1"/>
            </p:cNvSpPr>
            <p:nvPr/>
          </p:nvSpPr>
          <p:spPr bwMode="auto">
            <a:xfrm>
              <a:off x="937226" y="2222645"/>
              <a:ext cx="2371118" cy="115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表示该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的作用结束，一般称为</a:t>
              </a:r>
              <a:r>
                <a:rPr lang="zh-CN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“结束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标签“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为什么要有单标签？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2932533"/>
            <a:ext cx="56167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标签的作用原理就是选择网页内容进行描述，也就是说需要描述哪些内容，就选择该内容，通过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定义内容的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开始和结束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本身就可以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描述一个功能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，不需要定义内容的开始和结束。例如，水平线标签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按照双标签的语法规则，它应该写成“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&gt;&lt;/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，但是水平线标签不需要选择网页内容，本身就代表一条水平线，此时如果写成双标签，代码就显得有些冗余。这就需要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单标签来简化代码结构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添加属性的作用，并写出为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标签添加属性的基本语法格式。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2010921" y="2902662"/>
            <a:ext cx="2533650" cy="2533650"/>
            <a:chOff x="1210866" y="2597192"/>
            <a:chExt cx="2534080" cy="2534080"/>
          </a:xfrm>
        </p:grpSpPr>
        <p:sp>
          <p:nvSpPr>
            <p:cNvPr id="14" name="任意多边形 13"/>
            <p:cNvSpPr/>
            <p:nvPr/>
          </p:nvSpPr>
          <p:spPr>
            <a:xfrm>
              <a:off x="1210866" y="2597192"/>
              <a:ext cx="2534080" cy="2534080"/>
            </a:xfrm>
            <a:custGeom>
              <a:avLst/>
              <a:gdLst>
                <a:gd name="connsiteX0" fmla="*/ 0 w 2825311"/>
                <a:gd name="connsiteY0" fmla="*/ 1412656 h 2825311"/>
                <a:gd name="connsiteX1" fmla="*/ 1412656 w 2825311"/>
                <a:gd name="connsiteY1" fmla="*/ 0 h 2825311"/>
                <a:gd name="connsiteX2" fmla="*/ 2825312 w 2825311"/>
                <a:gd name="connsiteY2" fmla="*/ 1412656 h 2825311"/>
                <a:gd name="connsiteX3" fmla="*/ 1412656 w 2825311"/>
                <a:gd name="connsiteY3" fmla="*/ 2825312 h 2825311"/>
                <a:gd name="connsiteX4" fmla="*/ 0 w 2825311"/>
                <a:gd name="connsiteY4" fmla="*/ 1412656 h 28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311" h="2825311">
                  <a:moveTo>
                    <a:pt x="0" y="1412656"/>
                  </a:moveTo>
                  <a:cubicBezTo>
                    <a:pt x="0" y="632468"/>
                    <a:pt x="632468" y="0"/>
                    <a:pt x="1412656" y="0"/>
                  </a:cubicBezTo>
                  <a:cubicBezTo>
                    <a:pt x="2192844" y="0"/>
                    <a:pt x="2825312" y="632468"/>
                    <a:pt x="2825312" y="1412656"/>
                  </a:cubicBezTo>
                  <a:cubicBezTo>
                    <a:pt x="2825312" y="2192844"/>
                    <a:pt x="2192844" y="2825312"/>
                    <a:pt x="1412656" y="2825312"/>
                  </a:cubicBezTo>
                  <a:cubicBezTo>
                    <a:pt x="632468" y="2825312"/>
                    <a:pt x="0" y="2192844"/>
                    <a:pt x="0" y="1412656"/>
                  </a:cubicBezTo>
                  <a:close/>
                </a:path>
              </a:pathLst>
            </a:custGeom>
            <a:solidFill>
              <a:srgbClr val="FFC00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lIns="493767" tIns="493767" rIns="493767" bIns="493767" spcCol="1270" anchor="ctr"/>
            <a:lstStyle/>
            <a:p>
              <a:pPr algn="ctr" defTabSz="28003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300"/>
            </a:p>
          </p:txBody>
        </p:sp>
        <p:sp>
          <p:nvSpPr>
            <p:cNvPr id="15" name="TextBox 47"/>
            <p:cNvSpPr txBox="1"/>
            <p:nvPr/>
          </p:nvSpPr>
          <p:spPr>
            <a:xfrm>
              <a:off x="1571289" y="3279050"/>
              <a:ext cx="1811645" cy="1200533"/>
            </a:xfrm>
            <a:prstGeom prst="rect">
              <a:avLst/>
            </a:prstGeom>
            <a:noFill/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anchor="ctr" anchorCtr="1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文本标签的属性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任意多边形 15"/>
          <p:cNvSpPr/>
          <p:nvPr/>
        </p:nvSpPr>
        <p:spPr>
          <a:xfrm>
            <a:off x="2661929" y="206410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0099FF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4218113" y="353657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00CC99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2662707" y="4983647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1019175" y="3536579"/>
            <a:ext cx="1267040" cy="1267040"/>
          </a:xfrm>
          <a:custGeom>
            <a:avLst/>
            <a:gdLst>
              <a:gd name="connsiteX0" fmla="*/ 0 w 1412655"/>
              <a:gd name="connsiteY0" fmla="*/ 706328 h 1412655"/>
              <a:gd name="connsiteX1" fmla="*/ 706328 w 1412655"/>
              <a:gd name="connsiteY1" fmla="*/ 0 h 1412655"/>
              <a:gd name="connsiteX2" fmla="*/ 1412656 w 1412655"/>
              <a:gd name="connsiteY2" fmla="*/ 706328 h 1412655"/>
              <a:gd name="connsiteX3" fmla="*/ 706328 w 1412655"/>
              <a:gd name="connsiteY3" fmla="*/ 1412656 h 1412655"/>
              <a:gd name="connsiteX4" fmla="*/ 0 w 1412655"/>
              <a:gd name="connsiteY4" fmla="*/ 706328 h 141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655" h="1412655">
                <a:moveTo>
                  <a:pt x="0" y="706328"/>
                </a:moveTo>
                <a:cubicBezTo>
                  <a:pt x="0" y="316234"/>
                  <a:pt x="316234" y="0"/>
                  <a:pt x="706328" y="0"/>
                </a:cubicBezTo>
                <a:cubicBezTo>
                  <a:pt x="1096422" y="0"/>
                  <a:pt x="1412656" y="316234"/>
                  <a:pt x="1412656" y="706328"/>
                </a:cubicBezTo>
                <a:cubicBezTo>
                  <a:pt x="1412656" y="1096422"/>
                  <a:pt x="1096422" y="1412656"/>
                  <a:pt x="706328" y="1412656"/>
                </a:cubicBezTo>
                <a:cubicBezTo>
                  <a:pt x="316234" y="1412656"/>
                  <a:pt x="0" y="1096422"/>
                  <a:pt x="0" y="706328"/>
                </a:cubicBezTo>
                <a:close/>
              </a:path>
            </a:pathLst>
          </a:custGeom>
          <a:solidFill>
            <a:srgbClr val="6699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lIns="246249" tIns="246249" rIns="246249" bIns="246249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5807282" y="3801187"/>
            <a:ext cx="962025" cy="635000"/>
            <a:chOff x="4886917" y="3533877"/>
            <a:chExt cx="960726" cy="635139"/>
          </a:xfrm>
        </p:grpSpPr>
        <p:sp>
          <p:nvSpPr>
            <p:cNvPr id="21" name="右箭头 14"/>
            <p:cNvSpPr>
              <a:spLocks noChangeArrowheads="1"/>
            </p:cNvSpPr>
            <p:nvPr/>
          </p:nvSpPr>
          <p:spPr bwMode="auto">
            <a:xfrm>
              <a:off x="4974070" y="3785022"/>
              <a:ext cx="873573" cy="383994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3"/>
            <p:cNvSpPr>
              <a:spLocks noChangeArrowheads="1"/>
            </p:cNvSpPr>
            <p:nvPr/>
          </p:nvSpPr>
          <p:spPr bwMode="auto">
            <a:xfrm>
              <a:off x="4886917" y="3533877"/>
              <a:ext cx="90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语法格式</a:t>
              </a:r>
              <a:endParaRPr lang="zh-CN" altLang="en-US"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7178707" y="3307405"/>
            <a:ext cx="4000004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 属性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1="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1"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2="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2"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&lt;/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906171" y="1747405"/>
            <a:ext cx="557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一段代码</a:t>
            </a:r>
            <a:r>
              <a: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为例，分析</a:t>
            </a: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49395" y="4711247"/>
            <a:ext cx="764381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我是居中显示的文本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zh-CN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 bwMode="auto">
          <a:xfrm>
            <a:off x="3091459" y="3085208"/>
            <a:ext cx="1920492" cy="1338419"/>
            <a:chOff x="2388835" y="3054592"/>
            <a:chExt cx="1386540" cy="1034014"/>
          </a:xfrm>
        </p:grpSpPr>
        <p:grpSp>
          <p:nvGrpSpPr>
            <p:cNvPr id="27" name="组合 11"/>
            <p:cNvGrpSpPr/>
            <p:nvPr/>
          </p:nvGrpSpPr>
          <p:grpSpPr bwMode="auto">
            <a:xfrm>
              <a:off x="2388835" y="3054592"/>
              <a:ext cx="1386540" cy="1034014"/>
              <a:chOff x="956102" y="1844825"/>
              <a:chExt cx="2800310" cy="2160239"/>
            </a:xfrm>
          </p:grpSpPr>
          <p:sp>
            <p:nvSpPr>
              <p:cNvPr id="29" name="椭圆形标注 28"/>
              <p:cNvSpPr/>
              <p:nvPr/>
            </p:nvSpPr>
            <p:spPr>
              <a:xfrm>
                <a:off x="956102" y="1844825"/>
                <a:ext cx="2800310" cy="216023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</a:endParaRPr>
              </a:p>
            </p:txBody>
          </p:sp>
          <p:sp>
            <p:nvSpPr>
              <p:cNvPr id="30" name="椭圆形标注 29"/>
              <p:cNvSpPr/>
              <p:nvPr/>
            </p:nvSpPr>
            <p:spPr>
              <a:xfrm>
                <a:off x="1042709" y="1931102"/>
                <a:ext cx="2591811" cy="200095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28" name="矩形 2"/>
            <p:cNvSpPr>
              <a:spLocks noChangeArrowheads="1"/>
            </p:cNvSpPr>
            <p:nvPr/>
          </p:nvSpPr>
          <p:spPr bwMode="auto">
            <a:xfrm>
              <a:off x="2562708" y="3264032"/>
              <a:ext cx="1089558" cy="54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align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为属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性名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auto">
          <a:xfrm>
            <a:off x="4665225" y="2840812"/>
            <a:ext cx="2716731" cy="1827210"/>
            <a:chOff x="2388834" y="2297603"/>
            <a:chExt cx="2715061" cy="1827444"/>
          </a:xfrm>
        </p:grpSpPr>
        <p:grpSp>
          <p:nvGrpSpPr>
            <p:cNvPr id="33" name="组合 11"/>
            <p:cNvGrpSpPr/>
            <p:nvPr/>
          </p:nvGrpSpPr>
          <p:grpSpPr bwMode="auto">
            <a:xfrm>
              <a:off x="2388834" y="2297603"/>
              <a:ext cx="2715061" cy="1827444"/>
              <a:chOff x="956100" y="263340"/>
              <a:chExt cx="5483443" cy="3817856"/>
            </a:xfrm>
          </p:grpSpPr>
          <p:sp>
            <p:nvSpPr>
              <p:cNvPr id="35" name="椭圆形标注 34"/>
              <p:cNvSpPr/>
              <p:nvPr/>
            </p:nvSpPr>
            <p:spPr>
              <a:xfrm>
                <a:off x="956100" y="263340"/>
                <a:ext cx="5483443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</a:endParaRPr>
              </a:p>
            </p:txBody>
          </p:sp>
          <p:sp>
            <p:nvSpPr>
              <p:cNvPr id="36" name="椭圆形标注 35"/>
              <p:cNvSpPr/>
              <p:nvPr/>
            </p:nvSpPr>
            <p:spPr>
              <a:xfrm>
                <a:off x="1113107" y="399338"/>
                <a:ext cx="5175775" cy="351269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34" name="矩形 17"/>
            <p:cNvSpPr>
              <a:spLocks noChangeArrowheads="1"/>
            </p:cNvSpPr>
            <p:nvPr/>
          </p:nvSpPr>
          <p:spPr bwMode="auto">
            <a:xfrm>
              <a:off x="2788070" y="2726740"/>
              <a:ext cx="2110680" cy="1323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center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为属性值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表示标题文本居中对齐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认识键值对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2932533"/>
            <a:ext cx="56167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“键值对”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简单地说即为对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“值”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开始标签中，可以通过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="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属性值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的方式为标签添加属性，其中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“属性值”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“键值对”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的形式出现的。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79002" y="4978439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36924" y="5551303"/>
            <a:ext cx="396955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color="red";   width:200px;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5910741" y="4817878"/>
            <a:ext cx="784225" cy="682625"/>
            <a:chOff x="2388835" y="2297603"/>
            <a:chExt cx="2100558" cy="1827444"/>
          </a:xfrm>
        </p:grpSpPr>
        <p:grpSp>
          <p:nvGrpSpPr>
            <p:cNvPr id="16" name="组合 11"/>
            <p:cNvGrpSpPr/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18" name="椭圆形标注 17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9" name="椭圆形标注 18"/>
              <p:cNvSpPr/>
              <p:nvPr/>
            </p:nvSpPr>
            <p:spPr>
              <a:xfrm>
                <a:off x="1110682" y="396524"/>
                <a:ext cx="3976150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</a:t>
              </a:r>
              <a:endPara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7801946" y="4787716"/>
            <a:ext cx="785813" cy="682625"/>
            <a:chOff x="2388835" y="2297603"/>
            <a:chExt cx="2100558" cy="1827444"/>
          </a:xfrm>
        </p:grpSpPr>
        <p:grpSp>
          <p:nvGrpSpPr>
            <p:cNvPr id="21" name="组合 11"/>
            <p:cNvGrpSpPr/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23" name="椭圆形标注 22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4" name="椭圆形标注 23"/>
              <p:cNvSpPr/>
              <p:nvPr/>
            </p:nvSpPr>
            <p:spPr>
              <a:xfrm>
                <a:off x="1110370" y="396518"/>
                <a:ext cx="3976683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22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</a:t>
              </a:r>
              <a:endPara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 bwMode="auto">
          <a:xfrm>
            <a:off x="6852629" y="4798828"/>
            <a:ext cx="785813" cy="682625"/>
            <a:chOff x="2388835" y="2297603"/>
            <a:chExt cx="2100558" cy="1827444"/>
          </a:xfrm>
        </p:grpSpPr>
        <p:grpSp>
          <p:nvGrpSpPr>
            <p:cNvPr id="26" name="组合 11"/>
            <p:cNvGrpSpPr/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28" name="椭圆形标注 27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9" name="椭圆形标注 28"/>
              <p:cNvSpPr/>
              <p:nvPr/>
            </p:nvSpPr>
            <p:spPr>
              <a:xfrm>
                <a:off x="1110370" y="396524"/>
                <a:ext cx="3976683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27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  <a:endPara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 bwMode="auto">
          <a:xfrm>
            <a:off x="8722367" y="4756709"/>
            <a:ext cx="785812" cy="682625"/>
            <a:chOff x="2388835" y="2297603"/>
            <a:chExt cx="2100558" cy="1827444"/>
          </a:xfrm>
        </p:grpSpPr>
        <p:grpSp>
          <p:nvGrpSpPr>
            <p:cNvPr id="32" name="组合 11"/>
            <p:cNvGrpSpPr/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34" name="椭圆形标注 33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5" name="椭圆形标注 34"/>
              <p:cNvSpPr/>
              <p:nvPr/>
            </p:nvSpPr>
            <p:spPr>
              <a:xfrm>
                <a:off x="1110370" y="396524"/>
                <a:ext cx="3976688" cy="3515979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33" name="矩形 17"/>
            <p:cNvSpPr>
              <a:spLocks noChangeArrowheads="1"/>
            </p:cNvSpPr>
            <p:nvPr/>
          </p:nvSpPr>
          <p:spPr bwMode="auto">
            <a:xfrm>
              <a:off x="2815368" y="2590776"/>
              <a:ext cx="1555603" cy="1235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  <a:endPara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标签的关系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嵌套关系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，能够举例嵌套关系的标签。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并列关系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，能够举例并列关系的标签。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标签的关系</a:t>
            </a:r>
            <a:endParaRPr lang="zh-CN" altLang="en-US" sz="2000" dirty="0"/>
          </a:p>
        </p:txBody>
      </p:sp>
      <p:sp>
        <p:nvSpPr>
          <p:cNvPr id="6" name="圆角矩形 5"/>
          <p:cNvSpPr/>
          <p:nvPr/>
        </p:nvSpPr>
        <p:spPr>
          <a:xfrm>
            <a:off x="1019175" y="1680489"/>
            <a:ext cx="10440988" cy="1107884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7" name="TextBox 38"/>
          <p:cNvSpPr txBox="1"/>
          <p:nvPr/>
        </p:nvSpPr>
        <p:spPr>
          <a:xfrm>
            <a:off x="1642737" y="2209865"/>
            <a:ext cx="9297926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嵌套关系也称为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，可以简单理解为一个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里面有包含了其他的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93"/>
          <p:cNvSpPr/>
          <p:nvPr/>
        </p:nvSpPr>
        <p:spPr>
          <a:xfrm>
            <a:off x="1024831" y="168048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93"/>
          <p:cNvSpPr/>
          <p:nvPr/>
        </p:nvSpPr>
        <p:spPr>
          <a:xfrm rot="10800000">
            <a:off x="11076120" y="2404330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03436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）嵌套关系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75418" y="2909558"/>
          <a:ext cx="7206775" cy="163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1" imgW="13030200" imgH="2895600" progId="Visio.Drawing.11">
                  <p:embed/>
                </p:oleObj>
              </mc:Choice>
              <mc:Fallback>
                <p:oleObj name="Visio" r:id="rId1" imgW="13030200" imgH="28956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418" y="2909558"/>
                        <a:ext cx="7206775" cy="1630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 11"/>
          <p:cNvSpPr/>
          <p:nvPr/>
        </p:nvSpPr>
        <p:spPr>
          <a:xfrm>
            <a:off x="1009844" y="4675611"/>
            <a:ext cx="10440988" cy="119859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TextBox 38"/>
          <p:cNvSpPr txBox="1"/>
          <p:nvPr/>
        </p:nvSpPr>
        <p:spPr>
          <a:xfrm>
            <a:off x="1633406" y="5204987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并列关系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兄弟关系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，就是两个标签处于同一级别，并且没有包含关系。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93"/>
          <p:cNvSpPr/>
          <p:nvPr/>
        </p:nvSpPr>
        <p:spPr>
          <a:xfrm>
            <a:off x="1015500" y="4675609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5" name="矩形 93"/>
          <p:cNvSpPr/>
          <p:nvPr/>
        </p:nvSpPr>
        <p:spPr>
          <a:xfrm rot="10800000">
            <a:off x="11066789" y="550208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94105" y="4771869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）并列关系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319464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文档头部相关标签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，能够举例头部相关标签有哪些，及其作用。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41" name="矩形: 剪去单角 444"/>
          <p:cNvSpPr/>
          <p:nvPr/>
        </p:nvSpPr>
        <p:spPr bwMode="auto">
          <a:xfrm>
            <a:off x="6575419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2" name="矩形 45"/>
          <p:cNvSpPr>
            <a:spLocks noChangeArrowheads="1"/>
          </p:cNvSpPr>
          <p:nvPr/>
        </p:nvSpPr>
        <p:spPr bwMode="auto">
          <a:xfrm>
            <a:off x="6575208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任意多边形: 形状 445"/>
          <p:cNvSpPr/>
          <p:nvPr/>
        </p:nvSpPr>
        <p:spPr bwMode="auto">
          <a:xfrm>
            <a:off x="8805191" y="2074558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矩形: 剪去单角 437"/>
          <p:cNvSpPr/>
          <p:nvPr/>
        </p:nvSpPr>
        <p:spPr bwMode="auto">
          <a:xfrm>
            <a:off x="2450928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5" name="矩形 42"/>
          <p:cNvSpPr>
            <a:spLocks noChangeArrowheads="1"/>
          </p:cNvSpPr>
          <p:nvPr/>
        </p:nvSpPr>
        <p:spPr bwMode="auto">
          <a:xfrm>
            <a:off x="2450929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任意多边形: 形状 438"/>
          <p:cNvSpPr/>
          <p:nvPr/>
        </p:nvSpPr>
        <p:spPr bwMode="auto">
          <a:xfrm>
            <a:off x="4680912" y="2074558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2667165" y="2967252"/>
            <a:ext cx="2643099" cy="216982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页面的标题，即给网页取一个名字，必须位于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2704489" y="2368502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&lt;title&gt;</a:t>
            </a:r>
            <a:endParaRPr lang="zh-CN" altLang="en-US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6791445" y="2967252"/>
            <a:ext cx="2643099" cy="133882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 /&gt;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用于定义页面的元信息，可重复出现在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6903412" y="2365327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&lt;meta/&gt;</a:t>
            </a:r>
            <a:endParaRPr lang="zh-CN" altLang="en-US" dirty="0">
              <a:solidFill>
                <a:srgbClr val="1369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44" name="矩形: 剪去单角 437"/>
          <p:cNvSpPr/>
          <p:nvPr/>
        </p:nvSpPr>
        <p:spPr bwMode="auto">
          <a:xfrm>
            <a:off x="1019175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5" name="矩形 42"/>
          <p:cNvSpPr>
            <a:spLocks noChangeArrowheads="1"/>
          </p:cNvSpPr>
          <p:nvPr/>
        </p:nvSpPr>
        <p:spPr bwMode="auto">
          <a:xfrm>
            <a:off x="1019176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任意多边形: 形状 438"/>
          <p:cNvSpPr/>
          <p:nvPr/>
        </p:nvSpPr>
        <p:spPr bwMode="auto">
          <a:xfrm>
            <a:off x="3249159" y="2074558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1235412" y="2967252"/>
            <a:ext cx="2643099" cy="2120902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页面的标题，即给网页取一个名字，必须位于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1272736" y="2368502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&lt;title&gt;</a:t>
            </a:r>
            <a:endParaRPr lang="zh-CN" altLang="en-US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5" name="组合 45"/>
          <p:cNvGrpSpPr/>
          <p:nvPr/>
        </p:nvGrpSpPr>
        <p:grpSpPr bwMode="auto">
          <a:xfrm>
            <a:off x="4217430" y="2420190"/>
            <a:ext cx="2655887" cy="2806700"/>
            <a:chOff x="2714194" y="995130"/>
            <a:chExt cx="2681008" cy="2638958"/>
          </a:xfrm>
        </p:grpSpPr>
        <p:sp>
          <p:nvSpPr>
            <p:cNvPr id="16" name="椭圆 15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文档只能含有一对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&lt;title&gt;&lt;/title&gt;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&lt;title&gt;&lt;/title&gt;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之间的内容将显示在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浏览器窗口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的标题栏中。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虚尾箭头 19"/>
          <p:cNvSpPr/>
          <p:nvPr/>
        </p:nvSpPr>
        <p:spPr bwMode="auto">
          <a:xfrm>
            <a:off x="7138783" y="3591765"/>
            <a:ext cx="684213" cy="550863"/>
          </a:xfrm>
          <a:prstGeom prst="stripedRightArrow">
            <a:avLst/>
          </a:prstGeom>
          <a:solidFill>
            <a:srgbClr val="1369B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930529" y="3436223"/>
            <a:ext cx="3296829" cy="760796"/>
            <a:chOff x="7930529" y="3361578"/>
            <a:chExt cx="3296829" cy="760796"/>
          </a:xfrm>
        </p:grpSpPr>
        <p:sp>
          <p:nvSpPr>
            <p:cNvPr id="21" name="矩形 20"/>
            <p:cNvSpPr>
              <a:spLocks noChangeArrowheads="1"/>
            </p:cNvSpPr>
            <p:nvPr/>
          </p:nvSpPr>
          <p:spPr bwMode="auto">
            <a:xfrm>
              <a:off x="8019429" y="3753042"/>
              <a:ext cx="3207929" cy="369332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&lt;title&gt;</a:t>
              </a:r>
              <a:r>
                <a:rPr lang="zh-CN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网页标题名称</a:t>
              </a:r>
              <a:r>
                <a: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&lt;/title&gt;</a:t>
              </a:r>
              <a:endParaRPr lang="zh-CN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>
              <a:spLocks noChangeArrowheads="1"/>
            </p:cNvSpPr>
            <p:nvPr/>
          </p:nvSpPr>
          <p:spPr bwMode="auto">
            <a:xfrm>
              <a:off x="7930529" y="3361578"/>
              <a:ext cx="18004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8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基本语法格式</a:t>
              </a:r>
              <a:r>
                <a:rPr lang="zh-CN" altLang="en-US" sz="18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文档头部相关标签</a:t>
            </a:r>
            <a:endParaRPr lang="zh-CN" altLang="en-US" sz="2000" dirty="0"/>
          </a:p>
        </p:txBody>
      </p:sp>
      <p:sp>
        <p:nvSpPr>
          <p:cNvPr id="23" name="矩形: 剪去单角 444"/>
          <p:cNvSpPr/>
          <p:nvPr/>
        </p:nvSpPr>
        <p:spPr bwMode="auto">
          <a:xfrm>
            <a:off x="1022139" y="2074558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021928" y="5475246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任意多边形: 形状 445"/>
          <p:cNvSpPr/>
          <p:nvPr/>
        </p:nvSpPr>
        <p:spPr bwMode="auto">
          <a:xfrm>
            <a:off x="3251911" y="2074558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1238165" y="2967252"/>
            <a:ext cx="2643099" cy="133882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 /&gt;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用于定义页面的元信息，可重复出现在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1350132" y="2365327"/>
            <a:ext cx="2192198" cy="45890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&lt;meta/&gt;</a:t>
            </a:r>
            <a:endParaRPr lang="zh-CN" altLang="en-US" dirty="0">
              <a:solidFill>
                <a:srgbClr val="1369B2"/>
              </a:solidFill>
            </a:endParaRPr>
          </a:p>
        </p:txBody>
      </p:sp>
      <p:sp>
        <p:nvSpPr>
          <p:cNvPr id="29" name="_s11269"/>
          <p:cNvSpPr>
            <a:spLocks noChangeArrowheads="1"/>
          </p:cNvSpPr>
          <p:nvPr/>
        </p:nvSpPr>
        <p:spPr bwMode="auto">
          <a:xfrm>
            <a:off x="4097290" y="2074558"/>
            <a:ext cx="3012637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EEE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定义页面参数</a:t>
            </a:r>
            <a:endParaRPr lang="zh-CN" altLang="en-US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_s11271"/>
          <p:cNvSpPr>
            <a:spLocks noChangeArrowheads="1"/>
          </p:cNvSpPr>
          <p:nvPr/>
        </p:nvSpPr>
        <p:spPr bwMode="auto">
          <a:xfrm>
            <a:off x="5082076" y="2765961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网页关键字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_s11272"/>
          <p:cNvCxnSpPr>
            <a:cxnSpLocks noChangeShapeType="1"/>
            <a:stCxn id="30" idx="1"/>
          </p:cNvCxnSpPr>
          <p:nvPr/>
        </p:nvCxnSpPr>
        <p:spPr bwMode="auto">
          <a:xfrm rot="10800000">
            <a:off x="4258452" y="2996429"/>
            <a:ext cx="823625" cy="127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" name="_s11273"/>
          <p:cNvSpPr>
            <a:spLocks noChangeArrowheads="1"/>
          </p:cNvSpPr>
          <p:nvPr/>
        </p:nvSpPr>
        <p:spPr bwMode="auto">
          <a:xfrm>
            <a:off x="5082076" y="3457364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网页描述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_s11274"/>
          <p:cNvCxnSpPr>
            <a:cxnSpLocks noChangeShapeType="1"/>
            <a:stCxn id="33" idx="1"/>
          </p:cNvCxnSpPr>
          <p:nvPr/>
        </p:nvCxnSpPr>
        <p:spPr bwMode="auto">
          <a:xfrm rot="10800000">
            <a:off x="4263776" y="2535500"/>
            <a:ext cx="818301" cy="1152333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" name="_s11275"/>
          <p:cNvSpPr>
            <a:spLocks noChangeArrowheads="1"/>
          </p:cNvSpPr>
          <p:nvPr/>
        </p:nvSpPr>
        <p:spPr bwMode="auto">
          <a:xfrm>
            <a:off x="5082076" y="4148767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网页作者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_s11276"/>
          <p:cNvCxnSpPr>
            <a:cxnSpLocks noChangeShapeType="1"/>
            <a:stCxn id="35" idx="1"/>
          </p:cNvCxnSpPr>
          <p:nvPr/>
        </p:nvCxnSpPr>
        <p:spPr bwMode="auto">
          <a:xfrm rot="10800000">
            <a:off x="4263776" y="2535501"/>
            <a:ext cx="818301" cy="1843735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" name="_s11277"/>
          <p:cNvSpPr>
            <a:spLocks noChangeArrowheads="1"/>
          </p:cNvSpPr>
          <p:nvPr/>
        </p:nvSpPr>
        <p:spPr bwMode="auto">
          <a:xfrm>
            <a:off x="5082076" y="4840170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</a:t>
            </a:r>
            <a:endParaRPr lang="zh-CN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_s11278"/>
          <p:cNvCxnSpPr>
            <a:cxnSpLocks noChangeShapeType="1"/>
            <a:stCxn id="37" idx="1"/>
          </p:cNvCxnSpPr>
          <p:nvPr/>
        </p:nvCxnSpPr>
        <p:spPr bwMode="auto">
          <a:xfrm rot="10800000">
            <a:off x="4263776" y="2535500"/>
            <a:ext cx="818301" cy="2535139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" name="_s11279"/>
          <p:cNvSpPr>
            <a:spLocks noChangeArrowheads="1"/>
          </p:cNvSpPr>
          <p:nvPr/>
        </p:nvSpPr>
        <p:spPr bwMode="auto">
          <a:xfrm>
            <a:off x="5082076" y="5531573"/>
            <a:ext cx="2475719" cy="46093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369B2"/>
            </a:solidFill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设置页面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自动刷新与跳转</a:t>
            </a:r>
            <a:endParaRPr lang="zh-CN" altLang="en-US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_s11280"/>
          <p:cNvCxnSpPr>
            <a:cxnSpLocks noChangeShapeType="1"/>
            <a:stCxn id="39" idx="1"/>
          </p:cNvCxnSpPr>
          <p:nvPr/>
        </p:nvCxnSpPr>
        <p:spPr bwMode="auto">
          <a:xfrm rot="10800000">
            <a:off x="4263776" y="2535501"/>
            <a:ext cx="818301" cy="3226541"/>
          </a:xfrm>
          <a:prstGeom prst="bentConnector2">
            <a:avLst/>
          </a:prstGeom>
          <a:noFill/>
          <a:ln w="28575">
            <a:solidFill>
              <a:srgbClr val="1369B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49" name="组合 48"/>
          <p:cNvGrpSpPr/>
          <p:nvPr/>
        </p:nvGrpSpPr>
        <p:grpSpPr bwMode="auto">
          <a:xfrm>
            <a:off x="7734948" y="2697981"/>
            <a:ext cx="3530355" cy="461665"/>
            <a:chOff x="4499372" y="2447183"/>
            <a:chExt cx="3724871" cy="530681"/>
          </a:xfrm>
        </p:grpSpPr>
        <p:sp>
          <p:nvSpPr>
            <p:cNvPr id="50" name="矩形 49"/>
            <p:cNvSpPr/>
            <p:nvPr/>
          </p:nvSpPr>
          <p:spPr>
            <a:xfrm>
              <a:off x="4893103" y="2447183"/>
              <a:ext cx="3331140" cy="530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name=“keywords” content=“JAVA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2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php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燕尾形 39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 bwMode="auto">
          <a:xfrm>
            <a:off x="7722248" y="3352028"/>
            <a:ext cx="3544240" cy="646331"/>
            <a:chOff x="4499372" y="2381489"/>
            <a:chExt cx="3738359" cy="742954"/>
          </a:xfrm>
        </p:grpSpPr>
        <p:sp>
          <p:nvSpPr>
            <p:cNvPr id="53" name="矩形 52"/>
            <p:cNvSpPr/>
            <p:nvPr/>
          </p:nvSpPr>
          <p:spPr>
            <a:xfrm>
              <a:off x="4892980" y="2381489"/>
              <a:ext cx="3344751" cy="742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name=“description“ content=“IT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培训教育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”/&gt;</a:t>
              </a:r>
              <a:endParaRPr lang="zh-CN" alt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燕尾形 43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 bwMode="auto">
          <a:xfrm>
            <a:off x="7722248" y="4183881"/>
            <a:ext cx="3544240" cy="461665"/>
            <a:chOff x="4499372" y="2538176"/>
            <a:chExt cx="3738358" cy="530681"/>
          </a:xfrm>
        </p:grpSpPr>
        <p:sp>
          <p:nvSpPr>
            <p:cNvPr id="56" name="矩形 55"/>
            <p:cNvSpPr/>
            <p:nvPr/>
          </p:nvSpPr>
          <p:spPr>
            <a:xfrm>
              <a:off x="4892981" y="2538176"/>
              <a:ext cx="3344749" cy="530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name=“author” content=“</a:t>
              </a:r>
              <a:r>
                <a:rPr lang="zh-CN" altLang="en-US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传智播客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燕尾形 47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 bwMode="auto">
          <a:xfrm>
            <a:off x="7722248" y="4868089"/>
            <a:ext cx="3544240" cy="461665"/>
            <a:chOff x="4499372" y="2535982"/>
            <a:chExt cx="3738355" cy="531141"/>
          </a:xfrm>
        </p:grpSpPr>
        <p:sp>
          <p:nvSpPr>
            <p:cNvPr id="59" name="矩形 58"/>
            <p:cNvSpPr/>
            <p:nvPr/>
          </p:nvSpPr>
          <p:spPr>
            <a:xfrm>
              <a:off x="4892980" y="2535982"/>
              <a:ext cx="3344747" cy="5311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http-</a:t>
              </a:r>
              <a:r>
                <a:rPr lang="en-US" altLang="zh-CN" sz="12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equiv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="Content-Type" content="text/html; charset=utf-8"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燕尾形 51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 bwMode="auto">
          <a:xfrm>
            <a:off x="7722248" y="5576116"/>
            <a:ext cx="3544240" cy="646331"/>
            <a:chOff x="4499372" y="2535982"/>
            <a:chExt cx="3738354" cy="744702"/>
          </a:xfrm>
        </p:grpSpPr>
        <p:sp>
          <p:nvSpPr>
            <p:cNvPr id="62" name="矩形 61"/>
            <p:cNvSpPr/>
            <p:nvPr/>
          </p:nvSpPr>
          <p:spPr>
            <a:xfrm>
              <a:off x="4892980" y="2535982"/>
              <a:ext cx="3344746" cy="7447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&lt;meta http-</a:t>
              </a:r>
              <a:r>
                <a:rPr lang="en-US" altLang="zh-CN" sz="12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equiv</a:t>
              </a:r>
              <a:r>
                <a:rPr lang="en-US" altLang="zh-CN" sz="12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="refresh" content="10;url=http://www.itcast.cn" /&gt;</a:t>
              </a:r>
              <a:endParaRPr lang="zh-CN" altLang="zh-CN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燕尾形 55"/>
            <p:cNvSpPr>
              <a:spLocks noChangeArrowheads="1"/>
            </p:cNvSpPr>
            <p:nvPr/>
          </p:nvSpPr>
          <p:spPr bwMode="auto">
            <a:xfrm>
              <a:off x="4499372" y="2628431"/>
              <a:ext cx="304006" cy="334431"/>
            </a:xfrm>
            <a:prstGeom prst="chevron">
              <a:avLst>
                <a:gd name="adj" fmla="val 50000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2-2】HTML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文本控制标签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在一个网页中文字往往占有较大的篇幅，为了让文字能够在网页中排版整齐、结构清晰，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提供了一系列的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文本控制标签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&lt;h1&gt;~&lt;h6&gt;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、字体标签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等，本节将对这些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文本控制标签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进行详细介绍。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289957" y="3086068"/>
            <a:ext cx="406581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的种类，能够举例说明哪些标签属于页面格式化标签。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的用法，能够写出各类页面格式化标签的语法格式。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48" name="组合 47"/>
          <p:cNvGrpSpPr/>
          <p:nvPr/>
        </p:nvGrpSpPr>
        <p:grpSpPr bwMode="auto">
          <a:xfrm>
            <a:off x="2237289" y="3727052"/>
            <a:ext cx="5413375" cy="2051050"/>
            <a:chOff x="749300" y="2317598"/>
            <a:chExt cx="6096000" cy="2310308"/>
          </a:xfrm>
        </p:grpSpPr>
        <p:sp>
          <p:nvSpPr>
            <p:cNvPr id="64" name="任意多边形 63"/>
            <p:cNvSpPr/>
            <p:nvPr/>
          </p:nvSpPr>
          <p:spPr>
            <a:xfrm>
              <a:off x="749300" y="2317598"/>
              <a:ext cx="6096000" cy="885141"/>
            </a:xfrm>
            <a:custGeom>
              <a:avLst/>
              <a:gdLst>
                <a:gd name="connsiteX0" fmla="*/ 0 w 6096000"/>
                <a:gd name="connsiteY0" fmla="*/ 221632 h 886529"/>
                <a:gd name="connsiteX1" fmla="*/ 5652736 w 6096000"/>
                <a:gd name="connsiteY1" fmla="*/ 221632 h 886529"/>
                <a:gd name="connsiteX2" fmla="*/ 5652736 w 6096000"/>
                <a:gd name="connsiteY2" fmla="*/ 0 h 886529"/>
                <a:gd name="connsiteX3" fmla="*/ 6096000 w 6096000"/>
                <a:gd name="connsiteY3" fmla="*/ 443265 h 886529"/>
                <a:gd name="connsiteX4" fmla="*/ 5652736 w 6096000"/>
                <a:gd name="connsiteY4" fmla="*/ 886529 h 886529"/>
                <a:gd name="connsiteX5" fmla="*/ 5652736 w 6096000"/>
                <a:gd name="connsiteY5" fmla="*/ 664897 h 886529"/>
                <a:gd name="connsiteX6" fmla="*/ 0 w 6096000"/>
                <a:gd name="connsiteY6" fmla="*/ 664897 h 886529"/>
                <a:gd name="connsiteX7" fmla="*/ 0 w 6096000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886529">
                  <a:moveTo>
                    <a:pt x="0" y="221632"/>
                  </a:moveTo>
                  <a:lnTo>
                    <a:pt x="5652736" y="221632"/>
                  </a:lnTo>
                  <a:lnTo>
                    <a:pt x="5652736" y="0"/>
                  </a:lnTo>
                  <a:lnTo>
                    <a:pt x="6096000" y="443265"/>
                  </a:lnTo>
                  <a:lnTo>
                    <a:pt x="5652736" y="886529"/>
                  </a:lnTo>
                  <a:lnTo>
                    <a:pt x="5652736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774328" y="3000677"/>
              <a:ext cx="902781" cy="1627229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h1</a:t>
              </a:r>
              <a:endPara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 bwMode="auto">
          <a:xfrm>
            <a:off x="3253289" y="3895327"/>
            <a:ext cx="4657725" cy="2058987"/>
            <a:chOff x="1765300" y="2486222"/>
            <a:chExt cx="5245099" cy="2317081"/>
          </a:xfrm>
        </p:grpSpPr>
        <p:sp>
          <p:nvSpPr>
            <p:cNvPr id="67" name="任意多边形 66"/>
            <p:cNvSpPr/>
            <p:nvPr/>
          </p:nvSpPr>
          <p:spPr>
            <a:xfrm>
              <a:off x="1765300" y="2486222"/>
              <a:ext cx="5245099" cy="887887"/>
            </a:xfrm>
            <a:custGeom>
              <a:avLst/>
              <a:gdLst>
                <a:gd name="connsiteX0" fmla="*/ 0 w 4969459"/>
                <a:gd name="connsiteY0" fmla="*/ 221632 h 886529"/>
                <a:gd name="connsiteX1" fmla="*/ 4526195 w 4969459"/>
                <a:gd name="connsiteY1" fmla="*/ 221632 h 886529"/>
                <a:gd name="connsiteX2" fmla="*/ 4526195 w 4969459"/>
                <a:gd name="connsiteY2" fmla="*/ 0 h 886529"/>
                <a:gd name="connsiteX3" fmla="*/ 4969459 w 4969459"/>
                <a:gd name="connsiteY3" fmla="*/ 443265 h 886529"/>
                <a:gd name="connsiteX4" fmla="*/ 4526195 w 4969459"/>
                <a:gd name="connsiteY4" fmla="*/ 886529 h 886529"/>
                <a:gd name="connsiteX5" fmla="*/ 4526195 w 4969459"/>
                <a:gd name="connsiteY5" fmla="*/ 664897 h 886529"/>
                <a:gd name="connsiteX6" fmla="*/ 0 w 4969459"/>
                <a:gd name="connsiteY6" fmla="*/ 664897 h 886529"/>
                <a:gd name="connsiteX7" fmla="*/ 0 w 4969459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69459" h="886529">
                  <a:moveTo>
                    <a:pt x="0" y="221632"/>
                  </a:moveTo>
                  <a:lnTo>
                    <a:pt x="4526195" y="221632"/>
                  </a:lnTo>
                  <a:lnTo>
                    <a:pt x="4526195" y="0"/>
                  </a:lnTo>
                  <a:lnTo>
                    <a:pt x="4969459" y="443265"/>
                  </a:lnTo>
                  <a:lnTo>
                    <a:pt x="4526195" y="886529"/>
                  </a:lnTo>
                  <a:lnTo>
                    <a:pt x="4526195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74129"/>
                <a:satOff val="7761"/>
                <a:lumOff val="-5390"/>
                <a:alphaOff val="0"/>
              </a:schemeClr>
            </a:fillRef>
            <a:effectRef idx="0">
              <a:schemeClr val="accent5">
                <a:hueOff val="-774129"/>
                <a:satOff val="7761"/>
                <a:lumOff val="-5390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801054" y="3175808"/>
              <a:ext cx="877759" cy="1627495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h2</a:t>
              </a:r>
              <a:endPara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 bwMode="auto">
          <a:xfrm>
            <a:off x="4281989" y="4063602"/>
            <a:ext cx="3868738" cy="2052637"/>
            <a:chOff x="2794000" y="2654846"/>
            <a:chExt cx="4356099" cy="2310307"/>
          </a:xfrm>
        </p:grpSpPr>
        <p:sp>
          <p:nvSpPr>
            <p:cNvPr id="70" name="任意多边形 69"/>
            <p:cNvSpPr/>
            <p:nvPr/>
          </p:nvSpPr>
          <p:spPr>
            <a:xfrm>
              <a:off x="2794000" y="2654846"/>
              <a:ext cx="4356099" cy="886243"/>
            </a:xfrm>
            <a:custGeom>
              <a:avLst/>
              <a:gdLst>
                <a:gd name="connsiteX0" fmla="*/ 0 w 3842918"/>
                <a:gd name="connsiteY0" fmla="*/ 221632 h 886529"/>
                <a:gd name="connsiteX1" fmla="*/ 3399654 w 3842918"/>
                <a:gd name="connsiteY1" fmla="*/ 221632 h 886529"/>
                <a:gd name="connsiteX2" fmla="*/ 3399654 w 3842918"/>
                <a:gd name="connsiteY2" fmla="*/ 0 h 886529"/>
                <a:gd name="connsiteX3" fmla="*/ 3842918 w 3842918"/>
                <a:gd name="connsiteY3" fmla="*/ 443265 h 886529"/>
                <a:gd name="connsiteX4" fmla="*/ 3399654 w 3842918"/>
                <a:gd name="connsiteY4" fmla="*/ 886529 h 886529"/>
                <a:gd name="connsiteX5" fmla="*/ 3399654 w 3842918"/>
                <a:gd name="connsiteY5" fmla="*/ 664897 h 886529"/>
                <a:gd name="connsiteX6" fmla="*/ 0 w 3842918"/>
                <a:gd name="connsiteY6" fmla="*/ 664897 h 886529"/>
                <a:gd name="connsiteX7" fmla="*/ 0 w 3842918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42918" h="886529">
                  <a:moveTo>
                    <a:pt x="0" y="221632"/>
                  </a:moveTo>
                  <a:lnTo>
                    <a:pt x="3399654" y="221632"/>
                  </a:lnTo>
                  <a:lnTo>
                    <a:pt x="3399654" y="0"/>
                  </a:lnTo>
                  <a:lnTo>
                    <a:pt x="3842918" y="443265"/>
                  </a:lnTo>
                  <a:lnTo>
                    <a:pt x="3399654" y="886529"/>
                  </a:lnTo>
                  <a:lnTo>
                    <a:pt x="3399654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548258"/>
                <a:satOff val="15522"/>
                <a:lumOff val="-10782"/>
                <a:alphaOff val="0"/>
              </a:schemeClr>
            </a:fillRef>
            <a:effectRef idx="0">
              <a:schemeClr val="accent5">
                <a:hueOff val="-1548258"/>
                <a:satOff val="15522"/>
                <a:lumOff val="-10782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2836900" y="3337396"/>
              <a:ext cx="845480" cy="1627757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1548258"/>
                <a:satOff val="15522"/>
                <a:lumOff val="-10782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h3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 bwMode="auto">
          <a:xfrm>
            <a:off x="5285289" y="4246164"/>
            <a:ext cx="3113088" cy="2058988"/>
            <a:chOff x="3797300" y="2836169"/>
            <a:chExt cx="3505200" cy="2317833"/>
          </a:xfrm>
        </p:grpSpPr>
        <p:sp>
          <p:nvSpPr>
            <p:cNvPr id="73" name="任意多边形 72"/>
            <p:cNvSpPr/>
            <p:nvPr/>
          </p:nvSpPr>
          <p:spPr>
            <a:xfrm>
              <a:off x="3797300" y="2836169"/>
              <a:ext cx="3505200" cy="886388"/>
            </a:xfrm>
            <a:custGeom>
              <a:avLst/>
              <a:gdLst>
                <a:gd name="connsiteX0" fmla="*/ 0 w 2715768"/>
                <a:gd name="connsiteY0" fmla="*/ 221632 h 886529"/>
                <a:gd name="connsiteX1" fmla="*/ 2272504 w 2715768"/>
                <a:gd name="connsiteY1" fmla="*/ 221632 h 886529"/>
                <a:gd name="connsiteX2" fmla="*/ 2272504 w 2715768"/>
                <a:gd name="connsiteY2" fmla="*/ 0 h 886529"/>
                <a:gd name="connsiteX3" fmla="*/ 2715768 w 2715768"/>
                <a:gd name="connsiteY3" fmla="*/ 443265 h 886529"/>
                <a:gd name="connsiteX4" fmla="*/ 2272504 w 2715768"/>
                <a:gd name="connsiteY4" fmla="*/ 886529 h 886529"/>
                <a:gd name="connsiteX5" fmla="*/ 2272504 w 2715768"/>
                <a:gd name="connsiteY5" fmla="*/ 664897 h 886529"/>
                <a:gd name="connsiteX6" fmla="*/ 0 w 2715768"/>
                <a:gd name="connsiteY6" fmla="*/ 664897 h 886529"/>
                <a:gd name="connsiteX7" fmla="*/ 0 w 2715768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5768" h="886529">
                  <a:moveTo>
                    <a:pt x="0" y="221632"/>
                  </a:moveTo>
                  <a:lnTo>
                    <a:pt x="2272504" y="221632"/>
                  </a:lnTo>
                  <a:lnTo>
                    <a:pt x="2272504" y="0"/>
                  </a:lnTo>
                  <a:lnTo>
                    <a:pt x="2715768" y="443265"/>
                  </a:lnTo>
                  <a:lnTo>
                    <a:pt x="2272504" y="886529"/>
                  </a:lnTo>
                  <a:lnTo>
                    <a:pt x="2272504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322388"/>
                <a:satOff val="23283"/>
                <a:lumOff val="-16175"/>
                <a:alphaOff val="0"/>
              </a:schemeClr>
            </a:fillRef>
            <a:effectRef idx="0">
              <a:schemeClr val="accent5">
                <a:hueOff val="-2322388"/>
                <a:satOff val="23283"/>
                <a:lumOff val="-16175"/>
                <a:alphaOff val="0"/>
              </a:schemeClr>
            </a:effectRef>
            <a:fontRef idx="minor">
              <a:schemeClr val="lt1"/>
            </a:fontRef>
          </p:style>
          <p:txBody>
            <a:bodyPr lIns="60960" tIns="282592" rIns="475632" bIns="362369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3836624" y="3525979"/>
              <a:ext cx="849042" cy="1628023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1548258"/>
                <a:satOff val="15522"/>
                <a:lumOff val="-10782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h4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 bwMode="auto">
          <a:xfrm>
            <a:off x="6275889" y="4419202"/>
            <a:ext cx="2355850" cy="2047875"/>
            <a:chOff x="4787900" y="3006727"/>
            <a:chExt cx="2652455" cy="2305499"/>
          </a:xfrm>
        </p:grpSpPr>
        <p:sp>
          <p:nvSpPr>
            <p:cNvPr id="76" name="任意多边形 75"/>
            <p:cNvSpPr/>
            <p:nvPr/>
          </p:nvSpPr>
          <p:spPr>
            <a:xfrm>
              <a:off x="4787900" y="3006727"/>
              <a:ext cx="2652455" cy="886455"/>
            </a:xfrm>
            <a:custGeom>
              <a:avLst/>
              <a:gdLst>
                <a:gd name="connsiteX0" fmla="*/ 0 w 1589227"/>
                <a:gd name="connsiteY0" fmla="*/ 221632 h 886529"/>
                <a:gd name="connsiteX1" fmla="*/ 1145963 w 1589227"/>
                <a:gd name="connsiteY1" fmla="*/ 221632 h 886529"/>
                <a:gd name="connsiteX2" fmla="*/ 1145963 w 1589227"/>
                <a:gd name="connsiteY2" fmla="*/ 0 h 886529"/>
                <a:gd name="connsiteX3" fmla="*/ 1589227 w 1589227"/>
                <a:gd name="connsiteY3" fmla="*/ 443265 h 886529"/>
                <a:gd name="connsiteX4" fmla="*/ 1145963 w 1589227"/>
                <a:gd name="connsiteY4" fmla="*/ 886529 h 886529"/>
                <a:gd name="connsiteX5" fmla="*/ 1145963 w 1589227"/>
                <a:gd name="connsiteY5" fmla="*/ 664897 h 886529"/>
                <a:gd name="connsiteX6" fmla="*/ 0 w 1589227"/>
                <a:gd name="connsiteY6" fmla="*/ 664897 h 886529"/>
                <a:gd name="connsiteX7" fmla="*/ 0 w 1589227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9227" h="886529">
                  <a:moveTo>
                    <a:pt x="0" y="221632"/>
                  </a:moveTo>
                  <a:lnTo>
                    <a:pt x="1145963" y="221632"/>
                  </a:lnTo>
                  <a:lnTo>
                    <a:pt x="1145963" y="0"/>
                  </a:lnTo>
                  <a:lnTo>
                    <a:pt x="1589227" y="443265"/>
                  </a:lnTo>
                  <a:lnTo>
                    <a:pt x="1145963" y="886529"/>
                  </a:lnTo>
                  <a:lnTo>
                    <a:pt x="1145963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096517"/>
                <a:satOff val="31044"/>
                <a:lumOff val="-21567"/>
                <a:alphaOff val="0"/>
              </a:schemeClr>
            </a:fillRef>
            <a:effectRef idx="0">
              <a:schemeClr val="accent5">
                <a:hueOff val="-3096517"/>
                <a:satOff val="31044"/>
                <a:lumOff val="-21567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4830797" y="3684078"/>
              <a:ext cx="947305" cy="1628148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-3096517"/>
                <a:satOff val="31044"/>
                <a:lumOff val="-21567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h5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 bwMode="auto">
          <a:xfrm>
            <a:off x="7377614" y="4614464"/>
            <a:ext cx="1547813" cy="2055813"/>
            <a:chOff x="5889193" y="3204127"/>
            <a:chExt cx="1743508" cy="2314508"/>
          </a:xfrm>
        </p:grpSpPr>
        <p:sp>
          <p:nvSpPr>
            <p:cNvPr id="79" name="任意多边形 78"/>
            <p:cNvSpPr/>
            <p:nvPr/>
          </p:nvSpPr>
          <p:spPr>
            <a:xfrm>
              <a:off x="5889193" y="3204127"/>
              <a:ext cx="1743508" cy="886483"/>
            </a:xfrm>
            <a:custGeom>
              <a:avLst/>
              <a:gdLst>
                <a:gd name="connsiteX0" fmla="*/ 0 w 1589227"/>
                <a:gd name="connsiteY0" fmla="*/ 221632 h 886529"/>
                <a:gd name="connsiteX1" fmla="*/ 1145963 w 1589227"/>
                <a:gd name="connsiteY1" fmla="*/ 221632 h 886529"/>
                <a:gd name="connsiteX2" fmla="*/ 1145963 w 1589227"/>
                <a:gd name="connsiteY2" fmla="*/ 0 h 886529"/>
                <a:gd name="connsiteX3" fmla="*/ 1589227 w 1589227"/>
                <a:gd name="connsiteY3" fmla="*/ 443265 h 886529"/>
                <a:gd name="connsiteX4" fmla="*/ 1145963 w 1589227"/>
                <a:gd name="connsiteY4" fmla="*/ 886529 h 886529"/>
                <a:gd name="connsiteX5" fmla="*/ 1145963 w 1589227"/>
                <a:gd name="connsiteY5" fmla="*/ 664897 h 886529"/>
                <a:gd name="connsiteX6" fmla="*/ 0 w 1589227"/>
                <a:gd name="connsiteY6" fmla="*/ 664897 h 886529"/>
                <a:gd name="connsiteX7" fmla="*/ 0 w 1589227"/>
                <a:gd name="connsiteY7" fmla="*/ 221632 h 88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9227" h="886529">
                  <a:moveTo>
                    <a:pt x="0" y="221632"/>
                  </a:moveTo>
                  <a:lnTo>
                    <a:pt x="1145963" y="221632"/>
                  </a:lnTo>
                  <a:lnTo>
                    <a:pt x="1145963" y="0"/>
                  </a:lnTo>
                  <a:lnTo>
                    <a:pt x="1589227" y="443265"/>
                  </a:lnTo>
                  <a:lnTo>
                    <a:pt x="1145963" y="886529"/>
                  </a:lnTo>
                  <a:lnTo>
                    <a:pt x="1145963" y="664897"/>
                  </a:lnTo>
                  <a:lnTo>
                    <a:pt x="0" y="664897"/>
                  </a:lnTo>
                  <a:lnTo>
                    <a:pt x="0" y="221632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096517"/>
                <a:satOff val="31044"/>
                <a:lumOff val="-21567"/>
                <a:alphaOff val="0"/>
              </a:schemeClr>
            </a:fillRef>
            <a:effectRef idx="0">
              <a:schemeClr val="accent5">
                <a:hueOff val="-3096517"/>
                <a:satOff val="31044"/>
                <a:lumOff val="-21567"/>
                <a:alphaOff val="0"/>
              </a:schemeClr>
            </a:effectRef>
            <a:fontRef idx="minor">
              <a:schemeClr val="lt1"/>
            </a:fontRef>
          </p:style>
          <p:txBody>
            <a:bodyPr lIns="64770" tIns="286402" rIns="475632" bIns="362369" spcCol="1270" anchor="ctr"/>
            <a:lstStyle/>
            <a:p>
              <a:pPr defTabSz="755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5930322" y="3892224"/>
              <a:ext cx="947753" cy="1626411"/>
            </a:xfrm>
            <a:custGeom>
              <a:avLst/>
              <a:gdLst>
                <a:gd name="connsiteX0" fmla="*/ 0 w 1126662"/>
                <a:gd name="connsiteY0" fmla="*/ 0 h 1627810"/>
                <a:gd name="connsiteX1" fmla="*/ 1126662 w 1126662"/>
                <a:gd name="connsiteY1" fmla="*/ 0 h 1627810"/>
                <a:gd name="connsiteX2" fmla="*/ 1126662 w 1126662"/>
                <a:gd name="connsiteY2" fmla="*/ 1627810 h 1627810"/>
                <a:gd name="connsiteX3" fmla="*/ 0 w 1126662"/>
                <a:gd name="connsiteY3" fmla="*/ 1627810 h 1627810"/>
                <a:gd name="connsiteX4" fmla="*/ 0 w 1126662"/>
                <a:gd name="connsiteY4" fmla="*/ 0 h 16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6662" h="1627810">
                  <a:moveTo>
                    <a:pt x="0" y="0"/>
                  </a:moveTo>
                  <a:lnTo>
                    <a:pt x="1126662" y="0"/>
                  </a:lnTo>
                  <a:lnTo>
                    <a:pt x="1126662" y="1627810"/>
                  </a:lnTo>
                  <a:lnTo>
                    <a:pt x="0" y="162781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5">
                <a:hueOff val="-3096517"/>
                <a:satOff val="31044"/>
                <a:lumOff val="-21567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300" tIns="114300" rIns="114300" bIns="114300" spcCol="1270"/>
            <a:lstStyle/>
            <a:p>
              <a:pPr defTabSz="1333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h6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 bwMode="auto">
          <a:xfrm>
            <a:off x="7249821" y="3015453"/>
            <a:ext cx="2400300" cy="2120900"/>
            <a:chOff x="6121398" y="1693177"/>
            <a:chExt cx="2703249" cy="2387584"/>
          </a:xfrm>
        </p:grpSpPr>
        <p:sp>
          <p:nvSpPr>
            <p:cNvPr id="82" name="椭圆 81"/>
            <p:cNvSpPr/>
            <p:nvPr/>
          </p:nvSpPr>
          <p:spPr bwMode="auto">
            <a:xfrm>
              <a:off x="6121398" y="1693177"/>
              <a:ext cx="2703249" cy="2387584"/>
            </a:xfrm>
            <a:prstGeom prst="ellipse">
              <a:avLst/>
            </a:prstGeom>
            <a:solidFill>
              <a:srgbClr val="1369B2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6260851" y="2533120"/>
              <a:ext cx="2287705" cy="7276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标题标签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 bwMode="auto">
          <a:xfrm>
            <a:off x="7249821" y="3015453"/>
            <a:ext cx="2400300" cy="2120900"/>
            <a:chOff x="6121398" y="1693177"/>
            <a:chExt cx="2703249" cy="2387584"/>
          </a:xfrm>
        </p:grpSpPr>
        <p:sp>
          <p:nvSpPr>
            <p:cNvPr id="33" name="椭圆 32"/>
            <p:cNvSpPr/>
            <p:nvPr/>
          </p:nvSpPr>
          <p:spPr bwMode="auto">
            <a:xfrm>
              <a:off x="6121398" y="1693177"/>
              <a:ext cx="2703249" cy="2387584"/>
            </a:xfrm>
            <a:prstGeom prst="ellipse">
              <a:avLst/>
            </a:prstGeom>
            <a:solidFill>
              <a:srgbClr val="1369B2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260851" y="2533120"/>
              <a:ext cx="2287705" cy="7276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标题标签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1730375" y="3309452"/>
            <a:ext cx="3614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</a:t>
            </a:r>
            <a:endParaRPr lang="zh-CN" altLang="en-US" sz="32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808163" y="4154002"/>
            <a:ext cx="4953000" cy="21240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设置标题文字左对齐（默认值）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设置标题文字居中对齐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设置标题文字右对齐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defRPr/>
            </a:pPr>
            <a:endParaRPr lang="zh-CN" altLang="zh-CN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个等级的标题，即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重要性递减。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）标题标签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94624" y="3413207"/>
            <a:ext cx="1044733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注意：</a:t>
            </a:r>
            <a:endParaRPr lang="zh-CN" altLang="zh-CN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一个页面中只能使用一个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标签，常常被用在网站的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部分。</a:t>
            </a:r>
            <a:endParaRPr lang="zh-CN" altLang="zh-CN" sz="18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66725" indent="-2000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标题标签拥有明确的语义，初学者禁止仅仅使用标题标签设置文字加粗或更改文字的大小。</a:t>
            </a:r>
            <a:endParaRPr lang="zh-CN" altLang="zh-CN" sz="18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3.HTML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不赞成使用标题标签的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对齐属性，可使用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样式设置。</a:t>
            </a:r>
            <a:endParaRPr lang="zh-CN" altLang="zh-CN" sz="18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来定义段落。默认情况下，文本在一个段落中会根据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浏览器窗口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自动换行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）段落标签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9175" y="3351740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&lt;p align="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对齐方式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段落文本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317391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之间隔开，使得文档层次分明。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53986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2370" y="1776747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）水平线标签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9175" y="3153877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/&gt;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19175" y="3888740"/>
          <a:ext cx="10440988" cy="232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175"/>
                <a:gridCol w="2314575"/>
                <a:gridCol w="7107238"/>
              </a:tblGrid>
              <a:tr h="4643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设置水平线的对齐方式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可选择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三种属性值，默认属性值为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设置水平线的粗细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为像素值，默认像素值为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像素。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设置水平线的颜色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可以是颜色名称、十六进制颜色值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4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width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设置水平线的宽度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可以是确定的像素值，也可以是浏览器窗口的百分比，默认属性值为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页面格式化标签</a:t>
            </a:r>
            <a:endParaRPr lang="zh-CN" altLang="en-US" sz="2000" dirty="0"/>
          </a:p>
        </p:txBody>
      </p:sp>
      <p:sp>
        <p:nvSpPr>
          <p:cNvPr id="44" name="圆角矩形 43"/>
          <p:cNvSpPr/>
          <p:nvPr/>
        </p:nvSpPr>
        <p:spPr>
          <a:xfrm>
            <a:off x="1019175" y="1604798"/>
            <a:ext cx="10440988" cy="165275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TextBox 38"/>
          <p:cNvSpPr txBox="1"/>
          <p:nvPr/>
        </p:nvSpPr>
        <p:spPr>
          <a:xfrm>
            <a:off x="1805049" y="2284161"/>
            <a:ext cx="9482075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如果希望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文本内容强制换行显示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，就需要使用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换行标签“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。在换行时，如果我们还像在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中直接单击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Enter”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换行，是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不会起作用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93"/>
          <p:cNvSpPr/>
          <p:nvPr/>
        </p:nvSpPr>
        <p:spPr>
          <a:xfrm rot="10800000">
            <a:off x="11076120" y="287350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536785" y="177674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）换行标签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42111" y="4248059"/>
            <a:ext cx="47180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注意：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标签虽然可以实现换行的效果，但并不能取代结构标签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zh-CN" sz="1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zh-CN" sz="18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746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3648484"/>
            <a:ext cx="5353050" cy="224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5581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文本样式标签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含义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，能够定义不同的文本样式。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932124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 &gt;”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，用来控制网页中文本的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字体、字号和颜色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9175" y="2845966"/>
            <a:ext cx="10440988" cy="4996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&lt;font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&lt;/font&gt;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19175" y="3576061"/>
          <a:ext cx="10440988" cy="21379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13844"/>
                <a:gridCol w="8127144"/>
              </a:tblGrid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face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设置文字的字体，例如微软雅黑、黑体、宋体等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设置文字的大小，可以取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之间的整数值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</a:tr>
              <a:tr h="5344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设置文字的颜色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531" marR="73531" marT="0" marB="0" anchor="ctr"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585974" y="5796115"/>
            <a:ext cx="9165771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注意：在实际工作中，不赞成使用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&lt;font&gt; 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标签，可使用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样式来定义文本样式。</a:t>
            </a:r>
            <a:endParaRPr lang="zh-CN" altLang="zh-CN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71985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文本格式化标签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，能够定义不同的文本格式。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754840"/>
            <a:ext cx="9482075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在网页中，有时需要为文字设置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粗体、斜体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效果，为此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提供了专门的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，使文字以特殊的方式显示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19175" y="3017463"/>
          <a:ext cx="10440988" cy="2450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743"/>
                <a:gridCol w="6608245"/>
              </a:tblGrid>
              <a:tr h="4900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显示效果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&lt;b&gt;&lt;/b&gt;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&lt;strong&gt;&lt;/strong&gt;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文字以粗体方式显示（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strong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&lt;i&gt;&lt;/i&gt;</a:t>
                      </a: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&lt;em&gt;&lt;/em&gt;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文字以斜体方式显示（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r>
                        <a:rPr 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&lt;s&gt;&lt;/s&gt;</a:t>
                      </a: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&lt;del&gt;&lt;/del&gt;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文字以加删除线方式显示（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00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&lt;u&gt;&lt;/u&gt;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&lt;ins&gt;&lt;/ins&gt;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文字以加下画线方式显示（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不赞成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</a:t>
                      </a:r>
                      <a:r>
                        <a:rPr lang="en-US" alt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特殊字符标签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特殊字符标签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408856"/>
            <a:ext cx="10440988" cy="674388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624213"/>
            <a:ext cx="94820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时常常会看到一些包含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的文本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数学公式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版权信息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40885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173067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019175" y="2205242"/>
          <a:ext cx="10440988" cy="36544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00274"/>
                <a:gridCol w="3700350"/>
                <a:gridCol w="3840364"/>
              </a:tblGrid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特殊字符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sz="1200" b="1" kern="1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字符的代码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空格符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&amp;nbsp;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&amp;lt;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 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&amp;gt;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&amp;amp;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￥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人民币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&amp;yen;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©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版权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&amp;copy;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®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注册商标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&amp;reg;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°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角度单位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&amp;deg;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±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正负号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&amp;plusmn;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&amp;times;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÷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除号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&amp;divide;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²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平方（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上标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&amp;sup2;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  <a:tr h="261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³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立方（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上标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&amp;sup3;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8" marR="68578" marT="0" marB="0" anchor="ctr"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315567" y="5903532"/>
            <a:ext cx="10243311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注意：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浏览器对空格符“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nbsp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”的解析是有差异的，导致了使用空格符的页面在各个浏览器中显示效果的不同，因此不推荐使用，可使用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样式替代。</a:t>
            </a:r>
            <a:endParaRPr lang="zh-CN" altLang="zh-CN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&lt;div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&gt;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的特性，能够在网页制作中熟练使用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div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标签搭建网页结构。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同侧圆角矩形 4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1361329" y="1810917"/>
            <a:ext cx="8557111" cy="1127125"/>
            <a:chOff x="1910363" y="2286295"/>
            <a:chExt cx="6096000" cy="1127125"/>
          </a:xfrm>
        </p:grpSpPr>
        <p:sp>
          <p:nvSpPr>
            <p:cNvPr id="8" name="任意多边形 7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2699350" y="2286295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19"/>
            <p:cNvSpPr>
              <a:spLocks noChangeArrowheads="1"/>
            </p:cNvSpPr>
            <p:nvPr/>
          </p:nvSpPr>
          <p:spPr bwMode="auto">
            <a:xfrm>
              <a:off x="2892690" y="2422031"/>
              <a:ext cx="241205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是一个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块容器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1361329" y="2790404"/>
            <a:ext cx="8557111" cy="1127125"/>
            <a:chOff x="1910363" y="3265414"/>
            <a:chExt cx="6096000" cy="1126563"/>
          </a:xfrm>
        </p:grpSpPr>
        <p:sp>
          <p:nvSpPr>
            <p:cNvPr id="12" name="任意多边形 11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699350" y="3265414"/>
              <a:ext cx="5307013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20"/>
            <p:cNvSpPr>
              <a:spLocks noChangeArrowheads="1"/>
            </p:cNvSpPr>
            <p:nvPr/>
          </p:nvSpPr>
          <p:spPr bwMode="auto">
            <a:xfrm>
              <a:off x="2892690" y="3407895"/>
              <a:ext cx="4572000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可以将网页分割为独立的部分，以实现网页的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规划和布局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1361329" y="3768306"/>
            <a:ext cx="8557111" cy="1127125"/>
            <a:chOff x="1910363" y="4243265"/>
            <a:chExt cx="6096000" cy="1127269"/>
          </a:xfrm>
        </p:grpSpPr>
        <p:sp>
          <p:nvSpPr>
            <p:cNvPr id="16" name="任意多边形 15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同侧圆角矩形 16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矩形 21"/>
            <p:cNvSpPr>
              <a:spLocks noChangeArrowheads="1"/>
            </p:cNvSpPr>
            <p:nvPr/>
          </p:nvSpPr>
          <p:spPr bwMode="auto">
            <a:xfrm>
              <a:off x="2892690" y="4264911"/>
              <a:ext cx="4572000" cy="70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大多数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都可以嵌套在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中还可以嵌套多层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 bwMode="auto">
          <a:xfrm>
            <a:off x="1361329" y="4746205"/>
            <a:ext cx="8557111" cy="1127125"/>
            <a:chOff x="1910363" y="5221967"/>
            <a:chExt cx="6096000" cy="1127125"/>
          </a:xfrm>
        </p:grpSpPr>
        <p:sp>
          <p:nvSpPr>
            <p:cNvPr id="20" name="任意多边形 19"/>
            <p:cNvSpPr/>
            <p:nvPr/>
          </p:nvSpPr>
          <p:spPr>
            <a:xfrm>
              <a:off x="1910363" y="5221967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4606" tIns="409100" rIns="14605" bIns="409098" spcCol="1270" anchor="ctr"/>
            <a:lstStyle/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0223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2699350" y="5221967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2"/>
            <p:cNvSpPr>
              <a:spLocks noChangeArrowheads="1"/>
            </p:cNvSpPr>
            <p:nvPr/>
          </p:nvSpPr>
          <p:spPr bwMode="auto">
            <a:xfrm>
              <a:off x="2892690" y="5364656"/>
              <a:ext cx="4572000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</a:t>
              </a:r>
              <a:r>
                <a:rPr lang="zh-CN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替代</a:t>
              </a:r>
              <a:r>
                <a:rPr lang="zh-CN" altLang="zh-CN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块级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2-3】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HTML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图像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应用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544197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浏览网页时我们常常会被网页中的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所吸引，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巧妙地在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可以让网页更为丰富多彩。本节将通过对常用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图像格式、图像标签、相对路径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几个知识点，详细讲解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中图像的应用。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了解网页中常用的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，能够说出它们之间的差异。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07158" y="1767697"/>
            <a:ext cx="2166937" cy="1120775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65000"/>
                <a:lumOff val="3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6183" y="2998010"/>
            <a:ext cx="1839912" cy="1549400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65000"/>
                <a:lumOff val="3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75808" y="2966260"/>
            <a:ext cx="1457325" cy="1581150"/>
          </a:xfrm>
          <a:prstGeom prst="rect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dist="25400" dir="2700000" algn="ctr" rotWithShape="0">
              <a:schemeClr val="tx1">
                <a:lumMod val="50000"/>
                <a:lumOff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8" name="组合 8"/>
          <p:cNvGrpSpPr/>
          <p:nvPr/>
        </p:nvGrpSpPr>
        <p:grpSpPr bwMode="auto">
          <a:xfrm>
            <a:off x="4383283" y="3277410"/>
            <a:ext cx="3663950" cy="1350962"/>
            <a:chOff x="2824956" y="3138246"/>
            <a:chExt cx="3664846" cy="1350764"/>
          </a:xfrm>
        </p:grpSpPr>
        <p:pic>
          <p:nvPicPr>
            <p:cNvPr id="9" name="Picture 5" descr="C:\Users\Administrator\AppData\Local\Microsoft\Windows\Temporary Internet Files\Content.IE5\K1NLY0KB\MC900441926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956" y="3138246"/>
              <a:ext cx="1014487" cy="79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3465500" y="3261623"/>
              <a:ext cx="3024302" cy="1227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浏览网页</a:t>
              </a:r>
              <a:r>
                <a: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时经常会看到</a:t>
              </a:r>
              <a:r>
                <a:rPr lang="zh-CN" altLang="en-US" sz="24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精美的图片</a:t>
              </a:r>
              <a:endParaRPr lang="zh-CN" altLang="en-US" sz="2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下箭头 10"/>
          <p:cNvSpPr>
            <a:spLocks noChangeArrowheads="1"/>
          </p:cNvSpPr>
          <p:nvPr/>
        </p:nvSpPr>
        <p:spPr bwMode="auto">
          <a:xfrm>
            <a:off x="5903753" y="4790491"/>
            <a:ext cx="581024" cy="43497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369B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1446408" y="5398310"/>
            <a:ext cx="8958262" cy="576262"/>
            <a:chOff x="4763" y="4781550"/>
            <a:chExt cx="9164637" cy="576263"/>
          </a:xfrm>
        </p:grpSpPr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763" y="4781550"/>
              <a:ext cx="9164637" cy="57626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675076" y="4814888"/>
              <a:ext cx="6066436" cy="523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</a:t>
              </a:r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常用的</a:t>
              </a:r>
              <a:r>
                <a:rPr lang="zh-CN" altLang="en-US" sz="2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图像格式</a:t>
              </a:r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有哪些呢？</a:t>
              </a:r>
              <a:endParaRPr lang="zh-CN" altLang="en-US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/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2944132" y="3243327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最突出的地方就是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支持动画，同时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也是一种无损的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，也就是说修改图片之后，图片质量几乎没有损失。再加上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支持透明（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全透明或全不透明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），因此很适合在互联网上使用。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 bwMode="auto">
          <a:xfrm>
            <a:off x="2936195" y="5332476"/>
            <a:ext cx="6716712" cy="961289"/>
            <a:chOff x="1303247" y="5872230"/>
            <a:chExt cx="6507253" cy="961615"/>
          </a:xfrm>
        </p:grpSpPr>
        <p:sp>
          <p:nvSpPr>
            <p:cNvPr id="63" name="燕尾形 29"/>
            <p:cNvSpPr>
              <a:spLocks noChangeArrowheads="1"/>
            </p:cNvSpPr>
            <p:nvPr/>
          </p:nvSpPr>
          <p:spPr bwMode="auto">
            <a:xfrm>
              <a:off x="1303247" y="6076608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30"/>
            <p:cNvSpPr>
              <a:spLocks noChangeArrowheads="1"/>
            </p:cNvSpPr>
            <p:nvPr/>
          </p:nvSpPr>
          <p:spPr bwMode="auto">
            <a:xfrm>
              <a:off x="1587124" y="5872230"/>
              <a:ext cx="6223376" cy="96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GIF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格式常常用于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Logo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小图标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及其他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色彩相对单一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的图像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/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组合 67"/>
          <p:cNvGrpSpPr/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6820" y="3346578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prstDash val="dash"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真色彩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PNG-24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PNG-32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）。相对于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最大的优势是体积更小，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全透明，半透明，全不透明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），并且颜色过渡更平滑，但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不支持动画。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 bwMode="auto">
          <a:xfrm>
            <a:off x="2848883" y="5478592"/>
            <a:ext cx="6873615" cy="1015663"/>
            <a:chOff x="1303247" y="5857716"/>
            <a:chExt cx="6659435" cy="1014136"/>
          </a:xfrm>
        </p:grpSpPr>
        <p:sp>
          <p:nvSpPr>
            <p:cNvPr id="20" name="燕尾形 59"/>
            <p:cNvSpPr>
              <a:spLocks noChangeArrowheads="1"/>
            </p:cNvSpPr>
            <p:nvPr/>
          </p:nvSpPr>
          <p:spPr bwMode="auto">
            <a:xfrm>
              <a:off x="1303247" y="6067072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60"/>
            <p:cNvSpPr>
              <a:spLocks noChangeArrowheads="1"/>
            </p:cNvSpPr>
            <p:nvPr/>
          </p:nvSpPr>
          <p:spPr bwMode="auto">
            <a:xfrm>
              <a:off x="1587123" y="5857716"/>
              <a:ext cx="6375559" cy="1014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IE6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是可以支持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PNG-8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，但在处理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PNG-24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的透明时会显示灰色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常用图像格式</a:t>
            </a:r>
            <a:endParaRPr lang="zh-CN" altLang="en-US" sz="2000" dirty="0"/>
          </a:p>
        </p:txBody>
      </p:sp>
      <p:grpSp>
        <p:nvGrpSpPr>
          <p:cNvPr id="46" name="组合 45"/>
          <p:cNvGrpSpPr/>
          <p:nvPr/>
        </p:nvGrpSpPr>
        <p:grpSpPr bwMode="auto">
          <a:xfrm>
            <a:off x="3042557" y="1693927"/>
            <a:ext cx="1497013" cy="1273175"/>
            <a:chOff x="1132087" y="2344738"/>
            <a:chExt cx="1496813" cy="1272776"/>
          </a:xfrm>
        </p:grpSpPr>
        <p:sp>
          <p:nvSpPr>
            <p:cNvPr id="47" name="任意多边形 46"/>
            <p:cNvSpPr/>
            <p:nvPr/>
          </p:nvSpPr>
          <p:spPr>
            <a:xfrm>
              <a:off x="1132087" y="2344738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800" dirty="0"/>
            </a:p>
          </p:txBody>
        </p:sp>
        <p:sp>
          <p:nvSpPr>
            <p:cNvPr id="48" name="TextBox 16"/>
            <p:cNvSpPr txBox="1">
              <a:spLocks noChangeArrowheads="1"/>
            </p:cNvSpPr>
            <p:nvPr/>
          </p:nvSpPr>
          <p:spPr bwMode="auto">
            <a:xfrm>
              <a:off x="1296293" y="26525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GIF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组合 67"/>
          <p:cNvGrpSpPr/>
          <p:nvPr/>
        </p:nvGrpSpPr>
        <p:grpSpPr bwMode="auto">
          <a:xfrm>
            <a:off x="5566682" y="1678052"/>
            <a:ext cx="1403350" cy="1273175"/>
            <a:chOff x="2751931" y="2328664"/>
            <a:chExt cx="1404339" cy="1272776"/>
          </a:xfrm>
        </p:grpSpPr>
        <p:sp>
          <p:nvSpPr>
            <p:cNvPr id="69" name="任意多边形 68"/>
            <p:cNvSpPr/>
            <p:nvPr/>
          </p:nvSpPr>
          <p:spPr>
            <a:xfrm>
              <a:off x="2751931" y="2328664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0" name="TextBox 24"/>
            <p:cNvSpPr txBox="1">
              <a:spLocks noChangeArrowheads="1"/>
            </p:cNvSpPr>
            <p:nvPr/>
          </p:nvSpPr>
          <p:spPr bwMode="auto">
            <a:xfrm>
              <a:off x="2823663" y="2665283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chemeClr val="bg1"/>
                  </a:solidFill>
                </a:rPr>
                <a:t>PNG</a:t>
              </a:r>
              <a:endParaRPr lang="zh-CN" altLang="en-US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 bwMode="auto">
          <a:xfrm>
            <a:off x="7997145" y="1674877"/>
            <a:ext cx="1435100" cy="1271587"/>
            <a:chOff x="4371400" y="2325290"/>
            <a:chExt cx="1434977" cy="1272776"/>
          </a:xfrm>
        </p:grpSpPr>
        <p:sp>
          <p:nvSpPr>
            <p:cNvPr id="75" name="任意多边形 74"/>
            <p:cNvSpPr/>
            <p:nvPr/>
          </p:nvSpPr>
          <p:spPr>
            <a:xfrm>
              <a:off x="4371400" y="2325290"/>
              <a:ext cx="1272776" cy="1272776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algn="ctr" defTabSz="2889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500"/>
            </a:p>
          </p:txBody>
        </p:sp>
        <p:sp>
          <p:nvSpPr>
            <p:cNvPr id="76" name="TextBox 27"/>
            <p:cNvSpPr txBox="1">
              <a:spLocks noChangeArrowheads="1"/>
            </p:cNvSpPr>
            <p:nvPr/>
          </p:nvSpPr>
          <p:spPr bwMode="auto">
            <a:xfrm>
              <a:off x="4473770" y="2638166"/>
              <a:ext cx="13326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chemeClr val="bg1"/>
                  </a:solidFill>
                </a:rPr>
                <a:t>JPG</a:t>
              </a:r>
              <a:endParaRPr lang="zh-CN" altLang="en-US" sz="3600" b="1">
                <a:solidFill>
                  <a:schemeClr val="bg1"/>
                </a:solidFill>
              </a:endParaRPr>
            </a:p>
          </p:txBody>
        </p:sp>
      </p:grp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856820" y="3346578"/>
            <a:ext cx="6575425" cy="1939925"/>
          </a:xfrm>
          <a:prstGeom prst="rect">
            <a:avLst/>
          </a:prstGeom>
          <a:solidFill>
            <a:schemeClr val="bg1"/>
          </a:solidFill>
          <a:ln w="9525">
            <a:solidFill>
              <a:srgbClr val="00B0F0"/>
            </a:solidFill>
            <a:prstDash val="dash"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所能显示的颜色比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要多的多，可以用来保存超过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颜色的图像，但是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有损压缩的图像格式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，这就意味着每修改一次图片都会造成一些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的丢失。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 bwMode="auto">
          <a:xfrm>
            <a:off x="2806020" y="5421444"/>
            <a:ext cx="6888486" cy="1015663"/>
            <a:chOff x="1303247" y="5872230"/>
            <a:chExt cx="6674053" cy="1016005"/>
          </a:xfrm>
        </p:grpSpPr>
        <p:sp>
          <p:nvSpPr>
            <p:cNvPr id="20" name="燕尾形 34"/>
            <p:cNvSpPr>
              <a:spLocks noChangeArrowheads="1"/>
            </p:cNvSpPr>
            <p:nvPr/>
          </p:nvSpPr>
          <p:spPr bwMode="auto">
            <a:xfrm>
              <a:off x="1303247" y="6076608"/>
              <a:ext cx="265987" cy="184666"/>
            </a:xfrm>
            <a:prstGeom prst="chevron">
              <a:avLst>
                <a:gd name="adj" fmla="val 49999"/>
              </a:avLst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35"/>
            <p:cNvSpPr>
              <a:spLocks noChangeArrowheads="1"/>
            </p:cNvSpPr>
            <p:nvPr/>
          </p:nvSpPr>
          <p:spPr bwMode="auto">
            <a:xfrm>
              <a:off x="1601185" y="5872230"/>
              <a:ext cx="6376115" cy="1016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小图片考虑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GIF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PNG-8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，半透明图像考虑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PNG-24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，类似照片的图像则考虑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JPG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掌握图像标签的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语法格式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相关属性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，能够在网页中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插入图片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1019175" y="1604799"/>
            <a:ext cx="10440988" cy="674388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TextBox 38"/>
          <p:cNvSpPr txBox="1"/>
          <p:nvPr/>
        </p:nvSpPr>
        <p:spPr>
          <a:xfrm>
            <a:off x="1585974" y="1754840"/>
            <a:ext cx="9482075" cy="325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网页中任何元素的实现都要依靠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，要想在网页中显示图像就需要使用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1076120" y="1895144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19175" y="4559300"/>
            <a:ext cx="104409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URL" /&gt;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1986870" y="2695509"/>
            <a:ext cx="2916237" cy="1714500"/>
            <a:chOff x="2388835" y="2297603"/>
            <a:chExt cx="2100558" cy="1827444"/>
          </a:xfrm>
        </p:grpSpPr>
        <p:grpSp>
          <p:nvGrpSpPr>
            <p:cNvPr id="11" name="组合 11"/>
            <p:cNvGrpSpPr/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13" name="椭圆形标注 12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椭圆形标注 13"/>
              <p:cNvSpPr/>
              <p:nvPr/>
            </p:nvSpPr>
            <p:spPr>
              <a:xfrm>
                <a:off x="1113141" y="457769"/>
                <a:ext cx="3969860" cy="3506771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矩形 24"/>
            <p:cNvSpPr>
              <a:spLocks noChangeArrowheads="1"/>
            </p:cNvSpPr>
            <p:nvPr/>
          </p:nvSpPr>
          <p:spPr bwMode="auto">
            <a:xfrm>
              <a:off x="2712887" y="2663154"/>
              <a:ext cx="1555602" cy="108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src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图像文件的路径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文件名。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4891928" y="3593517"/>
            <a:ext cx="6090203" cy="1103313"/>
            <a:chOff x="3751215" y="3558357"/>
            <a:chExt cx="7482950" cy="1354760"/>
          </a:xfrm>
        </p:grpSpPr>
        <p:sp>
          <p:nvSpPr>
            <p:cNvPr id="16" name="同心圆 15"/>
            <p:cNvSpPr/>
            <p:nvPr/>
          </p:nvSpPr>
          <p:spPr>
            <a:xfrm>
              <a:off x="3751215" y="3638279"/>
              <a:ext cx="1215186" cy="1216360"/>
            </a:xfrm>
            <a:prstGeom prst="donut">
              <a:avLst>
                <a:gd name="adj" fmla="val 11010"/>
              </a:avLst>
            </a:prstGeom>
          </p:spPr>
          <p:style>
            <a:lnRef idx="2">
              <a:schemeClr val="accent4">
                <a:hueOff val="928412"/>
                <a:satOff val="-28203"/>
                <a:lumOff val="9314"/>
                <a:alphaOff val="0"/>
              </a:schemeClr>
            </a:lnRef>
            <a:fillRef idx="1">
              <a:schemeClr val="accent4">
                <a:hueOff val="928412"/>
                <a:satOff val="-28203"/>
                <a:lumOff val="9314"/>
                <a:alphaOff val="0"/>
              </a:schemeClr>
            </a:fillRef>
            <a:effectRef idx="0">
              <a:schemeClr val="accent4">
                <a:hueOff val="928412"/>
                <a:satOff val="-28203"/>
                <a:lumOff val="9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4658215" y="3558357"/>
              <a:ext cx="6575950" cy="135476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743062"/>
                <a:satOff val="-13391"/>
                <a:lumOff val="5378"/>
                <a:alphaOff val="0"/>
              </a:schemeClr>
            </a:fillRef>
            <a:effectRef idx="0">
              <a:schemeClr val="accent4">
                <a:tint val="50000"/>
                <a:hueOff val="743062"/>
                <a:satOff val="-13391"/>
                <a:lumOff val="537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3883852" y="3772779"/>
              <a:ext cx="949912" cy="949307"/>
            </a:xfrm>
            <a:custGeom>
              <a:avLst/>
              <a:gdLst>
                <a:gd name="connsiteX0" fmla="*/ 0 w 792432"/>
                <a:gd name="connsiteY0" fmla="*/ 396210 h 792420"/>
                <a:gd name="connsiteX1" fmla="*/ 396216 w 792432"/>
                <a:gd name="connsiteY1" fmla="*/ 0 h 792420"/>
                <a:gd name="connsiteX2" fmla="*/ 792432 w 792432"/>
                <a:gd name="connsiteY2" fmla="*/ 396210 h 792420"/>
                <a:gd name="connsiteX3" fmla="*/ 396216 w 792432"/>
                <a:gd name="connsiteY3" fmla="*/ 792420 h 792420"/>
                <a:gd name="connsiteX4" fmla="*/ 0 w 792432"/>
                <a:gd name="connsiteY4" fmla="*/ 396210 h 79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432" h="792420">
                  <a:moveTo>
                    <a:pt x="0" y="396210"/>
                  </a:moveTo>
                  <a:cubicBezTo>
                    <a:pt x="0" y="177389"/>
                    <a:pt x="177392" y="0"/>
                    <a:pt x="396216" y="0"/>
                  </a:cubicBezTo>
                  <a:cubicBezTo>
                    <a:pt x="615040" y="0"/>
                    <a:pt x="792432" y="177389"/>
                    <a:pt x="792432" y="396210"/>
                  </a:cubicBezTo>
                  <a:cubicBezTo>
                    <a:pt x="792432" y="615031"/>
                    <a:pt x="615040" y="792420"/>
                    <a:pt x="396216" y="792420"/>
                  </a:cubicBezTo>
                  <a:cubicBezTo>
                    <a:pt x="177392" y="792420"/>
                    <a:pt x="0" y="615031"/>
                    <a:pt x="0" y="396210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lnRef>
            <a:fillRef idx="1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6049" tIns="116047" rIns="116049" bIns="116047" spcCol="1270" anchor="ctr"/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46"/>
            <p:cNvSpPr>
              <a:spLocks noChangeArrowheads="1"/>
            </p:cNvSpPr>
            <p:nvPr/>
          </p:nvSpPr>
          <p:spPr bwMode="auto">
            <a:xfrm>
              <a:off x="3935463" y="3866821"/>
              <a:ext cx="1048216" cy="718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endPara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48"/>
            <p:cNvSpPr>
              <a:spLocks noChangeArrowheads="1"/>
            </p:cNvSpPr>
            <p:nvPr/>
          </p:nvSpPr>
          <p:spPr bwMode="auto">
            <a:xfrm>
              <a:off x="4957418" y="3720617"/>
              <a:ext cx="6127710" cy="1020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用来定义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图片的宽度和高度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通常我们只设置其中的一个，另一个会按原图等比例显示。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1045027" y="4887335"/>
            <a:ext cx="6491676" cy="1201738"/>
            <a:chOff x="-2766295" y="5257800"/>
            <a:chExt cx="7974529" cy="1476375"/>
          </a:xfrm>
        </p:grpSpPr>
        <p:grpSp>
          <p:nvGrpSpPr>
            <p:cNvPr id="22" name="组合 52"/>
            <p:cNvGrpSpPr/>
            <p:nvPr/>
          </p:nvGrpSpPr>
          <p:grpSpPr bwMode="auto">
            <a:xfrm>
              <a:off x="-2766295" y="5257800"/>
              <a:ext cx="7732713" cy="1476375"/>
              <a:chOff x="-2766868" y="5258218"/>
              <a:chExt cx="7733464" cy="1475659"/>
            </a:xfrm>
          </p:grpSpPr>
          <p:sp>
            <p:nvSpPr>
              <p:cNvPr id="24" name="同心圆 23"/>
              <p:cNvSpPr/>
              <p:nvPr/>
            </p:nvSpPr>
            <p:spPr>
              <a:xfrm>
                <a:off x="3751551" y="5400520"/>
                <a:ext cx="1215045" cy="1218346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1856823"/>
                  <a:satOff val="-56408"/>
                  <a:lumOff val="18628"/>
                  <a:alphaOff val="0"/>
                </a:schemeClr>
              </a:lnRef>
              <a:fillRef idx="1">
                <a:schemeClr val="accent4">
                  <a:hueOff val="1856823"/>
                  <a:satOff val="-56408"/>
                  <a:lumOff val="18628"/>
                  <a:alphaOff val="0"/>
                </a:schemeClr>
              </a:fillRef>
              <a:effectRef idx="0">
                <a:schemeClr val="accent4">
                  <a:hueOff val="1856823"/>
                  <a:satOff val="-56408"/>
                  <a:lumOff val="18628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矩形 24"/>
              <p:cNvSpPr/>
              <p:nvPr/>
            </p:nvSpPr>
            <p:spPr>
              <a:xfrm>
                <a:off x="-2766868" y="5258218"/>
                <a:ext cx="6826568" cy="1475659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1486123"/>
                  <a:satOff val="-26783"/>
                  <a:lumOff val="10757"/>
                  <a:alphaOff val="0"/>
                </a:schemeClr>
              </a:fillRef>
              <a:effectRef idx="0">
                <a:schemeClr val="accent4">
                  <a:tint val="50000"/>
                  <a:hueOff val="1486123"/>
                  <a:satOff val="-26783"/>
                  <a:lumOff val="10757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任意多边形 25"/>
              <p:cNvSpPr/>
              <p:nvPr/>
            </p:nvSpPr>
            <p:spPr>
              <a:xfrm>
                <a:off x="3884173" y="5535026"/>
                <a:ext cx="949803" cy="949334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1428006"/>
                  <a:satOff val="-24169"/>
                  <a:lumOff val="639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1428006"/>
                  <a:satOff val="-24169"/>
                  <a:lumOff val="639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1428006"/>
                  <a:satOff val="-24169"/>
                  <a:lumOff val="639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47"/>
              <p:cNvSpPr>
                <a:spLocks noChangeArrowheads="1"/>
              </p:cNvSpPr>
              <p:nvPr/>
            </p:nvSpPr>
            <p:spPr bwMode="auto">
              <a:xfrm>
                <a:off x="3821269" y="5764955"/>
                <a:ext cx="1086220" cy="4157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border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49"/>
              <p:cNvSpPr>
                <a:spLocks noChangeArrowheads="1"/>
              </p:cNvSpPr>
              <p:nvPr/>
            </p:nvSpPr>
            <p:spPr bwMode="auto">
              <a:xfrm>
                <a:off x="-2308346" y="5462773"/>
                <a:ext cx="6045049" cy="1020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图像添加边框、设置边框的宽度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但边框颜色的调整仅仅通过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属性是不能够实现的。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等腰三角形 2"/>
            <p:cNvSpPr>
              <a:spLocks noChangeArrowheads="1"/>
            </p:cNvSpPr>
            <p:nvPr/>
          </p:nvSpPr>
          <p:spPr bwMode="auto">
            <a:xfrm rot="5400000">
              <a:off x="4839321" y="5875620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738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 bwMode="auto">
          <a:xfrm>
            <a:off x="1045028" y="2318755"/>
            <a:ext cx="6478975" cy="1101725"/>
            <a:chOff x="-2773392" y="1962150"/>
            <a:chExt cx="7961610" cy="1354139"/>
          </a:xfrm>
        </p:grpSpPr>
        <p:grpSp>
          <p:nvGrpSpPr>
            <p:cNvPr id="30" name="组合 50"/>
            <p:cNvGrpSpPr/>
            <p:nvPr/>
          </p:nvGrpSpPr>
          <p:grpSpPr bwMode="auto">
            <a:xfrm>
              <a:off x="-2773392" y="1962150"/>
              <a:ext cx="7741170" cy="1354139"/>
              <a:chOff x="-2773967" y="1961828"/>
              <a:chExt cx="7741923" cy="1354714"/>
            </a:xfrm>
          </p:grpSpPr>
          <p:sp>
            <p:nvSpPr>
              <p:cNvPr id="33" name="同心圆 32"/>
              <p:cNvSpPr/>
              <p:nvPr/>
            </p:nvSpPr>
            <p:spPr>
              <a:xfrm>
                <a:off x="3752503" y="2020389"/>
                <a:ext cx="1215453" cy="1216119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矩形 33"/>
              <p:cNvSpPr/>
              <p:nvPr/>
            </p:nvSpPr>
            <p:spPr>
              <a:xfrm>
                <a:off x="-2773967" y="1961828"/>
                <a:ext cx="6834724" cy="1354714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任意多边形 34"/>
              <p:cNvSpPr/>
              <p:nvPr/>
            </p:nvSpPr>
            <p:spPr>
              <a:xfrm>
                <a:off x="3885169" y="2153128"/>
                <a:ext cx="950122" cy="950642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44"/>
              <p:cNvSpPr>
                <a:spLocks noChangeArrowheads="1"/>
              </p:cNvSpPr>
              <p:nvPr/>
            </p:nvSpPr>
            <p:spPr bwMode="auto">
              <a:xfrm>
                <a:off x="4082170" y="2405245"/>
                <a:ext cx="552001" cy="416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alt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矩形 45"/>
              <p:cNvSpPr>
                <a:spLocks noChangeArrowheads="1"/>
              </p:cNvSpPr>
              <p:nvPr/>
            </p:nvSpPr>
            <p:spPr bwMode="auto">
              <a:xfrm>
                <a:off x="-2315292" y="2177217"/>
                <a:ext cx="6311142" cy="9309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5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图像的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替换文本属性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在图像无法显示时告诉用户该图片的内容。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等腰三角形 60"/>
            <p:cNvSpPr>
              <a:spLocks noChangeArrowheads="1"/>
            </p:cNvSpPr>
            <p:nvPr/>
          </p:nvSpPr>
          <p:spPr bwMode="auto">
            <a:xfrm rot="5400000">
              <a:off x="4819305" y="2483031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00A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931863" y="1561518"/>
            <a:ext cx="3621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的相关属性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4891928" y="3882766"/>
            <a:ext cx="6090203" cy="1103313"/>
            <a:chOff x="3751215" y="3558357"/>
            <a:chExt cx="7482950" cy="1354760"/>
          </a:xfrm>
        </p:grpSpPr>
        <p:sp>
          <p:nvSpPr>
            <p:cNvPr id="16" name="同心圆 15"/>
            <p:cNvSpPr/>
            <p:nvPr/>
          </p:nvSpPr>
          <p:spPr>
            <a:xfrm>
              <a:off x="3751215" y="3638279"/>
              <a:ext cx="1215186" cy="1216360"/>
            </a:xfrm>
            <a:prstGeom prst="donut">
              <a:avLst>
                <a:gd name="adj" fmla="val 11010"/>
              </a:avLst>
            </a:prstGeom>
          </p:spPr>
          <p:style>
            <a:lnRef idx="2">
              <a:schemeClr val="accent4">
                <a:hueOff val="928412"/>
                <a:satOff val="-28203"/>
                <a:lumOff val="9314"/>
                <a:alphaOff val="0"/>
              </a:schemeClr>
            </a:lnRef>
            <a:fillRef idx="1">
              <a:schemeClr val="accent4">
                <a:hueOff val="928412"/>
                <a:satOff val="-28203"/>
                <a:lumOff val="9314"/>
                <a:alphaOff val="0"/>
              </a:schemeClr>
            </a:fillRef>
            <a:effectRef idx="0">
              <a:schemeClr val="accent4">
                <a:hueOff val="928412"/>
                <a:satOff val="-28203"/>
                <a:lumOff val="9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 16"/>
            <p:cNvSpPr/>
            <p:nvPr/>
          </p:nvSpPr>
          <p:spPr>
            <a:xfrm>
              <a:off x="4658215" y="3558357"/>
              <a:ext cx="6575950" cy="135476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743062"/>
                <a:satOff val="-13391"/>
                <a:lumOff val="5378"/>
                <a:alphaOff val="0"/>
              </a:schemeClr>
            </a:fillRef>
            <a:effectRef idx="0">
              <a:schemeClr val="accent4">
                <a:tint val="50000"/>
                <a:hueOff val="743062"/>
                <a:satOff val="-13391"/>
                <a:lumOff val="537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3883852" y="3772779"/>
              <a:ext cx="949912" cy="949307"/>
            </a:xfrm>
            <a:custGeom>
              <a:avLst/>
              <a:gdLst>
                <a:gd name="connsiteX0" fmla="*/ 0 w 792432"/>
                <a:gd name="connsiteY0" fmla="*/ 396210 h 792420"/>
                <a:gd name="connsiteX1" fmla="*/ 396216 w 792432"/>
                <a:gd name="connsiteY1" fmla="*/ 0 h 792420"/>
                <a:gd name="connsiteX2" fmla="*/ 792432 w 792432"/>
                <a:gd name="connsiteY2" fmla="*/ 396210 h 792420"/>
                <a:gd name="connsiteX3" fmla="*/ 396216 w 792432"/>
                <a:gd name="connsiteY3" fmla="*/ 792420 h 792420"/>
                <a:gd name="connsiteX4" fmla="*/ 0 w 792432"/>
                <a:gd name="connsiteY4" fmla="*/ 396210 h 79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432" h="792420">
                  <a:moveTo>
                    <a:pt x="0" y="396210"/>
                  </a:moveTo>
                  <a:cubicBezTo>
                    <a:pt x="0" y="177389"/>
                    <a:pt x="177392" y="0"/>
                    <a:pt x="396216" y="0"/>
                  </a:cubicBezTo>
                  <a:cubicBezTo>
                    <a:pt x="615040" y="0"/>
                    <a:pt x="792432" y="177389"/>
                    <a:pt x="792432" y="396210"/>
                  </a:cubicBezTo>
                  <a:cubicBezTo>
                    <a:pt x="792432" y="615031"/>
                    <a:pt x="615040" y="792420"/>
                    <a:pt x="396216" y="792420"/>
                  </a:cubicBezTo>
                  <a:cubicBezTo>
                    <a:pt x="177392" y="792420"/>
                    <a:pt x="0" y="615031"/>
                    <a:pt x="0" y="396210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lnRef>
            <a:fillRef idx="1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714003"/>
                <a:satOff val="-12083"/>
                <a:lumOff val="31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6049" tIns="116047" rIns="116049" bIns="116047" spcCol="1270" anchor="ctr"/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9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46"/>
            <p:cNvSpPr>
              <a:spLocks noChangeArrowheads="1"/>
            </p:cNvSpPr>
            <p:nvPr/>
          </p:nvSpPr>
          <p:spPr bwMode="auto">
            <a:xfrm>
              <a:off x="3928018" y="3999332"/>
              <a:ext cx="815804" cy="41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 dirty="0">
                  <a:solidFill>
                    <a:srgbClr val="595959"/>
                  </a:solidFill>
                </a:rPr>
                <a:t>align</a:t>
              </a:r>
              <a:endParaRPr lang="zh-CN" altLang="en-US" sz="1600" dirty="0">
                <a:solidFill>
                  <a:srgbClr val="595959"/>
                </a:solidFill>
              </a:endParaRPr>
            </a:p>
          </p:txBody>
        </p:sp>
        <p:sp>
          <p:nvSpPr>
            <p:cNvPr id="20" name="矩形 48"/>
            <p:cNvSpPr>
              <a:spLocks noChangeArrowheads="1"/>
            </p:cNvSpPr>
            <p:nvPr/>
          </p:nvSpPr>
          <p:spPr bwMode="auto">
            <a:xfrm>
              <a:off x="4968149" y="3938289"/>
              <a:ext cx="6127710" cy="479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align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调整图像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的位置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 bwMode="auto">
          <a:xfrm>
            <a:off x="1045028" y="2608004"/>
            <a:ext cx="6478975" cy="1101725"/>
            <a:chOff x="-2773392" y="1962150"/>
            <a:chExt cx="7961610" cy="1354139"/>
          </a:xfrm>
        </p:grpSpPr>
        <p:grpSp>
          <p:nvGrpSpPr>
            <p:cNvPr id="30" name="组合 50"/>
            <p:cNvGrpSpPr/>
            <p:nvPr/>
          </p:nvGrpSpPr>
          <p:grpSpPr bwMode="auto">
            <a:xfrm>
              <a:off x="-2773392" y="1962150"/>
              <a:ext cx="7741171" cy="1354139"/>
              <a:chOff x="-2773967" y="1961828"/>
              <a:chExt cx="7741923" cy="1354714"/>
            </a:xfrm>
          </p:grpSpPr>
          <p:sp>
            <p:nvSpPr>
              <p:cNvPr id="33" name="同心圆 32"/>
              <p:cNvSpPr/>
              <p:nvPr/>
            </p:nvSpPr>
            <p:spPr>
              <a:xfrm>
                <a:off x="3752503" y="2020389"/>
                <a:ext cx="1215453" cy="1216119"/>
              </a:xfrm>
              <a:prstGeom prst="donut">
                <a:avLst>
                  <a:gd name="adj" fmla="val 1101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矩形 33"/>
              <p:cNvSpPr/>
              <p:nvPr/>
            </p:nvSpPr>
            <p:spPr>
              <a:xfrm>
                <a:off x="-2773967" y="1961828"/>
                <a:ext cx="6834724" cy="1354714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任意多边形 34"/>
              <p:cNvSpPr/>
              <p:nvPr/>
            </p:nvSpPr>
            <p:spPr>
              <a:xfrm>
                <a:off x="3885169" y="2153128"/>
                <a:ext cx="950122" cy="950642"/>
              </a:xfrm>
              <a:custGeom>
                <a:avLst/>
                <a:gdLst>
                  <a:gd name="connsiteX0" fmla="*/ 0 w 792432"/>
                  <a:gd name="connsiteY0" fmla="*/ 396210 h 792420"/>
                  <a:gd name="connsiteX1" fmla="*/ 396216 w 792432"/>
                  <a:gd name="connsiteY1" fmla="*/ 0 h 792420"/>
                  <a:gd name="connsiteX2" fmla="*/ 792432 w 792432"/>
                  <a:gd name="connsiteY2" fmla="*/ 396210 h 792420"/>
                  <a:gd name="connsiteX3" fmla="*/ 396216 w 792432"/>
                  <a:gd name="connsiteY3" fmla="*/ 792420 h 792420"/>
                  <a:gd name="connsiteX4" fmla="*/ 0 w 792432"/>
                  <a:gd name="connsiteY4" fmla="*/ 396210 h 79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432" h="792420">
                    <a:moveTo>
                      <a:pt x="0" y="396210"/>
                    </a:moveTo>
                    <a:cubicBezTo>
                      <a:pt x="0" y="177389"/>
                      <a:pt x="177392" y="0"/>
                      <a:pt x="396216" y="0"/>
                    </a:cubicBezTo>
                    <a:cubicBezTo>
                      <a:pt x="615040" y="0"/>
                      <a:pt x="792432" y="177389"/>
                      <a:pt x="792432" y="396210"/>
                    </a:cubicBezTo>
                    <a:cubicBezTo>
                      <a:pt x="792432" y="615031"/>
                      <a:pt x="615040" y="792420"/>
                      <a:pt x="396216" y="792420"/>
                    </a:cubicBezTo>
                    <a:cubicBezTo>
                      <a:pt x="177392" y="792420"/>
                      <a:pt x="0" y="615031"/>
                      <a:pt x="0" y="396210"/>
                    </a:cubicBez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16049" tIns="116047" rIns="116049" bIns="116047" spcCol="1270" anchor="ctr"/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9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44"/>
              <p:cNvSpPr>
                <a:spLocks noChangeArrowheads="1"/>
              </p:cNvSpPr>
              <p:nvPr/>
            </p:nvSpPr>
            <p:spPr bwMode="auto">
              <a:xfrm>
                <a:off x="3835499" y="2259631"/>
                <a:ext cx="1093756" cy="719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 err="1">
                    <a:solidFill>
                      <a:srgbClr val="595959"/>
                    </a:solidFill>
                  </a:rPr>
                  <a:t>vspace</a:t>
                </a:r>
                <a:endParaRPr lang="en-US" altLang="zh-CN" sz="1600" b="1" dirty="0">
                  <a:solidFill>
                    <a:srgbClr val="595959"/>
                  </a:solidFill>
                </a:endParaRPr>
              </a:p>
              <a:p>
                <a:r>
                  <a:rPr lang="en-US" altLang="zh-CN" sz="1600" b="1" dirty="0" err="1">
                    <a:solidFill>
                      <a:srgbClr val="595959"/>
                    </a:solidFill>
                  </a:rPr>
                  <a:t>hspace</a:t>
                </a:r>
                <a:endParaRPr lang="zh-CN" altLang="en-US" sz="1600" dirty="0">
                  <a:solidFill>
                    <a:srgbClr val="595959"/>
                  </a:solidFill>
                </a:endParaRPr>
              </a:p>
            </p:txBody>
          </p:sp>
          <p:sp>
            <p:nvSpPr>
              <p:cNvPr id="37" name="矩形 45"/>
              <p:cNvSpPr>
                <a:spLocks noChangeArrowheads="1"/>
              </p:cNvSpPr>
              <p:nvPr/>
            </p:nvSpPr>
            <p:spPr bwMode="auto">
              <a:xfrm>
                <a:off x="-2315292" y="2177217"/>
                <a:ext cx="6311142" cy="888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5000"/>
                  </a:lnSpc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中通过</a:t>
                </a:r>
                <a:r>
                  <a:rPr lang="en-US" altLang="zh-CN" sz="1600" dirty="0" err="1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vspace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 err="1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hspace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属性可以分别调整图像的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垂直边距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水平边距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等腰三角形 60"/>
            <p:cNvSpPr>
              <a:spLocks noChangeArrowheads="1"/>
            </p:cNvSpPr>
            <p:nvPr/>
          </p:nvSpPr>
          <p:spPr bwMode="auto">
            <a:xfrm rot="5400000">
              <a:off x="4819305" y="2483031"/>
              <a:ext cx="439301" cy="298524"/>
            </a:xfrm>
            <a:prstGeom prst="triangle">
              <a:avLst>
                <a:gd name="adj" fmla="val 50000"/>
              </a:avLst>
            </a:prstGeom>
            <a:solidFill>
              <a:srgbClr val="00A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931863" y="1561518"/>
            <a:ext cx="3621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的相关属性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  <a:endParaRPr lang="zh-CN" altLang="en-US" sz="20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22" name="矩形 21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863975" y="1823382"/>
              <a:ext cx="4203285" cy="511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title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属性设置提示文字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原创设计师QQ598969553          _4"/>
          <p:cNvSpPr/>
          <p:nvPr/>
        </p:nvSpPr>
        <p:spPr>
          <a:xfrm>
            <a:off x="4657572" y="2932533"/>
            <a:ext cx="5616728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用于设置鼠标悬停时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图像的提示文字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425" y="3772763"/>
            <a:ext cx="3525629" cy="2136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相对路径和绝对路径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的特点，能够说出它们的差异。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的几种设置形式，能够通过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引入网页图像。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sp>
        <p:nvSpPr>
          <p:cNvPr id="13" name="云形标注 12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>
          <a:xfrm>
            <a:off x="2786062" y="2685338"/>
            <a:ext cx="32624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什么是路径？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25523" y="1773010"/>
            <a:ext cx="50992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实际工作中，通常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新建一个文件夹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专门用于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存放图像文件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623948" y="3311298"/>
            <a:ext cx="4842166" cy="2466975"/>
            <a:chOff x="881590" y="1974892"/>
            <a:chExt cx="4363215" cy="2468074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881590" y="1974892"/>
              <a:ext cx="4363215" cy="2350547"/>
            </a:xfrm>
            <a:prstGeom prst="roundRect">
              <a:avLst>
                <a:gd name="adj" fmla="val 0"/>
              </a:avLst>
            </a:prstGeom>
            <a:solidFill>
              <a:srgbClr val="333333">
                <a:alpha val="10196"/>
              </a:srgbClr>
            </a:solidFill>
            <a:ln w="19050" cap="rnd" algn="ctr">
              <a:solidFill>
                <a:srgbClr val="808080"/>
              </a:solidFill>
              <a:prstDash val="sysDot"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52"/>
            <p:cNvSpPr txBox="1">
              <a:spLocks noChangeArrowheads="1"/>
            </p:cNvSpPr>
            <p:nvPr/>
          </p:nvSpPr>
          <p:spPr bwMode="auto">
            <a:xfrm>
              <a:off x="1593720" y="2234511"/>
              <a:ext cx="3495325" cy="2063021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just" eaLnBrk="1" latinLnBrk="1">
                <a:defRPr/>
              </a:pPr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</a:t>
              </a:r>
              <a:endPara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eaLnBrk="1" latinLnBrk="1">
                <a:defRPr/>
              </a:pPr>
              <a:endParaRPr lang="en-US" altLang="zh-CN" sz="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eaLnBrk="1" latinLnBrk="1"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这时再插入图像，就需要采用“路径”的方式来指定图像文件的位置。通过设置“路径”来帮助浏览器找到图像文件。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eaLnBrk="1" latinLnBrk="1">
                <a:defRPr/>
              </a:pP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53"/>
            <p:cNvSpPr>
              <a:spLocks noChangeArrowheads="1"/>
            </p:cNvSpPr>
            <p:nvPr/>
          </p:nvSpPr>
          <p:spPr bwMode="auto">
            <a:xfrm>
              <a:off x="1024638" y="2546647"/>
              <a:ext cx="391951" cy="120704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000000">
                    <a:gamma/>
                    <a:shade val="46275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1750" cap="rnd" algn="ctr">
              <a:noFill/>
              <a:prstDash val="sysDot"/>
              <a:rou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Group 54"/>
            <p:cNvGrpSpPr/>
            <p:nvPr/>
          </p:nvGrpSpPr>
          <p:grpSpPr bwMode="auto">
            <a:xfrm>
              <a:off x="1024464" y="2111789"/>
              <a:ext cx="407613" cy="466098"/>
              <a:chOff x="2335" y="1357"/>
              <a:chExt cx="1088" cy="1406"/>
            </a:xfrm>
          </p:grpSpPr>
          <p:sp>
            <p:nvSpPr>
              <p:cNvPr id="12" name="Oval 55"/>
              <p:cNvSpPr>
                <a:spLocks noChangeArrowheads="1"/>
              </p:cNvSpPr>
              <p:nvPr/>
            </p:nvSpPr>
            <p:spPr bwMode="auto">
              <a:xfrm>
                <a:off x="2335" y="1356"/>
                <a:ext cx="1088" cy="1409"/>
              </a:xfrm>
              <a:prstGeom prst="ellipse">
                <a:avLst/>
              </a:prstGeom>
              <a:solidFill>
                <a:srgbClr val="1369B2"/>
              </a:solidFill>
              <a:ln w="9525" algn="ctr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" name="Group 56"/>
              <p:cNvGrpSpPr/>
              <p:nvPr/>
            </p:nvGrpSpPr>
            <p:grpSpPr bwMode="auto">
              <a:xfrm>
                <a:off x="2423" y="1357"/>
                <a:ext cx="913" cy="297"/>
                <a:chOff x="1428" y="2034"/>
                <a:chExt cx="912" cy="296"/>
              </a:xfrm>
            </p:grpSpPr>
            <p:sp>
              <p:nvSpPr>
                <p:cNvPr id="14" name="Freeform 57"/>
                <p:cNvSpPr/>
                <p:nvPr/>
              </p:nvSpPr>
              <p:spPr bwMode="auto">
                <a:xfrm>
                  <a:off x="1428" y="2033"/>
                  <a:ext cx="912" cy="296"/>
                </a:xfrm>
                <a:custGeom>
                  <a:avLst/>
                  <a:gdLst/>
                  <a:ahLst/>
                  <a:cxnLst>
                    <a:cxn ang="0">
                      <a:pos x="0" y="1576"/>
                    </a:cxn>
                    <a:cxn ang="0">
                      <a:pos x="50" y="1462"/>
                    </a:cxn>
                    <a:cxn ang="0">
                      <a:pos x="108" y="1350"/>
                    </a:cxn>
                    <a:cxn ang="0">
                      <a:pos x="170" y="1242"/>
                    </a:cxn>
                    <a:cxn ang="0">
                      <a:pos x="238" y="1138"/>
                    </a:cxn>
                    <a:cxn ang="0">
                      <a:pos x="310" y="1036"/>
                    </a:cxn>
                    <a:cxn ang="0">
                      <a:pos x="386" y="940"/>
                    </a:cxn>
                    <a:cxn ang="0">
                      <a:pos x="468" y="846"/>
                    </a:cxn>
                    <a:cxn ang="0">
                      <a:pos x="552" y="756"/>
                    </a:cxn>
                    <a:cxn ang="0">
                      <a:pos x="596" y="712"/>
                    </a:cxn>
                    <a:cxn ang="0">
                      <a:pos x="688" y="630"/>
                    </a:cxn>
                    <a:cxn ang="0">
                      <a:pos x="784" y="550"/>
                    </a:cxn>
                    <a:cxn ang="0">
                      <a:pos x="884" y="476"/>
                    </a:cxn>
                    <a:cxn ang="0">
                      <a:pos x="986" y="406"/>
                    </a:cxn>
                    <a:cxn ang="0">
                      <a:pos x="1092" y="342"/>
                    </a:cxn>
                    <a:cxn ang="0">
                      <a:pos x="1202" y="282"/>
                    </a:cxn>
                    <a:cxn ang="0">
                      <a:pos x="1316" y="228"/>
                    </a:cxn>
                    <a:cxn ang="0">
                      <a:pos x="1374" y="202"/>
                    </a:cxn>
                    <a:cxn ang="0">
                      <a:pos x="1490" y="156"/>
                    </a:cxn>
                    <a:cxn ang="0">
                      <a:pos x="1610" y="116"/>
                    </a:cxn>
                    <a:cxn ang="0">
                      <a:pos x="1732" y="80"/>
                    </a:cxn>
                    <a:cxn ang="0">
                      <a:pos x="1858" y="52"/>
                    </a:cxn>
                    <a:cxn ang="0">
                      <a:pos x="1984" y="30"/>
                    </a:cxn>
                    <a:cxn ang="0">
                      <a:pos x="2114" y="12"/>
                    </a:cxn>
                    <a:cxn ang="0">
                      <a:pos x="2246" y="2"/>
                    </a:cxn>
                    <a:cxn ang="0">
                      <a:pos x="2378" y="0"/>
                    </a:cxn>
                    <a:cxn ang="0">
                      <a:pos x="2444" y="0"/>
                    </a:cxn>
                    <a:cxn ang="0">
                      <a:pos x="2576" y="8"/>
                    </a:cxn>
                    <a:cxn ang="0">
                      <a:pos x="2706" y="20"/>
                    </a:cxn>
                    <a:cxn ang="0">
                      <a:pos x="2834" y="40"/>
                    </a:cxn>
                    <a:cxn ang="0">
                      <a:pos x="2962" y="66"/>
                    </a:cxn>
                    <a:cxn ang="0">
                      <a:pos x="3084" y="98"/>
                    </a:cxn>
                    <a:cxn ang="0">
                      <a:pos x="3206" y="136"/>
                    </a:cxn>
                    <a:cxn ang="0">
                      <a:pos x="3324" y="178"/>
                    </a:cxn>
                    <a:cxn ang="0">
                      <a:pos x="3382" y="202"/>
                    </a:cxn>
                    <a:cxn ang="0">
                      <a:pos x="3498" y="254"/>
                    </a:cxn>
                    <a:cxn ang="0">
                      <a:pos x="3608" y="312"/>
                    </a:cxn>
                    <a:cxn ang="0">
                      <a:pos x="3716" y="374"/>
                    </a:cxn>
                    <a:cxn ang="0">
                      <a:pos x="3822" y="440"/>
                    </a:cxn>
                    <a:cxn ang="0">
                      <a:pos x="3922" y="512"/>
                    </a:cxn>
                    <a:cxn ang="0">
                      <a:pos x="4020" y="590"/>
                    </a:cxn>
                    <a:cxn ang="0">
                      <a:pos x="4114" y="670"/>
                    </a:cxn>
                    <a:cxn ang="0">
                      <a:pos x="4204" y="756"/>
                    </a:cxn>
                    <a:cxn ang="0">
                      <a:pos x="4246" y="800"/>
                    </a:cxn>
                    <a:cxn ang="0">
                      <a:pos x="4330" y="892"/>
                    </a:cxn>
                    <a:cxn ang="0">
                      <a:pos x="4410" y="988"/>
                    </a:cxn>
                    <a:cxn ang="0">
                      <a:pos x="4484" y="1086"/>
                    </a:cxn>
                    <a:cxn ang="0">
                      <a:pos x="4552" y="1190"/>
                    </a:cxn>
                    <a:cxn ang="0">
                      <a:pos x="4618" y="1296"/>
                    </a:cxn>
                    <a:cxn ang="0">
                      <a:pos x="4678" y="1406"/>
                    </a:cxn>
                    <a:cxn ang="0">
                      <a:pos x="4732" y="1518"/>
                    </a:cxn>
                    <a:cxn ang="0">
                      <a:pos x="0" y="1576"/>
                    </a:cxn>
                  </a:cxnLst>
                  <a:rect l="0" t="0" r="r" b="b"/>
                  <a:pathLst>
                    <a:path w="4756" h="1576">
                      <a:moveTo>
                        <a:pt x="0" y="1576"/>
                      </a:moveTo>
                      <a:lnTo>
                        <a:pt x="0" y="1576"/>
                      </a:lnTo>
                      <a:lnTo>
                        <a:pt x="24" y="1518"/>
                      </a:lnTo>
                      <a:lnTo>
                        <a:pt x="50" y="1462"/>
                      </a:lnTo>
                      <a:lnTo>
                        <a:pt x="78" y="1406"/>
                      </a:lnTo>
                      <a:lnTo>
                        <a:pt x="108" y="1350"/>
                      </a:lnTo>
                      <a:lnTo>
                        <a:pt x="138" y="1296"/>
                      </a:lnTo>
                      <a:lnTo>
                        <a:pt x="170" y="1242"/>
                      </a:lnTo>
                      <a:lnTo>
                        <a:pt x="204" y="1190"/>
                      </a:lnTo>
                      <a:lnTo>
                        <a:pt x="238" y="1138"/>
                      </a:lnTo>
                      <a:lnTo>
                        <a:pt x="272" y="1086"/>
                      </a:lnTo>
                      <a:lnTo>
                        <a:pt x="310" y="1036"/>
                      </a:lnTo>
                      <a:lnTo>
                        <a:pt x="348" y="988"/>
                      </a:lnTo>
                      <a:lnTo>
                        <a:pt x="386" y="940"/>
                      </a:lnTo>
                      <a:lnTo>
                        <a:pt x="426" y="892"/>
                      </a:lnTo>
                      <a:lnTo>
                        <a:pt x="468" y="846"/>
                      </a:lnTo>
                      <a:lnTo>
                        <a:pt x="510" y="800"/>
                      </a:lnTo>
                      <a:lnTo>
                        <a:pt x="552" y="756"/>
                      </a:lnTo>
                      <a:lnTo>
                        <a:pt x="552" y="756"/>
                      </a:lnTo>
                      <a:lnTo>
                        <a:pt x="596" y="712"/>
                      </a:lnTo>
                      <a:lnTo>
                        <a:pt x="642" y="670"/>
                      </a:lnTo>
                      <a:lnTo>
                        <a:pt x="688" y="630"/>
                      </a:lnTo>
                      <a:lnTo>
                        <a:pt x="736" y="590"/>
                      </a:lnTo>
                      <a:lnTo>
                        <a:pt x="784" y="550"/>
                      </a:lnTo>
                      <a:lnTo>
                        <a:pt x="834" y="512"/>
                      </a:lnTo>
                      <a:lnTo>
                        <a:pt x="884" y="476"/>
                      </a:lnTo>
                      <a:lnTo>
                        <a:pt x="934" y="440"/>
                      </a:lnTo>
                      <a:lnTo>
                        <a:pt x="986" y="406"/>
                      </a:lnTo>
                      <a:lnTo>
                        <a:pt x="1040" y="374"/>
                      </a:lnTo>
                      <a:lnTo>
                        <a:pt x="1092" y="342"/>
                      </a:lnTo>
                      <a:lnTo>
                        <a:pt x="1148" y="312"/>
                      </a:lnTo>
                      <a:lnTo>
                        <a:pt x="1202" y="282"/>
                      </a:lnTo>
                      <a:lnTo>
                        <a:pt x="1258" y="254"/>
                      </a:lnTo>
                      <a:lnTo>
                        <a:pt x="1316" y="228"/>
                      </a:lnTo>
                      <a:lnTo>
                        <a:pt x="1374" y="202"/>
                      </a:lnTo>
                      <a:lnTo>
                        <a:pt x="1374" y="202"/>
                      </a:lnTo>
                      <a:lnTo>
                        <a:pt x="1432" y="178"/>
                      </a:lnTo>
                      <a:lnTo>
                        <a:pt x="1490" y="156"/>
                      </a:lnTo>
                      <a:lnTo>
                        <a:pt x="1550" y="136"/>
                      </a:lnTo>
                      <a:lnTo>
                        <a:pt x="1610" y="116"/>
                      </a:lnTo>
                      <a:lnTo>
                        <a:pt x="1672" y="98"/>
                      </a:lnTo>
                      <a:lnTo>
                        <a:pt x="1732" y="80"/>
                      </a:lnTo>
                      <a:lnTo>
                        <a:pt x="1794" y="66"/>
                      </a:lnTo>
                      <a:lnTo>
                        <a:pt x="1858" y="52"/>
                      </a:lnTo>
                      <a:lnTo>
                        <a:pt x="1922" y="40"/>
                      </a:lnTo>
                      <a:lnTo>
                        <a:pt x="1984" y="30"/>
                      </a:lnTo>
                      <a:lnTo>
                        <a:pt x="2050" y="20"/>
                      </a:lnTo>
                      <a:lnTo>
                        <a:pt x="2114" y="12"/>
                      </a:lnTo>
                      <a:lnTo>
                        <a:pt x="2180" y="8"/>
                      </a:lnTo>
                      <a:lnTo>
                        <a:pt x="2246" y="2"/>
                      </a:lnTo>
                      <a:lnTo>
                        <a:pt x="2312" y="0"/>
                      </a:lnTo>
                      <a:lnTo>
                        <a:pt x="2378" y="0"/>
                      </a:lnTo>
                      <a:lnTo>
                        <a:pt x="2378" y="0"/>
                      </a:lnTo>
                      <a:lnTo>
                        <a:pt x="2444" y="0"/>
                      </a:lnTo>
                      <a:lnTo>
                        <a:pt x="2510" y="2"/>
                      </a:lnTo>
                      <a:lnTo>
                        <a:pt x="2576" y="8"/>
                      </a:lnTo>
                      <a:lnTo>
                        <a:pt x="2642" y="12"/>
                      </a:lnTo>
                      <a:lnTo>
                        <a:pt x="2706" y="20"/>
                      </a:lnTo>
                      <a:lnTo>
                        <a:pt x="2772" y="30"/>
                      </a:lnTo>
                      <a:lnTo>
                        <a:pt x="2834" y="40"/>
                      </a:lnTo>
                      <a:lnTo>
                        <a:pt x="2898" y="52"/>
                      </a:lnTo>
                      <a:lnTo>
                        <a:pt x="2962" y="66"/>
                      </a:lnTo>
                      <a:lnTo>
                        <a:pt x="3024" y="80"/>
                      </a:lnTo>
                      <a:lnTo>
                        <a:pt x="3084" y="98"/>
                      </a:lnTo>
                      <a:lnTo>
                        <a:pt x="3146" y="116"/>
                      </a:lnTo>
                      <a:lnTo>
                        <a:pt x="3206" y="136"/>
                      </a:lnTo>
                      <a:lnTo>
                        <a:pt x="3266" y="156"/>
                      </a:lnTo>
                      <a:lnTo>
                        <a:pt x="3324" y="178"/>
                      </a:lnTo>
                      <a:lnTo>
                        <a:pt x="3382" y="202"/>
                      </a:lnTo>
                      <a:lnTo>
                        <a:pt x="3382" y="202"/>
                      </a:lnTo>
                      <a:lnTo>
                        <a:pt x="3440" y="228"/>
                      </a:lnTo>
                      <a:lnTo>
                        <a:pt x="3498" y="254"/>
                      </a:lnTo>
                      <a:lnTo>
                        <a:pt x="3554" y="282"/>
                      </a:lnTo>
                      <a:lnTo>
                        <a:pt x="3608" y="312"/>
                      </a:lnTo>
                      <a:lnTo>
                        <a:pt x="3664" y="342"/>
                      </a:lnTo>
                      <a:lnTo>
                        <a:pt x="3716" y="374"/>
                      </a:lnTo>
                      <a:lnTo>
                        <a:pt x="3770" y="406"/>
                      </a:lnTo>
                      <a:lnTo>
                        <a:pt x="3822" y="440"/>
                      </a:lnTo>
                      <a:lnTo>
                        <a:pt x="3872" y="476"/>
                      </a:lnTo>
                      <a:lnTo>
                        <a:pt x="3922" y="512"/>
                      </a:lnTo>
                      <a:lnTo>
                        <a:pt x="3972" y="550"/>
                      </a:lnTo>
                      <a:lnTo>
                        <a:pt x="4020" y="590"/>
                      </a:lnTo>
                      <a:lnTo>
                        <a:pt x="4068" y="630"/>
                      </a:lnTo>
                      <a:lnTo>
                        <a:pt x="4114" y="670"/>
                      </a:lnTo>
                      <a:lnTo>
                        <a:pt x="4160" y="712"/>
                      </a:lnTo>
                      <a:lnTo>
                        <a:pt x="4204" y="756"/>
                      </a:lnTo>
                      <a:lnTo>
                        <a:pt x="4204" y="756"/>
                      </a:lnTo>
                      <a:lnTo>
                        <a:pt x="4246" y="800"/>
                      </a:lnTo>
                      <a:lnTo>
                        <a:pt x="4288" y="846"/>
                      </a:lnTo>
                      <a:lnTo>
                        <a:pt x="4330" y="892"/>
                      </a:lnTo>
                      <a:lnTo>
                        <a:pt x="4370" y="940"/>
                      </a:lnTo>
                      <a:lnTo>
                        <a:pt x="4410" y="988"/>
                      </a:lnTo>
                      <a:lnTo>
                        <a:pt x="4446" y="1036"/>
                      </a:lnTo>
                      <a:lnTo>
                        <a:pt x="4484" y="1086"/>
                      </a:lnTo>
                      <a:lnTo>
                        <a:pt x="4518" y="1138"/>
                      </a:lnTo>
                      <a:lnTo>
                        <a:pt x="4552" y="1190"/>
                      </a:lnTo>
                      <a:lnTo>
                        <a:pt x="4586" y="1242"/>
                      </a:lnTo>
                      <a:lnTo>
                        <a:pt x="4618" y="1296"/>
                      </a:lnTo>
                      <a:lnTo>
                        <a:pt x="4648" y="1350"/>
                      </a:lnTo>
                      <a:lnTo>
                        <a:pt x="4678" y="1406"/>
                      </a:lnTo>
                      <a:lnTo>
                        <a:pt x="4706" y="1462"/>
                      </a:lnTo>
                      <a:lnTo>
                        <a:pt x="4732" y="1518"/>
                      </a:lnTo>
                      <a:lnTo>
                        <a:pt x="4756" y="1576"/>
                      </a:lnTo>
                      <a:lnTo>
                        <a:pt x="0" y="157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alpha val="75000"/>
                      </a:srgbClr>
                    </a:gs>
                    <a:gs pos="100000">
                      <a:srgbClr val="FFFFFF">
                        <a:gamma/>
                        <a:tint val="0"/>
                        <a:invGamma/>
                        <a:alpha val="0"/>
                      </a:srgbClr>
                    </a:gs>
                  </a:gsLst>
                  <a:lin ang="5400000" scaled="1"/>
                </a:gradFill>
                <a:ln w="9525" cap="flat" cmpd="sng">
                  <a:noFill/>
                  <a:prstDash val="solid"/>
                  <a:round/>
                </a:ln>
                <a:effectLst/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Oval 58"/>
                <p:cNvSpPr>
                  <a:spLocks noChangeArrowheads="1"/>
                </p:cNvSpPr>
                <p:nvPr/>
              </p:nvSpPr>
              <p:spPr bwMode="auto">
                <a:xfrm>
                  <a:off x="1772" y="2052"/>
                  <a:ext cx="225" cy="2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67ABF5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1026068" y="4268263"/>
              <a:ext cx="391951" cy="174703"/>
            </a:xfrm>
            <a:custGeom>
              <a:avLst/>
              <a:gdLst>
                <a:gd name="T0" fmla="*/ 105 w 1492"/>
                <a:gd name="T1" fmla="*/ 1 h 746"/>
                <a:gd name="T2" fmla="*/ 75 w 1492"/>
                <a:gd name="T3" fmla="*/ 5 h 746"/>
                <a:gd name="T4" fmla="*/ 49 w 1492"/>
                <a:gd name="T5" fmla="*/ 12 h 746"/>
                <a:gd name="T6" fmla="*/ 28 w 1492"/>
                <a:gd name="T7" fmla="*/ 23 h 746"/>
                <a:gd name="T8" fmla="*/ 12 w 1492"/>
                <a:gd name="T9" fmla="*/ 35 h 746"/>
                <a:gd name="T10" fmla="*/ 3 w 1492"/>
                <a:gd name="T11" fmla="*/ 50 h 746"/>
                <a:gd name="T12" fmla="*/ 0 w 1492"/>
                <a:gd name="T13" fmla="*/ 62 h 746"/>
                <a:gd name="T14" fmla="*/ 4 w 1492"/>
                <a:gd name="T15" fmla="*/ 77 h 746"/>
                <a:gd name="T16" fmla="*/ 15 w 1492"/>
                <a:gd name="T17" fmla="*/ 92 h 746"/>
                <a:gd name="T18" fmla="*/ 32 w 1492"/>
                <a:gd name="T19" fmla="*/ 104 h 746"/>
                <a:gd name="T20" fmla="*/ 54 w 1492"/>
                <a:gd name="T21" fmla="*/ 114 h 746"/>
                <a:gd name="T22" fmla="*/ 81 w 1492"/>
                <a:gd name="T23" fmla="*/ 120 h 746"/>
                <a:gd name="T24" fmla="*/ 111 w 1492"/>
                <a:gd name="T25" fmla="*/ 124 h 746"/>
                <a:gd name="T26" fmla="*/ 136 w 1492"/>
                <a:gd name="T27" fmla="*/ 124 h 746"/>
                <a:gd name="T28" fmla="*/ 166 w 1492"/>
                <a:gd name="T29" fmla="*/ 120 h 746"/>
                <a:gd name="T30" fmla="*/ 193 w 1492"/>
                <a:gd name="T31" fmla="*/ 114 h 746"/>
                <a:gd name="T32" fmla="*/ 215 w 1492"/>
                <a:gd name="T33" fmla="*/ 104 h 746"/>
                <a:gd name="T34" fmla="*/ 232 w 1492"/>
                <a:gd name="T35" fmla="*/ 92 h 746"/>
                <a:gd name="T36" fmla="*/ 243 w 1492"/>
                <a:gd name="T37" fmla="*/ 77 h 746"/>
                <a:gd name="T38" fmla="*/ 247 w 1492"/>
                <a:gd name="T39" fmla="*/ 62 h 746"/>
                <a:gd name="T40" fmla="*/ 244 w 1492"/>
                <a:gd name="T41" fmla="*/ 50 h 746"/>
                <a:gd name="T42" fmla="*/ 235 w 1492"/>
                <a:gd name="T43" fmla="*/ 35 h 746"/>
                <a:gd name="T44" fmla="*/ 219 w 1492"/>
                <a:gd name="T45" fmla="*/ 23 h 746"/>
                <a:gd name="T46" fmla="*/ 198 w 1492"/>
                <a:gd name="T47" fmla="*/ 12 h 746"/>
                <a:gd name="T48" fmla="*/ 172 w 1492"/>
                <a:gd name="T49" fmla="*/ 5 h 746"/>
                <a:gd name="T50" fmla="*/ 142 w 1492"/>
                <a:gd name="T51" fmla="*/ 1 h 746"/>
                <a:gd name="T52" fmla="*/ 124 w 1492"/>
                <a:gd name="T53" fmla="*/ 120 h 746"/>
                <a:gd name="T54" fmla="*/ 100 w 1492"/>
                <a:gd name="T55" fmla="*/ 119 h 746"/>
                <a:gd name="T56" fmla="*/ 73 w 1492"/>
                <a:gd name="T57" fmla="*/ 115 h 746"/>
                <a:gd name="T58" fmla="*/ 50 w 1492"/>
                <a:gd name="T59" fmla="*/ 107 h 746"/>
                <a:gd name="T60" fmla="*/ 31 w 1492"/>
                <a:gd name="T61" fmla="*/ 97 h 746"/>
                <a:gd name="T62" fmla="*/ 17 w 1492"/>
                <a:gd name="T63" fmla="*/ 85 h 746"/>
                <a:gd name="T64" fmla="*/ 9 w 1492"/>
                <a:gd name="T65" fmla="*/ 71 h 746"/>
                <a:gd name="T66" fmla="*/ 8 w 1492"/>
                <a:gd name="T67" fmla="*/ 59 h 746"/>
                <a:gd name="T68" fmla="*/ 13 w 1492"/>
                <a:gd name="T69" fmla="*/ 45 h 746"/>
                <a:gd name="T70" fmla="*/ 25 w 1492"/>
                <a:gd name="T71" fmla="*/ 32 h 746"/>
                <a:gd name="T72" fmla="*/ 42 w 1492"/>
                <a:gd name="T73" fmla="*/ 21 h 746"/>
                <a:gd name="T74" fmla="*/ 63 w 1492"/>
                <a:gd name="T75" fmla="*/ 12 h 746"/>
                <a:gd name="T76" fmla="*/ 89 w 1492"/>
                <a:gd name="T77" fmla="*/ 6 h 746"/>
                <a:gd name="T78" fmla="*/ 118 w 1492"/>
                <a:gd name="T79" fmla="*/ 4 h 746"/>
                <a:gd name="T80" fmla="*/ 141 w 1492"/>
                <a:gd name="T81" fmla="*/ 4 h 746"/>
                <a:gd name="T82" fmla="*/ 169 w 1492"/>
                <a:gd name="T83" fmla="*/ 8 h 746"/>
                <a:gd name="T84" fmla="*/ 193 w 1492"/>
                <a:gd name="T85" fmla="*/ 15 h 746"/>
                <a:gd name="T86" fmla="*/ 213 w 1492"/>
                <a:gd name="T87" fmla="*/ 25 h 746"/>
                <a:gd name="T88" fmla="*/ 228 w 1492"/>
                <a:gd name="T89" fmla="*/ 37 h 746"/>
                <a:gd name="T90" fmla="*/ 237 w 1492"/>
                <a:gd name="T91" fmla="*/ 50 h 746"/>
                <a:gd name="T92" fmla="*/ 239 w 1492"/>
                <a:gd name="T93" fmla="*/ 62 h 746"/>
                <a:gd name="T94" fmla="*/ 236 w 1492"/>
                <a:gd name="T95" fmla="*/ 77 h 746"/>
                <a:gd name="T96" fmla="*/ 225 w 1492"/>
                <a:gd name="T97" fmla="*/ 90 h 746"/>
                <a:gd name="T98" fmla="*/ 209 w 1492"/>
                <a:gd name="T99" fmla="*/ 101 h 746"/>
                <a:gd name="T100" fmla="*/ 188 w 1492"/>
                <a:gd name="T101" fmla="*/ 110 h 746"/>
                <a:gd name="T102" fmla="*/ 163 w 1492"/>
                <a:gd name="T103" fmla="*/ 117 h 746"/>
                <a:gd name="T104" fmla="*/ 135 w 1492"/>
                <a:gd name="T105" fmla="*/ 120 h 74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492"/>
                <a:gd name="T160" fmla="*/ 0 h 746"/>
                <a:gd name="T161" fmla="*/ 1492 w 1492"/>
                <a:gd name="T162" fmla="*/ 746 h 74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492" h="746">
                  <a:moveTo>
                    <a:pt x="746" y="0"/>
                  </a:move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3"/>
                  </a:lnTo>
                  <a:lnTo>
                    <a:pt x="4" y="411"/>
                  </a:lnTo>
                  <a:lnTo>
                    <a:pt x="9" y="430"/>
                  </a:lnTo>
                  <a:lnTo>
                    <a:pt x="16" y="448"/>
                  </a:lnTo>
                  <a:lnTo>
                    <a:pt x="23" y="466"/>
                  </a:lnTo>
                  <a:lnTo>
                    <a:pt x="34" y="485"/>
                  </a:lnTo>
                  <a:lnTo>
                    <a:pt x="45" y="501"/>
                  </a:lnTo>
                  <a:lnTo>
                    <a:pt x="58" y="518"/>
                  </a:lnTo>
                  <a:lnTo>
                    <a:pt x="74" y="535"/>
                  </a:lnTo>
                  <a:lnTo>
                    <a:pt x="91" y="551"/>
                  </a:lnTo>
                  <a:lnTo>
                    <a:pt x="107" y="566"/>
                  </a:lnTo>
                  <a:lnTo>
                    <a:pt x="127" y="582"/>
                  </a:lnTo>
                  <a:lnTo>
                    <a:pt x="148" y="596"/>
                  </a:lnTo>
                  <a:lnTo>
                    <a:pt x="171" y="610"/>
                  </a:lnTo>
                  <a:lnTo>
                    <a:pt x="194" y="624"/>
                  </a:lnTo>
                  <a:lnTo>
                    <a:pt x="219" y="637"/>
                  </a:lnTo>
                  <a:lnTo>
                    <a:pt x="245" y="649"/>
                  </a:lnTo>
                  <a:lnTo>
                    <a:pt x="272" y="661"/>
                  </a:lnTo>
                  <a:lnTo>
                    <a:pt x="299" y="672"/>
                  </a:lnTo>
                  <a:lnTo>
                    <a:pt x="329" y="683"/>
                  </a:lnTo>
                  <a:lnTo>
                    <a:pt x="359" y="692"/>
                  </a:lnTo>
                  <a:lnTo>
                    <a:pt x="390" y="701"/>
                  </a:lnTo>
                  <a:lnTo>
                    <a:pt x="422" y="710"/>
                  </a:lnTo>
                  <a:lnTo>
                    <a:pt x="456" y="716"/>
                  </a:lnTo>
                  <a:lnTo>
                    <a:pt x="490" y="724"/>
                  </a:lnTo>
                  <a:lnTo>
                    <a:pt x="525" y="729"/>
                  </a:lnTo>
                  <a:lnTo>
                    <a:pt x="560" y="735"/>
                  </a:lnTo>
                  <a:lnTo>
                    <a:pt x="596" y="738"/>
                  </a:lnTo>
                  <a:lnTo>
                    <a:pt x="632" y="742"/>
                  </a:lnTo>
                  <a:lnTo>
                    <a:pt x="670" y="745"/>
                  </a:lnTo>
                  <a:lnTo>
                    <a:pt x="707" y="746"/>
                  </a:lnTo>
                  <a:lnTo>
                    <a:pt x="746" y="746"/>
                  </a:lnTo>
                  <a:lnTo>
                    <a:pt x="785" y="746"/>
                  </a:lnTo>
                  <a:lnTo>
                    <a:pt x="822" y="745"/>
                  </a:lnTo>
                  <a:lnTo>
                    <a:pt x="860" y="742"/>
                  </a:lnTo>
                  <a:lnTo>
                    <a:pt x="896" y="738"/>
                  </a:lnTo>
                  <a:lnTo>
                    <a:pt x="933" y="735"/>
                  </a:lnTo>
                  <a:lnTo>
                    <a:pt x="967" y="729"/>
                  </a:lnTo>
                  <a:lnTo>
                    <a:pt x="1002" y="724"/>
                  </a:lnTo>
                  <a:lnTo>
                    <a:pt x="1036" y="716"/>
                  </a:lnTo>
                  <a:lnTo>
                    <a:pt x="1070" y="710"/>
                  </a:lnTo>
                  <a:lnTo>
                    <a:pt x="1102" y="701"/>
                  </a:lnTo>
                  <a:lnTo>
                    <a:pt x="1133" y="692"/>
                  </a:lnTo>
                  <a:lnTo>
                    <a:pt x="1163" y="683"/>
                  </a:lnTo>
                  <a:lnTo>
                    <a:pt x="1193" y="672"/>
                  </a:lnTo>
                  <a:lnTo>
                    <a:pt x="1220" y="661"/>
                  </a:lnTo>
                  <a:lnTo>
                    <a:pt x="1247" y="649"/>
                  </a:lnTo>
                  <a:lnTo>
                    <a:pt x="1273" y="637"/>
                  </a:lnTo>
                  <a:lnTo>
                    <a:pt x="1298" y="624"/>
                  </a:lnTo>
                  <a:lnTo>
                    <a:pt x="1321" y="610"/>
                  </a:lnTo>
                  <a:lnTo>
                    <a:pt x="1344" y="596"/>
                  </a:lnTo>
                  <a:lnTo>
                    <a:pt x="1365" y="582"/>
                  </a:lnTo>
                  <a:lnTo>
                    <a:pt x="1385" y="566"/>
                  </a:lnTo>
                  <a:lnTo>
                    <a:pt x="1401" y="551"/>
                  </a:lnTo>
                  <a:lnTo>
                    <a:pt x="1418" y="535"/>
                  </a:lnTo>
                  <a:lnTo>
                    <a:pt x="1434" y="518"/>
                  </a:lnTo>
                  <a:lnTo>
                    <a:pt x="1447" y="501"/>
                  </a:lnTo>
                  <a:lnTo>
                    <a:pt x="1458" y="485"/>
                  </a:lnTo>
                  <a:lnTo>
                    <a:pt x="1469" y="466"/>
                  </a:lnTo>
                  <a:lnTo>
                    <a:pt x="1476" y="448"/>
                  </a:lnTo>
                  <a:lnTo>
                    <a:pt x="1483" y="430"/>
                  </a:lnTo>
                  <a:lnTo>
                    <a:pt x="1488" y="411"/>
                  </a:lnTo>
                  <a:lnTo>
                    <a:pt x="1491" y="393"/>
                  </a:ln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close/>
                  <a:moveTo>
                    <a:pt x="746" y="723"/>
                  </a:moveTo>
                  <a:lnTo>
                    <a:pt x="746" y="723"/>
                  </a:lnTo>
                  <a:lnTo>
                    <a:pt x="710" y="723"/>
                  </a:lnTo>
                  <a:lnTo>
                    <a:pt x="675" y="722"/>
                  </a:lnTo>
                  <a:lnTo>
                    <a:pt x="640" y="719"/>
                  </a:lnTo>
                  <a:lnTo>
                    <a:pt x="605" y="716"/>
                  </a:lnTo>
                  <a:lnTo>
                    <a:pt x="571" y="713"/>
                  </a:lnTo>
                  <a:lnTo>
                    <a:pt x="537" y="707"/>
                  </a:lnTo>
                  <a:lnTo>
                    <a:pt x="505" y="702"/>
                  </a:lnTo>
                  <a:lnTo>
                    <a:pt x="474" y="696"/>
                  </a:lnTo>
                  <a:lnTo>
                    <a:pt x="443" y="689"/>
                  </a:lnTo>
                  <a:lnTo>
                    <a:pt x="413" y="681"/>
                  </a:lnTo>
                  <a:lnTo>
                    <a:pt x="383" y="672"/>
                  </a:lnTo>
                  <a:lnTo>
                    <a:pt x="355" y="663"/>
                  </a:lnTo>
                  <a:lnTo>
                    <a:pt x="328" y="654"/>
                  </a:lnTo>
                  <a:lnTo>
                    <a:pt x="302" y="644"/>
                  </a:lnTo>
                  <a:lnTo>
                    <a:pt x="276" y="632"/>
                  </a:lnTo>
                  <a:lnTo>
                    <a:pt x="251" y="621"/>
                  </a:lnTo>
                  <a:lnTo>
                    <a:pt x="228" y="609"/>
                  </a:lnTo>
                  <a:lnTo>
                    <a:pt x="206" y="596"/>
                  </a:lnTo>
                  <a:lnTo>
                    <a:pt x="185" y="583"/>
                  </a:lnTo>
                  <a:lnTo>
                    <a:pt x="166" y="569"/>
                  </a:lnTo>
                  <a:lnTo>
                    <a:pt x="148" y="554"/>
                  </a:lnTo>
                  <a:lnTo>
                    <a:pt x="131" y="540"/>
                  </a:lnTo>
                  <a:lnTo>
                    <a:pt x="115" y="525"/>
                  </a:lnTo>
                  <a:lnTo>
                    <a:pt x="101" y="509"/>
                  </a:lnTo>
                  <a:lnTo>
                    <a:pt x="89" y="494"/>
                  </a:lnTo>
                  <a:lnTo>
                    <a:pt x="78" y="477"/>
                  </a:lnTo>
                  <a:lnTo>
                    <a:pt x="69" y="461"/>
                  </a:lnTo>
                  <a:lnTo>
                    <a:pt x="61" y="444"/>
                  </a:lnTo>
                  <a:lnTo>
                    <a:pt x="54" y="426"/>
                  </a:lnTo>
                  <a:lnTo>
                    <a:pt x="51" y="409"/>
                  </a:lnTo>
                  <a:lnTo>
                    <a:pt x="48" y="391"/>
                  </a:lnTo>
                  <a:lnTo>
                    <a:pt x="47" y="373"/>
                  </a:lnTo>
                  <a:lnTo>
                    <a:pt x="48" y="355"/>
                  </a:lnTo>
                  <a:lnTo>
                    <a:pt x="51" y="337"/>
                  </a:lnTo>
                  <a:lnTo>
                    <a:pt x="54" y="320"/>
                  </a:lnTo>
                  <a:lnTo>
                    <a:pt x="61" y="302"/>
                  </a:lnTo>
                  <a:lnTo>
                    <a:pt x="69" y="285"/>
                  </a:lnTo>
                  <a:lnTo>
                    <a:pt x="78" y="269"/>
                  </a:lnTo>
                  <a:lnTo>
                    <a:pt x="89" y="253"/>
                  </a:lnTo>
                  <a:lnTo>
                    <a:pt x="101" y="237"/>
                  </a:lnTo>
                  <a:lnTo>
                    <a:pt x="115" y="222"/>
                  </a:lnTo>
                  <a:lnTo>
                    <a:pt x="131" y="206"/>
                  </a:lnTo>
                  <a:lnTo>
                    <a:pt x="148" y="192"/>
                  </a:lnTo>
                  <a:lnTo>
                    <a:pt x="166" y="177"/>
                  </a:lnTo>
                  <a:lnTo>
                    <a:pt x="185" y="163"/>
                  </a:lnTo>
                  <a:lnTo>
                    <a:pt x="206" y="150"/>
                  </a:lnTo>
                  <a:lnTo>
                    <a:pt x="228" y="137"/>
                  </a:lnTo>
                  <a:lnTo>
                    <a:pt x="251" y="126"/>
                  </a:lnTo>
                  <a:lnTo>
                    <a:pt x="276" y="114"/>
                  </a:lnTo>
                  <a:lnTo>
                    <a:pt x="302" y="102"/>
                  </a:lnTo>
                  <a:lnTo>
                    <a:pt x="328" y="92"/>
                  </a:lnTo>
                  <a:lnTo>
                    <a:pt x="355" y="83"/>
                  </a:lnTo>
                  <a:lnTo>
                    <a:pt x="383" y="74"/>
                  </a:lnTo>
                  <a:lnTo>
                    <a:pt x="413" y="65"/>
                  </a:lnTo>
                  <a:lnTo>
                    <a:pt x="443" y="57"/>
                  </a:lnTo>
                  <a:lnTo>
                    <a:pt x="474" y="51"/>
                  </a:lnTo>
                  <a:lnTo>
                    <a:pt x="505" y="44"/>
                  </a:lnTo>
                  <a:lnTo>
                    <a:pt x="537" y="39"/>
                  </a:lnTo>
                  <a:lnTo>
                    <a:pt x="571" y="34"/>
                  </a:lnTo>
                  <a:lnTo>
                    <a:pt x="605" y="30"/>
                  </a:lnTo>
                  <a:lnTo>
                    <a:pt x="640" y="27"/>
                  </a:lnTo>
                  <a:lnTo>
                    <a:pt x="675" y="25"/>
                  </a:lnTo>
                  <a:lnTo>
                    <a:pt x="710" y="23"/>
                  </a:lnTo>
                  <a:lnTo>
                    <a:pt x="746" y="23"/>
                  </a:lnTo>
                  <a:lnTo>
                    <a:pt x="782" y="23"/>
                  </a:lnTo>
                  <a:lnTo>
                    <a:pt x="817" y="25"/>
                  </a:lnTo>
                  <a:lnTo>
                    <a:pt x="852" y="27"/>
                  </a:lnTo>
                  <a:lnTo>
                    <a:pt x="887" y="30"/>
                  </a:lnTo>
                  <a:lnTo>
                    <a:pt x="921" y="34"/>
                  </a:lnTo>
                  <a:lnTo>
                    <a:pt x="955" y="39"/>
                  </a:lnTo>
                  <a:lnTo>
                    <a:pt x="987" y="44"/>
                  </a:lnTo>
                  <a:lnTo>
                    <a:pt x="1018" y="51"/>
                  </a:lnTo>
                  <a:lnTo>
                    <a:pt x="1049" y="57"/>
                  </a:lnTo>
                  <a:lnTo>
                    <a:pt x="1079" y="65"/>
                  </a:lnTo>
                  <a:lnTo>
                    <a:pt x="1109" y="74"/>
                  </a:lnTo>
                  <a:lnTo>
                    <a:pt x="1137" y="83"/>
                  </a:lnTo>
                  <a:lnTo>
                    <a:pt x="1164" y="92"/>
                  </a:lnTo>
                  <a:lnTo>
                    <a:pt x="1190" y="102"/>
                  </a:lnTo>
                  <a:lnTo>
                    <a:pt x="1216" y="114"/>
                  </a:lnTo>
                  <a:lnTo>
                    <a:pt x="1241" y="126"/>
                  </a:lnTo>
                  <a:lnTo>
                    <a:pt x="1264" y="137"/>
                  </a:lnTo>
                  <a:lnTo>
                    <a:pt x="1286" y="150"/>
                  </a:lnTo>
                  <a:lnTo>
                    <a:pt x="1307" y="163"/>
                  </a:lnTo>
                  <a:lnTo>
                    <a:pt x="1326" y="177"/>
                  </a:lnTo>
                  <a:lnTo>
                    <a:pt x="1344" y="192"/>
                  </a:lnTo>
                  <a:lnTo>
                    <a:pt x="1361" y="206"/>
                  </a:lnTo>
                  <a:lnTo>
                    <a:pt x="1377" y="222"/>
                  </a:lnTo>
                  <a:lnTo>
                    <a:pt x="1391" y="237"/>
                  </a:lnTo>
                  <a:lnTo>
                    <a:pt x="1403" y="253"/>
                  </a:lnTo>
                  <a:lnTo>
                    <a:pt x="1414" y="269"/>
                  </a:lnTo>
                  <a:lnTo>
                    <a:pt x="1423" y="285"/>
                  </a:lnTo>
                  <a:lnTo>
                    <a:pt x="1431" y="302"/>
                  </a:lnTo>
                  <a:lnTo>
                    <a:pt x="1438" y="320"/>
                  </a:lnTo>
                  <a:lnTo>
                    <a:pt x="1441" y="337"/>
                  </a:lnTo>
                  <a:lnTo>
                    <a:pt x="1444" y="355"/>
                  </a:lnTo>
                  <a:lnTo>
                    <a:pt x="1445" y="373"/>
                  </a:lnTo>
                  <a:lnTo>
                    <a:pt x="1444" y="391"/>
                  </a:lnTo>
                  <a:lnTo>
                    <a:pt x="1441" y="409"/>
                  </a:lnTo>
                  <a:lnTo>
                    <a:pt x="1438" y="426"/>
                  </a:lnTo>
                  <a:lnTo>
                    <a:pt x="1431" y="444"/>
                  </a:lnTo>
                  <a:lnTo>
                    <a:pt x="1423" y="461"/>
                  </a:lnTo>
                  <a:lnTo>
                    <a:pt x="1414" y="477"/>
                  </a:lnTo>
                  <a:lnTo>
                    <a:pt x="1403" y="494"/>
                  </a:lnTo>
                  <a:lnTo>
                    <a:pt x="1391" y="509"/>
                  </a:lnTo>
                  <a:lnTo>
                    <a:pt x="1377" y="525"/>
                  </a:lnTo>
                  <a:lnTo>
                    <a:pt x="1361" y="540"/>
                  </a:lnTo>
                  <a:lnTo>
                    <a:pt x="1344" y="554"/>
                  </a:lnTo>
                  <a:lnTo>
                    <a:pt x="1326" y="569"/>
                  </a:lnTo>
                  <a:lnTo>
                    <a:pt x="1307" y="583"/>
                  </a:lnTo>
                  <a:lnTo>
                    <a:pt x="1286" y="596"/>
                  </a:lnTo>
                  <a:lnTo>
                    <a:pt x="1264" y="609"/>
                  </a:lnTo>
                  <a:lnTo>
                    <a:pt x="1241" y="621"/>
                  </a:lnTo>
                  <a:lnTo>
                    <a:pt x="1216" y="632"/>
                  </a:lnTo>
                  <a:lnTo>
                    <a:pt x="1190" y="644"/>
                  </a:lnTo>
                  <a:lnTo>
                    <a:pt x="1164" y="654"/>
                  </a:lnTo>
                  <a:lnTo>
                    <a:pt x="1137" y="663"/>
                  </a:lnTo>
                  <a:lnTo>
                    <a:pt x="1109" y="672"/>
                  </a:lnTo>
                  <a:lnTo>
                    <a:pt x="1079" y="681"/>
                  </a:lnTo>
                  <a:lnTo>
                    <a:pt x="1049" y="689"/>
                  </a:lnTo>
                  <a:lnTo>
                    <a:pt x="1018" y="696"/>
                  </a:lnTo>
                  <a:lnTo>
                    <a:pt x="987" y="702"/>
                  </a:lnTo>
                  <a:lnTo>
                    <a:pt x="955" y="707"/>
                  </a:lnTo>
                  <a:lnTo>
                    <a:pt x="921" y="713"/>
                  </a:lnTo>
                  <a:lnTo>
                    <a:pt x="887" y="716"/>
                  </a:lnTo>
                  <a:lnTo>
                    <a:pt x="852" y="719"/>
                  </a:lnTo>
                  <a:lnTo>
                    <a:pt x="817" y="722"/>
                  </a:lnTo>
                  <a:lnTo>
                    <a:pt x="782" y="723"/>
                  </a:lnTo>
                  <a:lnTo>
                    <a:pt x="746" y="723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8112254" y="4913766"/>
            <a:ext cx="1981200" cy="719137"/>
          </a:xfrm>
          <a:prstGeom prst="ellipse">
            <a:avLst/>
          </a:prstGeom>
          <a:gradFill rotWithShape="1"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gamma/>
                  <a:shade val="46275"/>
                  <a:invGamma/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31750" cap="rnd" algn="ctr">
            <a:noFill/>
            <a:prstDash val="sysDot"/>
            <a:round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Group 10"/>
          <p:cNvGrpSpPr/>
          <p:nvPr/>
        </p:nvGrpSpPr>
        <p:grpSpPr bwMode="auto">
          <a:xfrm>
            <a:off x="7932867" y="2530928"/>
            <a:ext cx="2368550" cy="2881313"/>
            <a:chOff x="2953" y="1386"/>
            <a:chExt cx="1492" cy="2052"/>
          </a:xfrm>
        </p:grpSpPr>
        <p:sp>
          <p:nvSpPr>
            <p:cNvPr id="18" name="Freeform 11"/>
            <p:cNvSpPr/>
            <p:nvPr/>
          </p:nvSpPr>
          <p:spPr bwMode="auto">
            <a:xfrm>
              <a:off x="2953" y="1386"/>
              <a:ext cx="1492" cy="2052"/>
            </a:xfrm>
            <a:custGeom>
              <a:avLst/>
              <a:gdLst>
                <a:gd name="T0" fmla="*/ 1492 w 1492"/>
                <a:gd name="T1" fmla="*/ 373 h 2052"/>
                <a:gd name="T2" fmla="*/ 1488 w 1492"/>
                <a:gd name="T3" fmla="*/ 336 h 2052"/>
                <a:gd name="T4" fmla="*/ 1476 w 1492"/>
                <a:gd name="T5" fmla="*/ 298 h 2052"/>
                <a:gd name="T6" fmla="*/ 1458 w 1492"/>
                <a:gd name="T7" fmla="*/ 262 h 2052"/>
                <a:gd name="T8" fmla="*/ 1434 w 1492"/>
                <a:gd name="T9" fmla="*/ 228 h 2052"/>
                <a:gd name="T10" fmla="*/ 1401 w 1492"/>
                <a:gd name="T11" fmla="*/ 196 h 2052"/>
                <a:gd name="T12" fmla="*/ 1365 w 1492"/>
                <a:gd name="T13" fmla="*/ 165 h 2052"/>
                <a:gd name="T14" fmla="*/ 1321 w 1492"/>
                <a:gd name="T15" fmla="*/ 136 h 2052"/>
                <a:gd name="T16" fmla="*/ 1273 w 1492"/>
                <a:gd name="T17" fmla="*/ 109 h 2052"/>
                <a:gd name="T18" fmla="*/ 1220 w 1492"/>
                <a:gd name="T19" fmla="*/ 86 h 2052"/>
                <a:gd name="T20" fmla="*/ 1163 w 1492"/>
                <a:gd name="T21" fmla="*/ 63 h 2052"/>
                <a:gd name="T22" fmla="*/ 1102 w 1492"/>
                <a:gd name="T23" fmla="*/ 45 h 2052"/>
                <a:gd name="T24" fmla="*/ 1036 w 1492"/>
                <a:gd name="T25" fmla="*/ 30 h 2052"/>
                <a:gd name="T26" fmla="*/ 967 w 1492"/>
                <a:gd name="T27" fmla="*/ 17 h 2052"/>
                <a:gd name="T28" fmla="*/ 896 w 1492"/>
                <a:gd name="T29" fmla="*/ 8 h 2052"/>
                <a:gd name="T30" fmla="*/ 822 w 1492"/>
                <a:gd name="T31" fmla="*/ 1 h 2052"/>
                <a:gd name="T32" fmla="*/ 746 w 1492"/>
                <a:gd name="T33" fmla="*/ 0 h 2052"/>
                <a:gd name="T34" fmla="*/ 707 w 1492"/>
                <a:gd name="T35" fmla="*/ 0 h 2052"/>
                <a:gd name="T36" fmla="*/ 632 w 1492"/>
                <a:gd name="T37" fmla="*/ 4 h 2052"/>
                <a:gd name="T38" fmla="*/ 560 w 1492"/>
                <a:gd name="T39" fmla="*/ 12 h 2052"/>
                <a:gd name="T40" fmla="*/ 490 w 1492"/>
                <a:gd name="T41" fmla="*/ 22 h 2052"/>
                <a:gd name="T42" fmla="*/ 422 w 1492"/>
                <a:gd name="T43" fmla="*/ 36 h 2052"/>
                <a:gd name="T44" fmla="*/ 359 w 1492"/>
                <a:gd name="T45" fmla="*/ 54 h 2052"/>
                <a:gd name="T46" fmla="*/ 299 w 1492"/>
                <a:gd name="T47" fmla="*/ 74 h 2052"/>
                <a:gd name="T48" fmla="*/ 245 w 1492"/>
                <a:gd name="T49" fmla="*/ 97 h 2052"/>
                <a:gd name="T50" fmla="*/ 194 w 1492"/>
                <a:gd name="T51" fmla="*/ 122 h 2052"/>
                <a:gd name="T52" fmla="*/ 148 w 1492"/>
                <a:gd name="T53" fmla="*/ 150 h 2052"/>
                <a:gd name="T54" fmla="*/ 107 w 1492"/>
                <a:gd name="T55" fmla="*/ 180 h 2052"/>
                <a:gd name="T56" fmla="*/ 74 w 1492"/>
                <a:gd name="T57" fmla="*/ 211 h 2052"/>
                <a:gd name="T58" fmla="*/ 45 w 1492"/>
                <a:gd name="T59" fmla="*/ 245 h 2052"/>
                <a:gd name="T60" fmla="*/ 23 w 1492"/>
                <a:gd name="T61" fmla="*/ 280 h 2052"/>
                <a:gd name="T62" fmla="*/ 9 w 1492"/>
                <a:gd name="T63" fmla="*/ 316 h 2052"/>
                <a:gd name="T64" fmla="*/ 1 w 1492"/>
                <a:gd name="T65" fmla="*/ 354 h 2052"/>
                <a:gd name="T66" fmla="*/ 0 w 1492"/>
                <a:gd name="T67" fmla="*/ 373 h 2052"/>
                <a:gd name="T68" fmla="*/ 6 w 1492"/>
                <a:gd name="T69" fmla="*/ 420 h 2052"/>
                <a:gd name="T70" fmla="*/ 376 w 1492"/>
                <a:gd name="T71" fmla="*/ 1889 h 2052"/>
                <a:gd name="T72" fmla="*/ 376 w 1492"/>
                <a:gd name="T73" fmla="*/ 1889 h 2052"/>
                <a:gd name="T74" fmla="*/ 391 w 1492"/>
                <a:gd name="T75" fmla="*/ 1922 h 2052"/>
                <a:gd name="T76" fmla="*/ 417 w 1492"/>
                <a:gd name="T77" fmla="*/ 1954 h 2052"/>
                <a:gd name="T78" fmla="*/ 453 w 1492"/>
                <a:gd name="T79" fmla="*/ 1981 h 2052"/>
                <a:gd name="T80" fmla="*/ 499 w 1492"/>
                <a:gd name="T81" fmla="*/ 2005 h 2052"/>
                <a:gd name="T82" fmla="*/ 552 w 1492"/>
                <a:gd name="T83" fmla="*/ 2025 h 2052"/>
                <a:gd name="T84" fmla="*/ 611 w 1492"/>
                <a:gd name="T85" fmla="*/ 2039 h 2052"/>
                <a:gd name="T86" fmla="*/ 676 w 1492"/>
                <a:gd name="T87" fmla="*/ 2048 h 2052"/>
                <a:gd name="T88" fmla="*/ 746 w 1492"/>
                <a:gd name="T89" fmla="*/ 2052 h 2052"/>
                <a:gd name="T90" fmla="*/ 781 w 1492"/>
                <a:gd name="T91" fmla="*/ 2051 h 2052"/>
                <a:gd name="T92" fmla="*/ 848 w 1492"/>
                <a:gd name="T93" fmla="*/ 2044 h 2052"/>
                <a:gd name="T94" fmla="*/ 912 w 1492"/>
                <a:gd name="T95" fmla="*/ 2033 h 2052"/>
                <a:gd name="T96" fmla="*/ 967 w 1492"/>
                <a:gd name="T97" fmla="*/ 2016 h 2052"/>
                <a:gd name="T98" fmla="*/ 1018 w 1492"/>
                <a:gd name="T99" fmla="*/ 1994 h 2052"/>
                <a:gd name="T100" fmla="*/ 1058 w 1492"/>
                <a:gd name="T101" fmla="*/ 1968 h 2052"/>
                <a:gd name="T102" fmla="*/ 1089 w 1492"/>
                <a:gd name="T103" fmla="*/ 1938 h 2052"/>
                <a:gd name="T104" fmla="*/ 1110 w 1492"/>
                <a:gd name="T105" fmla="*/ 1906 h 2052"/>
                <a:gd name="T106" fmla="*/ 1116 w 1492"/>
                <a:gd name="T107" fmla="*/ 1889 h 2052"/>
                <a:gd name="T108" fmla="*/ 1486 w 1492"/>
                <a:gd name="T109" fmla="*/ 420 h 2052"/>
                <a:gd name="T110" fmla="*/ 1491 w 1492"/>
                <a:gd name="T111" fmla="*/ 396 h 2052"/>
                <a:gd name="T112" fmla="*/ 1492 w 1492"/>
                <a:gd name="T113" fmla="*/ 373 h 205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92"/>
                <a:gd name="T172" fmla="*/ 0 h 2052"/>
                <a:gd name="T173" fmla="*/ 1492 w 1492"/>
                <a:gd name="T174" fmla="*/ 2052 h 205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92" h="2052">
                  <a:moveTo>
                    <a:pt x="1492" y="373"/>
                  </a:move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6"/>
                  </a:lnTo>
                  <a:lnTo>
                    <a:pt x="6" y="420"/>
                  </a:lnTo>
                  <a:lnTo>
                    <a:pt x="5" y="420"/>
                  </a:lnTo>
                  <a:lnTo>
                    <a:pt x="376" y="1889"/>
                  </a:lnTo>
                  <a:lnTo>
                    <a:pt x="382" y="1906"/>
                  </a:lnTo>
                  <a:lnTo>
                    <a:pt x="391" y="1922"/>
                  </a:lnTo>
                  <a:lnTo>
                    <a:pt x="403" y="1938"/>
                  </a:lnTo>
                  <a:lnTo>
                    <a:pt x="417" y="1954"/>
                  </a:lnTo>
                  <a:lnTo>
                    <a:pt x="434" y="1968"/>
                  </a:lnTo>
                  <a:lnTo>
                    <a:pt x="453" y="1981"/>
                  </a:lnTo>
                  <a:lnTo>
                    <a:pt x="474" y="1994"/>
                  </a:lnTo>
                  <a:lnTo>
                    <a:pt x="499" y="2005"/>
                  </a:lnTo>
                  <a:lnTo>
                    <a:pt x="525" y="2016"/>
                  </a:lnTo>
                  <a:lnTo>
                    <a:pt x="552" y="2025"/>
                  </a:lnTo>
                  <a:lnTo>
                    <a:pt x="580" y="2033"/>
                  </a:lnTo>
                  <a:lnTo>
                    <a:pt x="611" y="2039"/>
                  </a:lnTo>
                  <a:lnTo>
                    <a:pt x="644" y="2044"/>
                  </a:lnTo>
                  <a:lnTo>
                    <a:pt x="676" y="2048"/>
                  </a:lnTo>
                  <a:lnTo>
                    <a:pt x="711" y="2051"/>
                  </a:lnTo>
                  <a:lnTo>
                    <a:pt x="746" y="2052"/>
                  </a:lnTo>
                  <a:lnTo>
                    <a:pt x="781" y="2051"/>
                  </a:lnTo>
                  <a:lnTo>
                    <a:pt x="816" y="2048"/>
                  </a:lnTo>
                  <a:lnTo>
                    <a:pt x="848" y="2044"/>
                  </a:lnTo>
                  <a:lnTo>
                    <a:pt x="881" y="2039"/>
                  </a:lnTo>
                  <a:lnTo>
                    <a:pt x="912" y="2033"/>
                  </a:lnTo>
                  <a:lnTo>
                    <a:pt x="940" y="2025"/>
                  </a:lnTo>
                  <a:lnTo>
                    <a:pt x="967" y="2016"/>
                  </a:lnTo>
                  <a:lnTo>
                    <a:pt x="993" y="2005"/>
                  </a:lnTo>
                  <a:lnTo>
                    <a:pt x="1018" y="1994"/>
                  </a:lnTo>
                  <a:lnTo>
                    <a:pt x="1039" y="1981"/>
                  </a:lnTo>
                  <a:lnTo>
                    <a:pt x="1058" y="1968"/>
                  </a:lnTo>
                  <a:lnTo>
                    <a:pt x="1075" y="1954"/>
                  </a:lnTo>
                  <a:lnTo>
                    <a:pt x="1089" y="1938"/>
                  </a:lnTo>
                  <a:lnTo>
                    <a:pt x="1101" y="1922"/>
                  </a:lnTo>
                  <a:lnTo>
                    <a:pt x="1110" y="1906"/>
                  </a:lnTo>
                  <a:lnTo>
                    <a:pt x="1116" y="1889"/>
                  </a:lnTo>
                  <a:lnTo>
                    <a:pt x="1487" y="420"/>
                  </a:lnTo>
                  <a:lnTo>
                    <a:pt x="1486" y="420"/>
                  </a:lnTo>
                  <a:lnTo>
                    <a:pt x="1491" y="396"/>
                  </a:lnTo>
                  <a:lnTo>
                    <a:pt x="1492" y="373"/>
                  </a:lnTo>
                  <a:close/>
                </a:path>
              </a:pathLst>
            </a:custGeom>
            <a:gradFill rotWithShape="1">
              <a:gsLst>
                <a:gs pos="0">
                  <a:srgbClr val="5B5B5B"/>
                </a:gs>
                <a:gs pos="50000">
                  <a:srgbClr val="B2B2B2"/>
                </a:gs>
                <a:gs pos="100000">
                  <a:srgbClr val="5B5B5B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2953" y="1386"/>
              <a:ext cx="1492" cy="746"/>
            </a:xfrm>
            <a:custGeom>
              <a:avLst/>
              <a:gdLst>
                <a:gd name="T0" fmla="*/ 632 w 1492"/>
                <a:gd name="T1" fmla="*/ 4 h 746"/>
                <a:gd name="T2" fmla="*/ 456 w 1492"/>
                <a:gd name="T3" fmla="*/ 30 h 746"/>
                <a:gd name="T4" fmla="*/ 299 w 1492"/>
                <a:gd name="T5" fmla="*/ 74 h 746"/>
                <a:gd name="T6" fmla="*/ 171 w 1492"/>
                <a:gd name="T7" fmla="*/ 136 h 746"/>
                <a:gd name="T8" fmla="*/ 74 w 1492"/>
                <a:gd name="T9" fmla="*/ 211 h 746"/>
                <a:gd name="T10" fmla="*/ 16 w 1492"/>
                <a:gd name="T11" fmla="*/ 298 h 746"/>
                <a:gd name="T12" fmla="*/ 0 w 1492"/>
                <a:gd name="T13" fmla="*/ 373 h 746"/>
                <a:gd name="T14" fmla="*/ 23 w 1492"/>
                <a:gd name="T15" fmla="*/ 466 h 746"/>
                <a:gd name="T16" fmla="*/ 91 w 1492"/>
                <a:gd name="T17" fmla="*/ 551 h 746"/>
                <a:gd name="T18" fmla="*/ 194 w 1492"/>
                <a:gd name="T19" fmla="*/ 624 h 746"/>
                <a:gd name="T20" fmla="*/ 329 w 1492"/>
                <a:gd name="T21" fmla="*/ 683 h 746"/>
                <a:gd name="T22" fmla="*/ 490 w 1492"/>
                <a:gd name="T23" fmla="*/ 724 h 746"/>
                <a:gd name="T24" fmla="*/ 670 w 1492"/>
                <a:gd name="T25" fmla="*/ 745 h 746"/>
                <a:gd name="T26" fmla="*/ 822 w 1492"/>
                <a:gd name="T27" fmla="*/ 745 h 746"/>
                <a:gd name="T28" fmla="*/ 1002 w 1492"/>
                <a:gd name="T29" fmla="*/ 724 h 746"/>
                <a:gd name="T30" fmla="*/ 1163 w 1492"/>
                <a:gd name="T31" fmla="*/ 683 h 746"/>
                <a:gd name="T32" fmla="*/ 1298 w 1492"/>
                <a:gd name="T33" fmla="*/ 624 h 746"/>
                <a:gd name="T34" fmla="*/ 1401 w 1492"/>
                <a:gd name="T35" fmla="*/ 551 h 746"/>
                <a:gd name="T36" fmla="*/ 1469 w 1492"/>
                <a:gd name="T37" fmla="*/ 466 h 746"/>
                <a:gd name="T38" fmla="*/ 1492 w 1492"/>
                <a:gd name="T39" fmla="*/ 373 h 746"/>
                <a:gd name="T40" fmla="*/ 1476 w 1492"/>
                <a:gd name="T41" fmla="*/ 298 h 746"/>
                <a:gd name="T42" fmla="*/ 1418 w 1492"/>
                <a:gd name="T43" fmla="*/ 211 h 746"/>
                <a:gd name="T44" fmla="*/ 1321 w 1492"/>
                <a:gd name="T45" fmla="*/ 136 h 746"/>
                <a:gd name="T46" fmla="*/ 1193 w 1492"/>
                <a:gd name="T47" fmla="*/ 74 h 746"/>
                <a:gd name="T48" fmla="*/ 1036 w 1492"/>
                <a:gd name="T49" fmla="*/ 30 h 746"/>
                <a:gd name="T50" fmla="*/ 860 w 1492"/>
                <a:gd name="T51" fmla="*/ 4 h 746"/>
                <a:gd name="T52" fmla="*/ 746 w 1492"/>
                <a:gd name="T53" fmla="*/ 723 h 746"/>
                <a:gd name="T54" fmla="*/ 605 w 1492"/>
                <a:gd name="T55" fmla="*/ 716 h 746"/>
                <a:gd name="T56" fmla="*/ 443 w 1492"/>
                <a:gd name="T57" fmla="*/ 689 h 746"/>
                <a:gd name="T58" fmla="*/ 302 w 1492"/>
                <a:gd name="T59" fmla="*/ 644 h 746"/>
                <a:gd name="T60" fmla="*/ 185 w 1492"/>
                <a:gd name="T61" fmla="*/ 583 h 746"/>
                <a:gd name="T62" fmla="*/ 101 w 1492"/>
                <a:gd name="T63" fmla="*/ 509 h 746"/>
                <a:gd name="T64" fmla="*/ 54 w 1492"/>
                <a:gd name="T65" fmla="*/ 426 h 746"/>
                <a:gd name="T66" fmla="*/ 48 w 1492"/>
                <a:gd name="T67" fmla="*/ 355 h 746"/>
                <a:gd name="T68" fmla="*/ 78 w 1492"/>
                <a:gd name="T69" fmla="*/ 269 h 746"/>
                <a:gd name="T70" fmla="*/ 148 w 1492"/>
                <a:gd name="T71" fmla="*/ 192 h 746"/>
                <a:gd name="T72" fmla="*/ 251 w 1492"/>
                <a:gd name="T73" fmla="*/ 126 h 746"/>
                <a:gd name="T74" fmla="*/ 383 w 1492"/>
                <a:gd name="T75" fmla="*/ 74 h 746"/>
                <a:gd name="T76" fmla="*/ 537 w 1492"/>
                <a:gd name="T77" fmla="*/ 39 h 746"/>
                <a:gd name="T78" fmla="*/ 710 w 1492"/>
                <a:gd name="T79" fmla="*/ 23 h 746"/>
                <a:gd name="T80" fmla="*/ 852 w 1492"/>
                <a:gd name="T81" fmla="*/ 27 h 746"/>
                <a:gd name="T82" fmla="*/ 1018 w 1492"/>
                <a:gd name="T83" fmla="*/ 51 h 746"/>
                <a:gd name="T84" fmla="*/ 1164 w 1492"/>
                <a:gd name="T85" fmla="*/ 92 h 746"/>
                <a:gd name="T86" fmla="*/ 1286 w 1492"/>
                <a:gd name="T87" fmla="*/ 150 h 746"/>
                <a:gd name="T88" fmla="*/ 1377 w 1492"/>
                <a:gd name="T89" fmla="*/ 222 h 746"/>
                <a:gd name="T90" fmla="*/ 1431 w 1492"/>
                <a:gd name="T91" fmla="*/ 302 h 746"/>
                <a:gd name="T92" fmla="*/ 1445 w 1492"/>
                <a:gd name="T93" fmla="*/ 373 h 746"/>
                <a:gd name="T94" fmla="*/ 1423 w 1492"/>
                <a:gd name="T95" fmla="*/ 461 h 746"/>
                <a:gd name="T96" fmla="*/ 1361 w 1492"/>
                <a:gd name="T97" fmla="*/ 540 h 746"/>
                <a:gd name="T98" fmla="*/ 1264 w 1492"/>
                <a:gd name="T99" fmla="*/ 609 h 746"/>
                <a:gd name="T100" fmla="*/ 1137 w 1492"/>
                <a:gd name="T101" fmla="*/ 663 h 746"/>
                <a:gd name="T102" fmla="*/ 987 w 1492"/>
                <a:gd name="T103" fmla="*/ 702 h 746"/>
                <a:gd name="T104" fmla="*/ 817 w 1492"/>
                <a:gd name="T105" fmla="*/ 722 h 74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492"/>
                <a:gd name="T160" fmla="*/ 0 h 746"/>
                <a:gd name="T161" fmla="*/ 1492 w 1492"/>
                <a:gd name="T162" fmla="*/ 746 h 74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492" h="746">
                  <a:moveTo>
                    <a:pt x="746" y="0"/>
                  </a:moveTo>
                  <a:lnTo>
                    <a:pt x="746" y="0"/>
                  </a:lnTo>
                  <a:lnTo>
                    <a:pt x="707" y="0"/>
                  </a:lnTo>
                  <a:lnTo>
                    <a:pt x="670" y="1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0" y="12"/>
                  </a:lnTo>
                  <a:lnTo>
                    <a:pt x="525" y="17"/>
                  </a:lnTo>
                  <a:lnTo>
                    <a:pt x="490" y="22"/>
                  </a:lnTo>
                  <a:lnTo>
                    <a:pt x="456" y="30"/>
                  </a:lnTo>
                  <a:lnTo>
                    <a:pt x="422" y="36"/>
                  </a:lnTo>
                  <a:lnTo>
                    <a:pt x="390" y="45"/>
                  </a:lnTo>
                  <a:lnTo>
                    <a:pt x="359" y="54"/>
                  </a:lnTo>
                  <a:lnTo>
                    <a:pt x="329" y="63"/>
                  </a:lnTo>
                  <a:lnTo>
                    <a:pt x="299" y="74"/>
                  </a:lnTo>
                  <a:lnTo>
                    <a:pt x="272" y="86"/>
                  </a:lnTo>
                  <a:lnTo>
                    <a:pt x="245" y="97"/>
                  </a:lnTo>
                  <a:lnTo>
                    <a:pt x="219" y="109"/>
                  </a:lnTo>
                  <a:lnTo>
                    <a:pt x="194" y="122"/>
                  </a:lnTo>
                  <a:lnTo>
                    <a:pt x="171" y="136"/>
                  </a:lnTo>
                  <a:lnTo>
                    <a:pt x="148" y="150"/>
                  </a:lnTo>
                  <a:lnTo>
                    <a:pt x="127" y="165"/>
                  </a:lnTo>
                  <a:lnTo>
                    <a:pt x="107" y="180"/>
                  </a:lnTo>
                  <a:lnTo>
                    <a:pt x="91" y="196"/>
                  </a:lnTo>
                  <a:lnTo>
                    <a:pt x="74" y="211"/>
                  </a:lnTo>
                  <a:lnTo>
                    <a:pt x="58" y="228"/>
                  </a:lnTo>
                  <a:lnTo>
                    <a:pt x="45" y="245"/>
                  </a:lnTo>
                  <a:lnTo>
                    <a:pt x="34" y="262"/>
                  </a:lnTo>
                  <a:lnTo>
                    <a:pt x="23" y="280"/>
                  </a:lnTo>
                  <a:lnTo>
                    <a:pt x="16" y="298"/>
                  </a:lnTo>
                  <a:lnTo>
                    <a:pt x="9" y="316"/>
                  </a:lnTo>
                  <a:lnTo>
                    <a:pt x="4" y="336"/>
                  </a:lnTo>
                  <a:lnTo>
                    <a:pt x="1" y="354"/>
                  </a:lnTo>
                  <a:lnTo>
                    <a:pt x="0" y="373"/>
                  </a:lnTo>
                  <a:lnTo>
                    <a:pt x="1" y="393"/>
                  </a:lnTo>
                  <a:lnTo>
                    <a:pt x="4" y="411"/>
                  </a:lnTo>
                  <a:lnTo>
                    <a:pt x="9" y="430"/>
                  </a:lnTo>
                  <a:lnTo>
                    <a:pt x="16" y="448"/>
                  </a:lnTo>
                  <a:lnTo>
                    <a:pt x="23" y="466"/>
                  </a:lnTo>
                  <a:lnTo>
                    <a:pt x="34" y="485"/>
                  </a:lnTo>
                  <a:lnTo>
                    <a:pt x="45" y="501"/>
                  </a:lnTo>
                  <a:lnTo>
                    <a:pt x="58" y="518"/>
                  </a:lnTo>
                  <a:lnTo>
                    <a:pt x="74" y="535"/>
                  </a:lnTo>
                  <a:lnTo>
                    <a:pt x="91" y="551"/>
                  </a:lnTo>
                  <a:lnTo>
                    <a:pt x="107" y="566"/>
                  </a:lnTo>
                  <a:lnTo>
                    <a:pt x="127" y="582"/>
                  </a:lnTo>
                  <a:lnTo>
                    <a:pt x="148" y="596"/>
                  </a:lnTo>
                  <a:lnTo>
                    <a:pt x="171" y="610"/>
                  </a:lnTo>
                  <a:lnTo>
                    <a:pt x="194" y="624"/>
                  </a:lnTo>
                  <a:lnTo>
                    <a:pt x="219" y="637"/>
                  </a:lnTo>
                  <a:lnTo>
                    <a:pt x="245" y="649"/>
                  </a:lnTo>
                  <a:lnTo>
                    <a:pt x="272" y="661"/>
                  </a:lnTo>
                  <a:lnTo>
                    <a:pt x="299" y="672"/>
                  </a:lnTo>
                  <a:lnTo>
                    <a:pt x="329" y="683"/>
                  </a:lnTo>
                  <a:lnTo>
                    <a:pt x="359" y="692"/>
                  </a:lnTo>
                  <a:lnTo>
                    <a:pt x="390" y="701"/>
                  </a:lnTo>
                  <a:lnTo>
                    <a:pt x="422" y="710"/>
                  </a:lnTo>
                  <a:lnTo>
                    <a:pt x="456" y="716"/>
                  </a:lnTo>
                  <a:lnTo>
                    <a:pt x="490" y="724"/>
                  </a:lnTo>
                  <a:lnTo>
                    <a:pt x="525" y="729"/>
                  </a:lnTo>
                  <a:lnTo>
                    <a:pt x="560" y="735"/>
                  </a:lnTo>
                  <a:lnTo>
                    <a:pt x="596" y="738"/>
                  </a:lnTo>
                  <a:lnTo>
                    <a:pt x="632" y="742"/>
                  </a:lnTo>
                  <a:lnTo>
                    <a:pt x="670" y="745"/>
                  </a:lnTo>
                  <a:lnTo>
                    <a:pt x="707" y="746"/>
                  </a:lnTo>
                  <a:lnTo>
                    <a:pt x="746" y="746"/>
                  </a:lnTo>
                  <a:lnTo>
                    <a:pt x="785" y="746"/>
                  </a:lnTo>
                  <a:lnTo>
                    <a:pt x="822" y="745"/>
                  </a:lnTo>
                  <a:lnTo>
                    <a:pt x="860" y="742"/>
                  </a:lnTo>
                  <a:lnTo>
                    <a:pt x="896" y="738"/>
                  </a:lnTo>
                  <a:lnTo>
                    <a:pt x="933" y="735"/>
                  </a:lnTo>
                  <a:lnTo>
                    <a:pt x="967" y="729"/>
                  </a:lnTo>
                  <a:lnTo>
                    <a:pt x="1002" y="724"/>
                  </a:lnTo>
                  <a:lnTo>
                    <a:pt x="1036" y="716"/>
                  </a:lnTo>
                  <a:lnTo>
                    <a:pt x="1070" y="710"/>
                  </a:lnTo>
                  <a:lnTo>
                    <a:pt x="1102" y="701"/>
                  </a:lnTo>
                  <a:lnTo>
                    <a:pt x="1133" y="692"/>
                  </a:lnTo>
                  <a:lnTo>
                    <a:pt x="1163" y="683"/>
                  </a:lnTo>
                  <a:lnTo>
                    <a:pt x="1193" y="672"/>
                  </a:lnTo>
                  <a:lnTo>
                    <a:pt x="1220" y="661"/>
                  </a:lnTo>
                  <a:lnTo>
                    <a:pt x="1247" y="649"/>
                  </a:lnTo>
                  <a:lnTo>
                    <a:pt x="1273" y="637"/>
                  </a:lnTo>
                  <a:lnTo>
                    <a:pt x="1298" y="624"/>
                  </a:lnTo>
                  <a:lnTo>
                    <a:pt x="1321" y="610"/>
                  </a:lnTo>
                  <a:lnTo>
                    <a:pt x="1344" y="596"/>
                  </a:lnTo>
                  <a:lnTo>
                    <a:pt x="1365" y="582"/>
                  </a:lnTo>
                  <a:lnTo>
                    <a:pt x="1385" y="566"/>
                  </a:lnTo>
                  <a:lnTo>
                    <a:pt x="1401" y="551"/>
                  </a:lnTo>
                  <a:lnTo>
                    <a:pt x="1418" y="535"/>
                  </a:lnTo>
                  <a:lnTo>
                    <a:pt x="1434" y="518"/>
                  </a:lnTo>
                  <a:lnTo>
                    <a:pt x="1447" y="501"/>
                  </a:lnTo>
                  <a:lnTo>
                    <a:pt x="1458" y="485"/>
                  </a:lnTo>
                  <a:lnTo>
                    <a:pt x="1469" y="466"/>
                  </a:lnTo>
                  <a:lnTo>
                    <a:pt x="1476" y="448"/>
                  </a:lnTo>
                  <a:lnTo>
                    <a:pt x="1483" y="430"/>
                  </a:lnTo>
                  <a:lnTo>
                    <a:pt x="1488" y="411"/>
                  </a:lnTo>
                  <a:lnTo>
                    <a:pt x="1491" y="393"/>
                  </a:lnTo>
                  <a:lnTo>
                    <a:pt x="1492" y="373"/>
                  </a:lnTo>
                  <a:lnTo>
                    <a:pt x="1491" y="354"/>
                  </a:lnTo>
                  <a:lnTo>
                    <a:pt x="1488" y="336"/>
                  </a:lnTo>
                  <a:lnTo>
                    <a:pt x="1483" y="316"/>
                  </a:lnTo>
                  <a:lnTo>
                    <a:pt x="1476" y="298"/>
                  </a:lnTo>
                  <a:lnTo>
                    <a:pt x="1469" y="280"/>
                  </a:lnTo>
                  <a:lnTo>
                    <a:pt x="1458" y="262"/>
                  </a:lnTo>
                  <a:lnTo>
                    <a:pt x="1447" y="245"/>
                  </a:lnTo>
                  <a:lnTo>
                    <a:pt x="1434" y="228"/>
                  </a:lnTo>
                  <a:lnTo>
                    <a:pt x="1418" y="211"/>
                  </a:lnTo>
                  <a:lnTo>
                    <a:pt x="1401" y="196"/>
                  </a:lnTo>
                  <a:lnTo>
                    <a:pt x="1385" y="180"/>
                  </a:lnTo>
                  <a:lnTo>
                    <a:pt x="1365" y="165"/>
                  </a:lnTo>
                  <a:lnTo>
                    <a:pt x="1344" y="150"/>
                  </a:lnTo>
                  <a:lnTo>
                    <a:pt x="1321" y="136"/>
                  </a:lnTo>
                  <a:lnTo>
                    <a:pt x="1298" y="122"/>
                  </a:lnTo>
                  <a:lnTo>
                    <a:pt x="1273" y="109"/>
                  </a:lnTo>
                  <a:lnTo>
                    <a:pt x="1247" y="97"/>
                  </a:lnTo>
                  <a:lnTo>
                    <a:pt x="1220" y="86"/>
                  </a:lnTo>
                  <a:lnTo>
                    <a:pt x="1193" y="74"/>
                  </a:lnTo>
                  <a:lnTo>
                    <a:pt x="1163" y="63"/>
                  </a:lnTo>
                  <a:lnTo>
                    <a:pt x="1133" y="54"/>
                  </a:lnTo>
                  <a:lnTo>
                    <a:pt x="1102" y="45"/>
                  </a:lnTo>
                  <a:lnTo>
                    <a:pt x="1070" y="36"/>
                  </a:lnTo>
                  <a:lnTo>
                    <a:pt x="1036" y="30"/>
                  </a:lnTo>
                  <a:lnTo>
                    <a:pt x="1002" y="22"/>
                  </a:lnTo>
                  <a:lnTo>
                    <a:pt x="967" y="17"/>
                  </a:lnTo>
                  <a:lnTo>
                    <a:pt x="933" y="12"/>
                  </a:lnTo>
                  <a:lnTo>
                    <a:pt x="896" y="8"/>
                  </a:lnTo>
                  <a:lnTo>
                    <a:pt x="860" y="4"/>
                  </a:lnTo>
                  <a:lnTo>
                    <a:pt x="822" y="1"/>
                  </a:lnTo>
                  <a:lnTo>
                    <a:pt x="785" y="0"/>
                  </a:lnTo>
                  <a:lnTo>
                    <a:pt x="746" y="0"/>
                  </a:lnTo>
                  <a:close/>
                  <a:moveTo>
                    <a:pt x="746" y="723"/>
                  </a:moveTo>
                  <a:lnTo>
                    <a:pt x="746" y="723"/>
                  </a:lnTo>
                  <a:lnTo>
                    <a:pt x="710" y="723"/>
                  </a:lnTo>
                  <a:lnTo>
                    <a:pt x="675" y="722"/>
                  </a:lnTo>
                  <a:lnTo>
                    <a:pt x="640" y="719"/>
                  </a:lnTo>
                  <a:lnTo>
                    <a:pt x="605" y="716"/>
                  </a:lnTo>
                  <a:lnTo>
                    <a:pt x="571" y="713"/>
                  </a:lnTo>
                  <a:lnTo>
                    <a:pt x="537" y="707"/>
                  </a:lnTo>
                  <a:lnTo>
                    <a:pt x="505" y="702"/>
                  </a:lnTo>
                  <a:lnTo>
                    <a:pt x="474" y="696"/>
                  </a:lnTo>
                  <a:lnTo>
                    <a:pt x="443" y="689"/>
                  </a:lnTo>
                  <a:lnTo>
                    <a:pt x="413" y="681"/>
                  </a:lnTo>
                  <a:lnTo>
                    <a:pt x="383" y="672"/>
                  </a:lnTo>
                  <a:lnTo>
                    <a:pt x="355" y="663"/>
                  </a:lnTo>
                  <a:lnTo>
                    <a:pt x="328" y="654"/>
                  </a:lnTo>
                  <a:lnTo>
                    <a:pt x="302" y="644"/>
                  </a:lnTo>
                  <a:lnTo>
                    <a:pt x="276" y="632"/>
                  </a:lnTo>
                  <a:lnTo>
                    <a:pt x="251" y="621"/>
                  </a:lnTo>
                  <a:lnTo>
                    <a:pt x="228" y="609"/>
                  </a:lnTo>
                  <a:lnTo>
                    <a:pt x="206" y="596"/>
                  </a:lnTo>
                  <a:lnTo>
                    <a:pt x="185" y="583"/>
                  </a:lnTo>
                  <a:lnTo>
                    <a:pt x="166" y="569"/>
                  </a:lnTo>
                  <a:lnTo>
                    <a:pt x="148" y="554"/>
                  </a:lnTo>
                  <a:lnTo>
                    <a:pt x="131" y="540"/>
                  </a:lnTo>
                  <a:lnTo>
                    <a:pt x="115" y="525"/>
                  </a:lnTo>
                  <a:lnTo>
                    <a:pt x="101" y="509"/>
                  </a:lnTo>
                  <a:lnTo>
                    <a:pt x="89" y="494"/>
                  </a:lnTo>
                  <a:lnTo>
                    <a:pt x="78" y="477"/>
                  </a:lnTo>
                  <a:lnTo>
                    <a:pt x="69" y="461"/>
                  </a:lnTo>
                  <a:lnTo>
                    <a:pt x="61" y="444"/>
                  </a:lnTo>
                  <a:lnTo>
                    <a:pt x="54" y="426"/>
                  </a:lnTo>
                  <a:lnTo>
                    <a:pt x="51" y="409"/>
                  </a:lnTo>
                  <a:lnTo>
                    <a:pt x="48" y="391"/>
                  </a:lnTo>
                  <a:lnTo>
                    <a:pt x="47" y="373"/>
                  </a:lnTo>
                  <a:lnTo>
                    <a:pt x="48" y="355"/>
                  </a:lnTo>
                  <a:lnTo>
                    <a:pt x="51" y="337"/>
                  </a:lnTo>
                  <a:lnTo>
                    <a:pt x="54" y="320"/>
                  </a:lnTo>
                  <a:lnTo>
                    <a:pt x="61" y="302"/>
                  </a:lnTo>
                  <a:lnTo>
                    <a:pt x="69" y="285"/>
                  </a:lnTo>
                  <a:lnTo>
                    <a:pt x="78" y="269"/>
                  </a:lnTo>
                  <a:lnTo>
                    <a:pt x="89" y="253"/>
                  </a:lnTo>
                  <a:lnTo>
                    <a:pt x="101" y="237"/>
                  </a:lnTo>
                  <a:lnTo>
                    <a:pt x="115" y="222"/>
                  </a:lnTo>
                  <a:lnTo>
                    <a:pt x="131" y="206"/>
                  </a:lnTo>
                  <a:lnTo>
                    <a:pt x="148" y="192"/>
                  </a:lnTo>
                  <a:lnTo>
                    <a:pt x="166" y="177"/>
                  </a:lnTo>
                  <a:lnTo>
                    <a:pt x="185" y="163"/>
                  </a:lnTo>
                  <a:lnTo>
                    <a:pt x="206" y="150"/>
                  </a:lnTo>
                  <a:lnTo>
                    <a:pt x="228" y="137"/>
                  </a:lnTo>
                  <a:lnTo>
                    <a:pt x="251" y="126"/>
                  </a:lnTo>
                  <a:lnTo>
                    <a:pt x="276" y="114"/>
                  </a:lnTo>
                  <a:lnTo>
                    <a:pt x="302" y="102"/>
                  </a:lnTo>
                  <a:lnTo>
                    <a:pt x="328" y="92"/>
                  </a:lnTo>
                  <a:lnTo>
                    <a:pt x="355" y="83"/>
                  </a:lnTo>
                  <a:lnTo>
                    <a:pt x="383" y="74"/>
                  </a:lnTo>
                  <a:lnTo>
                    <a:pt x="413" y="65"/>
                  </a:lnTo>
                  <a:lnTo>
                    <a:pt x="443" y="57"/>
                  </a:lnTo>
                  <a:lnTo>
                    <a:pt x="474" y="51"/>
                  </a:lnTo>
                  <a:lnTo>
                    <a:pt x="505" y="44"/>
                  </a:lnTo>
                  <a:lnTo>
                    <a:pt x="537" y="39"/>
                  </a:lnTo>
                  <a:lnTo>
                    <a:pt x="571" y="34"/>
                  </a:lnTo>
                  <a:lnTo>
                    <a:pt x="605" y="30"/>
                  </a:lnTo>
                  <a:lnTo>
                    <a:pt x="640" y="27"/>
                  </a:lnTo>
                  <a:lnTo>
                    <a:pt x="675" y="25"/>
                  </a:lnTo>
                  <a:lnTo>
                    <a:pt x="710" y="23"/>
                  </a:lnTo>
                  <a:lnTo>
                    <a:pt x="746" y="23"/>
                  </a:lnTo>
                  <a:lnTo>
                    <a:pt x="782" y="23"/>
                  </a:lnTo>
                  <a:lnTo>
                    <a:pt x="817" y="25"/>
                  </a:lnTo>
                  <a:lnTo>
                    <a:pt x="852" y="27"/>
                  </a:lnTo>
                  <a:lnTo>
                    <a:pt x="887" y="30"/>
                  </a:lnTo>
                  <a:lnTo>
                    <a:pt x="921" y="34"/>
                  </a:lnTo>
                  <a:lnTo>
                    <a:pt x="955" y="39"/>
                  </a:lnTo>
                  <a:lnTo>
                    <a:pt x="987" y="44"/>
                  </a:lnTo>
                  <a:lnTo>
                    <a:pt x="1018" y="51"/>
                  </a:lnTo>
                  <a:lnTo>
                    <a:pt x="1049" y="57"/>
                  </a:lnTo>
                  <a:lnTo>
                    <a:pt x="1079" y="65"/>
                  </a:lnTo>
                  <a:lnTo>
                    <a:pt x="1109" y="74"/>
                  </a:lnTo>
                  <a:lnTo>
                    <a:pt x="1137" y="83"/>
                  </a:lnTo>
                  <a:lnTo>
                    <a:pt x="1164" y="92"/>
                  </a:lnTo>
                  <a:lnTo>
                    <a:pt x="1190" y="102"/>
                  </a:lnTo>
                  <a:lnTo>
                    <a:pt x="1216" y="114"/>
                  </a:lnTo>
                  <a:lnTo>
                    <a:pt x="1241" y="126"/>
                  </a:lnTo>
                  <a:lnTo>
                    <a:pt x="1264" y="137"/>
                  </a:lnTo>
                  <a:lnTo>
                    <a:pt x="1286" y="150"/>
                  </a:lnTo>
                  <a:lnTo>
                    <a:pt x="1307" y="163"/>
                  </a:lnTo>
                  <a:lnTo>
                    <a:pt x="1326" y="177"/>
                  </a:lnTo>
                  <a:lnTo>
                    <a:pt x="1344" y="192"/>
                  </a:lnTo>
                  <a:lnTo>
                    <a:pt x="1361" y="206"/>
                  </a:lnTo>
                  <a:lnTo>
                    <a:pt x="1377" y="222"/>
                  </a:lnTo>
                  <a:lnTo>
                    <a:pt x="1391" y="237"/>
                  </a:lnTo>
                  <a:lnTo>
                    <a:pt x="1403" y="253"/>
                  </a:lnTo>
                  <a:lnTo>
                    <a:pt x="1414" y="269"/>
                  </a:lnTo>
                  <a:lnTo>
                    <a:pt x="1423" y="285"/>
                  </a:lnTo>
                  <a:lnTo>
                    <a:pt x="1431" y="302"/>
                  </a:lnTo>
                  <a:lnTo>
                    <a:pt x="1438" y="320"/>
                  </a:lnTo>
                  <a:lnTo>
                    <a:pt x="1441" y="337"/>
                  </a:lnTo>
                  <a:lnTo>
                    <a:pt x="1444" y="355"/>
                  </a:lnTo>
                  <a:lnTo>
                    <a:pt x="1445" y="373"/>
                  </a:lnTo>
                  <a:lnTo>
                    <a:pt x="1444" y="391"/>
                  </a:lnTo>
                  <a:lnTo>
                    <a:pt x="1441" y="409"/>
                  </a:lnTo>
                  <a:lnTo>
                    <a:pt x="1438" y="426"/>
                  </a:lnTo>
                  <a:lnTo>
                    <a:pt x="1431" y="444"/>
                  </a:lnTo>
                  <a:lnTo>
                    <a:pt x="1423" y="461"/>
                  </a:lnTo>
                  <a:lnTo>
                    <a:pt x="1414" y="477"/>
                  </a:lnTo>
                  <a:lnTo>
                    <a:pt x="1403" y="494"/>
                  </a:lnTo>
                  <a:lnTo>
                    <a:pt x="1391" y="509"/>
                  </a:lnTo>
                  <a:lnTo>
                    <a:pt x="1377" y="525"/>
                  </a:lnTo>
                  <a:lnTo>
                    <a:pt x="1361" y="540"/>
                  </a:lnTo>
                  <a:lnTo>
                    <a:pt x="1344" y="554"/>
                  </a:lnTo>
                  <a:lnTo>
                    <a:pt x="1326" y="569"/>
                  </a:lnTo>
                  <a:lnTo>
                    <a:pt x="1307" y="583"/>
                  </a:lnTo>
                  <a:lnTo>
                    <a:pt x="1286" y="596"/>
                  </a:lnTo>
                  <a:lnTo>
                    <a:pt x="1264" y="609"/>
                  </a:lnTo>
                  <a:lnTo>
                    <a:pt x="1241" y="621"/>
                  </a:lnTo>
                  <a:lnTo>
                    <a:pt x="1216" y="632"/>
                  </a:lnTo>
                  <a:lnTo>
                    <a:pt x="1190" y="644"/>
                  </a:lnTo>
                  <a:lnTo>
                    <a:pt x="1164" y="654"/>
                  </a:lnTo>
                  <a:lnTo>
                    <a:pt x="1137" y="663"/>
                  </a:lnTo>
                  <a:lnTo>
                    <a:pt x="1109" y="672"/>
                  </a:lnTo>
                  <a:lnTo>
                    <a:pt x="1079" y="681"/>
                  </a:lnTo>
                  <a:lnTo>
                    <a:pt x="1049" y="689"/>
                  </a:lnTo>
                  <a:lnTo>
                    <a:pt x="1018" y="696"/>
                  </a:lnTo>
                  <a:lnTo>
                    <a:pt x="987" y="702"/>
                  </a:lnTo>
                  <a:lnTo>
                    <a:pt x="955" y="707"/>
                  </a:lnTo>
                  <a:lnTo>
                    <a:pt x="921" y="713"/>
                  </a:lnTo>
                  <a:lnTo>
                    <a:pt x="887" y="716"/>
                  </a:lnTo>
                  <a:lnTo>
                    <a:pt x="852" y="719"/>
                  </a:lnTo>
                  <a:lnTo>
                    <a:pt x="817" y="722"/>
                  </a:lnTo>
                  <a:lnTo>
                    <a:pt x="782" y="723"/>
                  </a:lnTo>
                  <a:lnTo>
                    <a:pt x="746" y="723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3000" y="1409"/>
              <a:ext cx="1398" cy="700"/>
            </a:xfrm>
            <a:custGeom>
              <a:avLst/>
              <a:gdLst>
                <a:gd name="T0" fmla="*/ 1397 w 1398"/>
                <a:gd name="T1" fmla="*/ 368 h 700"/>
                <a:gd name="T2" fmla="*/ 1384 w 1398"/>
                <a:gd name="T3" fmla="*/ 421 h 700"/>
                <a:gd name="T4" fmla="*/ 1356 w 1398"/>
                <a:gd name="T5" fmla="*/ 471 h 700"/>
                <a:gd name="T6" fmla="*/ 1314 w 1398"/>
                <a:gd name="T7" fmla="*/ 517 h 700"/>
                <a:gd name="T8" fmla="*/ 1260 w 1398"/>
                <a:gd name="T9" fmla="*/ 560 h 700"/>
                <a:gd name="T10" fmla="*/ 1194 w 1398"/>
                <a:gd name="T11" fmla="*/ 598 h 700"/>
                <a:gd name="T12" fmla="*/ 1117 w 1398"/>
                <a:gd name="T13" fmla="*/ 631 h 700"/>
                <a:gd name="T14" fmla="*/ 1032 w 1398"/>
                <a:gd name="T15" fmla="*/ 658 h 700"/>
                <a:gd name="T16" fmla="*/ 940 w 1398"/>
                <a:gd name="T17" fmla="*/ 679 h 700"/>
                <a:gd name="T18" fmla="*/ 840 w 1398"/>
                <a:gd name="T19" fmla="*/ 693 h 700"/>
                <a:gd name="T20" fmla="*/ 735 w 1398"/>
                <a:gd name="T21" fmla="*/ 700 h 700"/>
                <a:gd name="T22" fmla="*/ 663 w 1398"/>
                <a:gd name="T23" fmla="*/ 700 h 700"/>
                <a:gd name="T24" fmla="*/ 558 w 1398"/>
                <a:gd name="T25" fmla="*/ 693 h 700"/>
                <a:gd name="T26" fmla="*/ 458 w 1398"/>
                <a:gd name="T27" fmla="*/ 679 h 700"/>
                <a:gd name="T28" fmla="*/ 366 w 1398"/>
                <a:gd name="T29" fmla="*/ 658 h 700"/>
                <a:gd name="T30" fmla="*/ 281 w 1398"/>
                <a:gd name="T31" fmla="*/ 631 h 700"/>
                <a:gd name="T32" fmla="*/ 204 w 1398"/>
                <a:gd name="T33" fmla="*/ 598 h 700"/>
                <a:gd name="T34" fmla="*/ 138 w 1398"/>
                <a:gd name="T35" fmla="*/ 560 h 700"/>
                <a:gd name="T36" fmla="*/ 84 w 1398"/>
                <a:gd name="T37" fmla="*/ 517 h 700"/>
                <a:gd name="T38" fmla="*/ 42 w 1398"/>
                <a:gd name="T39" fmla="*/ 471 h 700"/>
                <a:gd name="T40" fmla="*/ 14 w 1398"/>
                <a:gd name="T41" fmla="*/ 421 h 700"/>
                <a:gd name="T42" fmla="*/ 1 w 1398"/>
                <a:gd name="T43" fmla="*/ 368 h 700"/>
                <a:gd name="T44" fmla="*/ 1 w 1398"/>
                <a:gd name="T45" fmla="*/ 332 h 700"/>
                <a:gd name="T46" fmla="*/ 14 w 1398"/>
                <a:gd name="T47" fmla="*/ 279 h 700"/>
                <a:gd name="T48" fmla="*/ 42 w 1398"/>
                <a:gd name="T49" fmla="*/ 230 h 700"/>
                <a:gd name="T50" fmla="*/ 84 w 1398"/>
                <a:gd name="T51" fmla="*/ 183 h 700"/>
                <a:gd name="T52" fmla="*/ 138 w 1398"/>
                <a:gd name="T53" fmla="*/ 140 h 700"/>
                <a:gd name="T54" fmla="*/ 204 w 1398"/>
                <a:gd name="T55" fmla="*/ 103 h 700"/>
                <a:gd name="T56" fmla="*/ 281 w 1398"/>
                <a:gd name="T57" fmla="*/ 69 h 700"/>
                <a:gd name="T58" fmla="*/ 366 w 1398"/>
                <a:gd name="T59" fmla="*/ 42 h 700"/>
                <a:gd name="T60" fmla="*/ 458 w 1398"/>
                <a:gd name="T61" fmla="*/ 21 h 700"/>
                <a:gd name="T62" fmla="*/ 558 w 1398"/>
                <a:gd name="T63" fmla="*/ 7 h 700"/>
                <a:gd name="T64" fmla="*/ 663 w 1398"/>
                <a:gd name="T65" fmla="*/ 0 h 700"/>
                <a:gd name="T66" fmla="*/ 735 w 1398"/>
                <a:gd name="T67" fmla="*/ 0 h 700"/>
                <a:gd name="T68" fmla="*/ 840 w 1398"/>
                <a:gd name="T69" fmla="*/ 7 h 700"/>
                <a:gd name="T70" fmla="*/ 940 w 1398"/>
                <a:gd name="T71" fmla="*/ 21 h 700"/>
                <a:gd name="T72" fmla="*/ 1032 w 1398"/>
                <a:gd name="T73" fmla="*/ 42 h 700"/>
                <a:gd name="T74" fmla="*/ 1117 w 1398"/>
                <a:gd name="T75" fmla="*/ 69 h 700"/>
                <a:gd name="T76" fmla="*/ 1194 w 1398"/>
                <a:gd name="T77" fmla="*/ 103 h 700"/>
                <a:gd name="T78" fmla="*/ 1260 w 1398"/>
                <a:gd name="T79" fmla="*/ 140 h 700"/>
                <a:gd name="T80" fmla="*/ 1314 w 1398"/>
                <a:gd name="T81" fmla="*/ 183 h 700"/>
                <a:gd name="T82" fmla="*/ 1356 w 1398"/>
                <a:gd name="T83" fmla="*/ 230 h 700"/>
                <a:gd name="T84" fmla="*/ 1384 w 1398"/>
                <a:gd name="T85" fmla="*/ 279 h 700"/>
                <a:gd name="T86" fmla="*/ 1397 w 1398"/>
                <a:gd name="T87" fmla="*/ 332 h 7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98"/>
                <a:gd name="T133" fmla="*/ 0 h 700"/>
                <a:gd name="T134" fmla="*/ 1398 w 1398"/>
                <a:gd name="T135" fmla="*/ 700 h 70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98" h="700">
                  <a:moveTo>
                    <a:pt x="1398" y="350"/>
                  </a:moveTo>
                  <a:lnTo>
                    <a:pt x="1398" y="350"/>
                  </a:lnTo>
                  <a:lnTo>
                    <a:pt x="1397" y="368"/>
                  </a:lnTo>
                  <a:lnTo>
                    <a:pt x="1394" y="386"/>
                  </a:lnTo>
                  <a:lnTo>
                    <a:pt x="1391" y="403"/>
                  </a:lnTo>
                  <a:lnTo>
                    <a:pt x="1384" y="421"/>
                  </a:lnTo>
                  <a:lnTo>
                    <a:pt x="1376" y="438"/>
                  </a:lnTo>
                  <a:lnTo>
                    <a:pt x="1367" y="454"/>
                  </a:lnTo>
                  <a:lnTo>
                    <a:pt x="1356" y="471"/>
                  </a:lnTo>
                  <a:lnTo>
                    <a:pt x="1344" y="486"/>
                  </a:lnTo>
                  <a:lnTo>
                    <a:pt x="1330" y="502"/>
                  </a:lnTo>
                  <a:lnTo>
                    <a:pt x="1314" y="517"/>
                  </a:lnTo>
                  <a:lnTo>
                    <a:pt x="1297" y="531"/>
                  </a:lnTo>
                  <a:lnTo>
                    <a:pt x="1279" y="546"/>
                  </a:lnTo>
                  <a:lnTo>
                    <a:pt x="1260" y="560"/>
                  </a:lnTo>
                  <a:lnTo>
                    <a:pt x="1239" y="573"/>
                  </a:lnTo>
                  <a:lnTo>
                    <a:pt x="1217" y="586"/>
                  </a:lnTo>
                  <a:lnTo>
                    <a:pt x="1194" y="598"/>
                  </a:lnTo>
                  <a:lnTo>
                    <a:pt x="1169" y="609"/>
                  </a:lnTo>
                  <a:lnTo>
                    <a:pt x="1143" y="621"/>
                  </a:lnTo>
                  <a:lnTo>
                    <a:pt x="1117" y="631"/>
                  </a:lnTo>
                  <a:lnTo>
                    <a:pt x="1090" y="640"/>
                  </a:lnTo>
                  <a:lnTo>
                    <a:pt x="1062" y="649"/>
                  </a:lnTo>
                  <a:lnTo>
                    <a:pt x="1032" y="658"/>
                  </a:lnTo>
                  <a:lnTo>
                    <a:pt x="1002" y="666"/>
                  </a:lnTo>
                  <a:lnTo>
                    <a:pt x="971" y="673"/>
                  </a:lnTo>
                  <a:lnTo>
                    <a:pt x="940" y="679"/>
                  </a:lnTo>
                  <a:lnTo>
                    <a:pt x="908" y="684"/>
                  </a:lnTo>
                  <a:lnTo>
                    <a:pt x="874" y="690"/>
                  </a:lnTo>
                  <a:lnTo>
                    <a:pt x="840" y="693"/>
                  </a:lnTo>
                  <a:lnTo>
                    <a:pt x="805" y="696"/>
                  </a:lnTo>
                  <a:lnTo>
                    <a:pt x="770" y="699"/>
                  </a:lnTo>
                  <a:lnTo>
                    <a:pt x="735" y="700"/>
                  </a:lnTo>
                  <a:lnTo>
                    <a:pt x="699" y="700"/>
                  </a:lnTo>
                  <a:lnTo>
                    <a:pt x="663" y="700"/>
                  </a:lnTo>
                  <a:lnTo>
                    <a:pt x="628" y="699"/>
                  </a:lnTo>
                  <a:lnTo>
                    <a:pt x="593" y="696"/>
                  </a:lnTo>
                  <a:lnTo>
                    <a:pt x="558" y="693"/>
                  </a:lnTo>
                  <a:lnTo>
                    <a:pt x="524" y="690"/>
                  </a:lnTo>
                  <a:lnTo>
                    <a:pt x="490" y="684"/>
                  </a:lnTo>
                  <a:lnTo>
                    <a:pt x="458" y="679"/>
                  </a:lnTo>
                  <a:lnTo>
                    <a:pt x="427" y="673"/>
                  </a:lnTo>
                  <a:lnTo>
                    <a:pt x="396" y="666"/>
                  </a:lnTo>
                  <a:lnTo>
                    <a:pt x="366" y="658"/>
                  </a:lnTo>
                  <a:lnTo>
                    <a:pt x="336" y="649"/>
                  </a:lnTo>
                  <a:lnTo>
                    <a:pt x="308" y="640"/>
                  </a:lnTo>
                  <a:lnTo>
                    <a:pt x="281" y="631"/>
                  </a:lnTo>
                  <a:lnTo>
                    <a:pt x="255" y="621"/>
                  </a:lnTo>
                  <a:lnTo>
                    <a:pt x="229" y="609"/>
                  </a:lnTo>
                  <a:lnTo>
                    <a:pt x="204" y="598"/>
                  </a:lnTo>
                  <a:lnTo>
                    <a:pt x="181" y="586"/>
                  </a:lnTo>
                  <a:lnTo>
                    <a:pt x="159" y="573"/>
                  </a:lnTo>
                  <a:lnTo>
                    <a:pt x="138" y="560"/>
                  </a:lnTo>
                  <a:lnTo>
                    <a:pt x="119" y="546"/>
                  </a:lnTo>
                  <a:lnTo>
                    <a:pt x="101" y="531"/>
                  </a:lnTo>
                  <a:lnTo>
                    <a:pt x="84" y="517"/>
                  </a:lnTo>
                  <a:lnTo>
                    <a:pt x="68" y="502"/>
                  </a:lnTo>
                  <a:lnTo>
                    <a:pt x="54" y="486"/>
                  </a:lnTo>
                  <a:lnTo>
                    <a:pt x="42" y="471"/>
                  </a:lnTo>
                  <a:lnTo>
                    <a:pt x="31" y="454"/>
                  </a:lnTo>
                  <a:lnTo>
                    <a:pt x="22" y="438"/>
                  </a:lnTo>
                  <a:lnTo>
                    <a:pt x="14" y="421"/>
                  </a:lnTo>
                  <a:lnTo>
                    <a:pt x="7" y="403"/>
                  </a:lnTo>
                  <a:lnTo>
                    <a:pt x="4" y="386"/>
                  </a:lnTo>
                  <a:lnTo>
                    <a:pt x="1" y="368"/>
                  </a:lnTo>
                  <a:lnTo>
                    <a:pt x="0" y="350"/>
                  </a:lnTo>
                  <a:lnTo>
                    <a:pt x="1" y="332"/>
                  </a:lnTo>
                  <a:lnTo>
                    <a:pt x="4" y="314"/>
                  </a:lnTo>
                  <a:lnTo>
                    <a:pt x="7" y="297"/>
                  </a:lnTo>
                  <a:lnTo>
                    <a:pt x="14" y="279"/>
                  </a:lnTo>
                  <a:lnTo>
                    <a:pt x="22" y="262"/>
                  </a:lnTo>
                  <a:lnTo>
                    <a:pt x="31" y="246"/>
                  </a:lnTo>
                  <a:lnTo>
                    <a:pt x="42" y="230"/>
                  </a:lnTo>
                  <a:lnTo>
                    <a:pt x="54" y="214"/>
                  </a:lnTo>
                  <a:lnTo>
                    <a:pt x="68" y="199"/>
                  </a:lnTo>
                  <a:lnTo>
                    <a:pt x="84" y="183"/>
                  </a:lnTo>
                  <a:lnTo>
                    <a:pt x="101" y="169"/>
                  </a:lnTo>
                  <a:lnTo>
                    <a:pt x="119" y="154"/>
                  </a:lnTo>
                  <a:lnTo>
                    <a:pt x="138" y="140"/>
                  </a:lnTo>
                  <a:lnTo>
                    <a:pt x="159" y="127"/>
                  </a:lnTo>
                  <a:lnTo>
                    <a:pt x="181" y="114"/>
                  </a:lnTo>
                  <a:lnTo>
                    <a:pt x="204" y="103"/>
                  </a:lnTo>
                  <a:lnTo>
                    <a:pt x="229" y="91"/>
                  </a:lnTo>
                  <a:lnTo>
                    <a:pt x="255" y="79"/>
                  </a:lnTo>
                  <a:lnTo>
                    <a:pt x="281" y="69"/>
                  </a:lnTo>
                  <a:lnTo>
                    <a:pt x="308" y="60"/>
                  </a:lnTo>
                  <a:lnTo>
                    <a:pt x="336" y="51"/>
                  </a:lnTo>
                  <a:lnTo>
                    <a:pt x="366" y="42"/>
                  </a:lnTo>
                  <a:lnTo>
                    <a:pt x="396" y="34"/>
                  </a:lnTo>
                  <a:lnTo>
                    <a:pt x="427" y="28"/>
                  </a:lnTo>
                  <a:lnTo>
                    <a:pt x="458" y="21"/>
                  </a:lnTo>
                  <a:lnTo>
                    <a:pt x="490" y="16"/>
                  </a:lnTo>
                  <a:lnTo>
                    <a:pt x="524" y="11"/>
                  </a:lnTo>
                  <a:lnTo>
                    <a:pt x="558" y="7"/>
                  </a:lnTo>
                  <a:lnTo>
                    <a:pt x="593" y="4"/>
                  </a:lnTo>
                  <a:lnTo>
                    <a:pt x="628" y="2"/>
                  </a:lnTo>
                  <a:lnTo>
                    <a:pt x="663" y="0"/>
                  </a:lnTo>
                  <a:lnTo>
                    <a:pt x="699" y="0"/>
                  </a:lnTo>
                  <a:lnTo>
                    <a:pt x="735" y="0"/>
                  </a:lnTo>
                  <a:lnTo>
                    <a:pt x="770" y="2"/>
                  </a:lnTo>
                  <a:lnTo>
                    <a:pt x="805" y="4"/>
                  </a:lnTo>
                  <a:lnTo>
                    <a:pt x="840" y="7"/>
                  </a:lnTo>
                  <a:lnTo>
                    <a:pt x="874" y="11"/>
                  </a:lnTo>
                  <a:lnTo>
                    <a:pt x="908" y="16"/>
                  </a:lnTo>
                  <a:lnTo>
                    <a:pt x="940" y="21"/>
                  </a:lnTo>
                  <a:lnTo>
                    <a:pt x="971" y="28"/>
                  </a:lnTo>
                  <a:lnTo>
                    <a:pt x="1002" y="34"/>
                  </a:lnTo>
                  <a:lnTo>
                    <a:pt x="1032" y="42"/>
                  </a:lnTo>
                  <a:lnTo>
                    <a:pt x="1062" y="51"/>
                  </a:lnTo>
                  <a:lnTo>
                    <a:pt x="1090" y="60"/>
                  </a:lnTo>
                  <a:lnTo>
                    <a:pt x="1117" y="69"/>
                  </a:lnTo>
                  <a:lnTo>
                    <a:pt x="1143" y="79"/>
                  </a:lnTo>
                  <a:lnTo>
                    <a:pt x="1169" y="91"/>
                  </a:lnTo>
                  <a:lnTo>
                    <a:pt x="1194" y="103"/>
                  </a:lnTo>
                  <a:lnTo>
                    <a:pt x="1217" y="114"/>
                  </a:lnTo>
                  <a:lnTo>
                    <a:pt x="1239" y="127"/>
                  </a:lnTo>
                  <a:lnTo>
                    <a:pt x="1260" y="140"/>
                  </a:lnTo>
                  <a:lnTo>
                    <a:pt x="1279" y="154"/>
                  </a:lnTo>
                  <a:lnTo>
                    <a:pt x="1297" y="169"/>
                  </a:lnTo>
                  <a:lnTo>
                    <a:pt x="1314" y="183"/>
                  </a:lnTo>
                  <a:lnTo>
                    <a:pt x="1330" y="199"/>
                  </a:lnTo>
                  <a:lnTo>
                    <a:pt x="1344" y="214"/>
                  </a:lnTo>
                  <a:lnTo>
                    <a:pt x="1356" y="230"/>
                  </a:lnTo>
                  <a:lnTo>
                    <a:pt x="1367" y="246"/>
                  </a:lnTo>
                  <a:lnTo>
                    <a:pt x="1376" y="262"/>
                  </a:lnTo>
                  <a:lnTo>
                    <a:pt x="1384" y="279"/>
                  </a:lnTo>
                  <a:lnTo>
                    <a:pt x="1391" y="297"/>
                  </a:lnTo>
                  <a:lnTo>
                    <a:pt x="1394" y="314"/>
                  </a:lnTo>
                  <a:lnTo>
                    <a:pt x="1397" y="332"/>
                  </a:lnTo>
                  <a:lnTo>
                    <a:pt x="1398" y="3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Group 14"/>
          <p:cNvGrpSpPr/>
          <p:nvPr/>
        </p:nvGrpSpPr>
        <p:grpSpPr bwMode="auto">
          <a:xfrm>
            <a:off x="9121904" y="2278516"/>
            <a:ext cx="1042988" cy="923925"/>
            <a:chOff x="2335" y="1139"/>
            <a:chExt cx="1089" cy="1089"/>
          </a:xfrm>
        </p:grpSpPr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solidFill>
              <a:srgbClr val="FF0000"/>
            </a:soli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Group 16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24" name="Freeform 17"/>
              <p:cNvSpPr/>
              <p:nvPr/>
            </p:nvSpPr>
            <p:spPr bwMode="auto">
              <a:xfrm>
                <a:off x="1431" y="1843"/>
                <a:ext cx="907" cy="297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8"/>
              <p:cNvSpPr>
                <a:spLocks noChangeArrowheads="1"/>
              </p:cNvSpPr>
              <p:nvPr/>
            </p:nvSpPr>
            <p:spPr bwMode="auto">
              <a:xfrm>
                <a:off x="1771" y="1843"/>
                <a:ext cx="228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6" name="Group 19"/>
          <p:cNvGrpSpPr/>
          <p:nvPr/>
        </p:nvGrpSpPr>
        <p:grpSpPr bwMode="auto">
          <a:xfrm>
            <a:off x="8258304" y="2597603"/>
            <a:ext cx="755650" cy="668338"/>
            <a:chOff x="2335" y="1139"/>
            <a:chExt cx="1089" cy="1089"/>
          </a:xfrm>
        </p:grpSpPr>
        <p:sp>
          <p:nvSpPr>
            <p:cNvPr id="27" name="Oval 2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Group 21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29" name="Freeform 22"/>
              <p:cNvSpPr/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Oval 2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2" name="Group 24"/>
          <p:cNvGrpSpPr/>
          <p:nvPr/>
        </p:nvGrpSpPr>
        <p:grpSpPr bwMode="auto">
          <a:xfrm>
            <a:off x="8582154" y="2661103"/>
            <a:ext cx="755650" cy="668338"/>
            <a:chOff x="2335" y="1139"/>
            <a:chExt cx="1089" cy="1089"/>
          </a:xfrm>
        </p:grpSpPr>
        <p:sp>
          <p:nvSpPr>
            <p:cNvPr id="33" name="Oval 2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Group 26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35" name="Freeform 27"/>
              <p:cNvSpPr/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Oval 28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7" name="Group 29"/>
          <p:cNvGrpSpPr/>
          <p:nvPr/>
        </p:nvGrpSpPr>
        <p:grpSpPr bwMode="auto">
          <a:xfrm>
            <a:off x="8005892" y="2851603"/>
            <a:ext cx="755650" cy="669925"/>
            <a:chOff x="2335" y="1139"/>
            <a:chExt cx="1089" cy="1089"/>
          </a:xfrm>
        </p:grpSpPr>
        <p:sp>
          <p:nvSpPr>
            <p:cNvPr id="38" name="Oval 3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Group 31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40" name="Freeform 32"/>
              <p:cNvSpPr/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3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4" name="Group 34"/>
          <p:cNvGrpSpPr/>
          <p:nvPr/>
        </p:nvGrpSpPr>
        <p:grpSpPr bwMode="auto">
          <a:xfrm>
            <a:off x="8437692" y="3107191"/>
            <a:ext cx="755650" cy="669925"/>
            <a:chOff x="2335" y="1139"/>
            <a:chExt cx="1089" cy="1089"/>
          </a:xfrm>
        </p:grpSpPr>
        <p:sp>
          <p:nvSpPr>
            <p:cNvPr id="45" name="Oval 35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" name="Group 36"/>
            <p:cNvGrpSpPr/>
            <p:nvPr/>
          </p:nvGrpSpPr>
          <p:grpSpPr bwMode="auto">
            <a:xfrm>
              <a:off x="2427" y="1169"/>
              <a:ext cx="908" cy="295"/>
              <a:chOff x="1432" y="1843"/>
              <a:chExt cx="907" cy="294"/>
            </a:xfrm>
          </p:grpSpPr>
          <p:sp>
            <p:nvSpPr>
              <p:cNvPr id="47" name="Freeform 37"/>
              <p:cNvSpPr/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Oval 38"/>
              <p:cNvSpPr>
                <a:spLocks noChangeArrowheads="1"/>
              </p:cNvSpPr>
              <p:nvPr/>
            </p:nvSpPr>
            <p:spPr bwMode="auto">
              <a:xfrm>
                <a:off x="1770" y="1844"/>
                <a:ext cx="229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9" name="Group 39"/>
          <p:cNvGrpSpPr/>
          <p:nvPr/>
        </p:nvGrpSpPr>
        <p:grpSpPr bwMode="auto">
          <a:xfrm>
            <a:off x="9482267" y="2884941"/>
            <a:ext cx="755650" cy="668337"/>
            <a:chOff x="2335" y="1139"/>
            <a:chExt cx="1089" cy="1089"/>
          </a:xfrm>
        </p:grpSpPr>
        <p:sp>
          <p:nvSpPr>
            <p:cNvPr id="50" name="Oval 40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Group 41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52" name="Freeform 42"/>
              <p:cNvSpPr/>
              <p:nvPr/>
            </p:nvSpPr>
            <p:spPr bwMode="auto">
              <a:xfrm>
                <a:off x="1432" y="1844"/>
                <a:ext cx="907" cy="294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Oval 43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4" name="Group 48"/>
          <p:cNvGrpSpPr/>
          <p:nvPr/>
        </p:nvGrpSpPr>
        <p:grpSpPr bwMode="auto">
          <a:xfrm>
            <a:off x="10339517" y="4518478"/>
            <a:ext cx="285750" cy="82550"/>
            <a:chOff x="1431" y="1843"/>
            <a:chExt cx="907" cy="295"/>
          </a:xfrm>
        </p:grpSpPr>
        <p:sp>
          <p:nvSpPr>
            <p:cNvPr id="55" name="Freeform 49"/>
            <p:cNvSpPr/>
            <p:nvPr/>
          </p:nvSpPr>
          <p:spPr bwMode="auto">
            <a:xfrm>
              <a:off x="1431" y="1843"/>
              <a:ext cx="907" cy="295"/>
            </a:xfrm>
            <a:custGeom>
              <a:avLst/>
              <a:gdLst/>
              <a:ahLst/>
              <a:cxnLst>
                <a:cxn ang="0">
                  <a:pos x="0" y="1576"/>
                </a:cxn>
                <a:cxn ang="0">
                  <a:pos x="50" y="1462"/>
                </a:cxn>
                <a:cxn ang="0">
                  <a:pos x="108" y="1350"/>
                </a:cxn>
                <a:cxn ang="0">
                  <a:pos x="170" y="1242"/>
                </a:cxn>
                <a:cxn ang="0">
                  <a:pos x="238" y="1138"/>
                </a:cxn>
                <a:cxn ang="0">
                  <a:pos x="310" y="1036"/>
                </a:cxn>
                <a:cxn ang="0">
                  <a:pos x="386" y="940"/>
                </a:cxn>
                <a:cxn ang="0">
                  <a:pos x="468" y="846"/>
                </a:cxn>
                <a:cxn ang="0">
                  <a:pos x="552" y="756"/>
                </a:cxn>
                <a:cxn ang="0">
                  <a:pos x="596" y="712"/>
                </a:cxn>
                <a:cxn ang="0">
                  <a:pos x="688" y="630"/>
                </a:cxn>
                <a:cxn ang="0">
                  <a:pos x="784" y="550"/>
                </a:cxn>
                <a:cxn ang="0">
                  <a:pos x="884" y="476"/>
                </a:cxn>
                <a:cxn ang="0">
                  <a:pos x="986" y="406"/>
                </a:cxn>
                <a:cxn ang="0">
                  <a:pos x="1092" y="342"/>
                </a:cxn>
                <a:cxn ang="0">
                  <a:pos x="1202" y="282"/>
                </a:cxn>
                <a:cxn ang="0">
                  <a:pos x="1316" y="228"/>
                </a:cxn>
                <a:cxn ang="0">
                  <a:pos x="1374" y="202"/>
                </a:cxn>
                <a:cxn ang="0">
                  <a:pos x="1490" y="156"/>
                </a:cxn>
                <a:cxn ang="0">
                  <a:pos x="1610" y="116"/>
                </a:cxn>
                <a:cxn ang="0">
                  <a:pos x="1732" y="80"/>
                </a:cxn>
                <a:cxn ang="0">
                  <a:pos x="1858" y="52"/>
                </a:cxn>
                <a:cxn ang="0">
                  <a:pos x="1984" y="30"/>
                </a:cxn>
                <a:cxn ang="0">
                  <a:pos x="2114" y="12"/>
                </a:cxn>
                <a:cxn ang="0">
                  <a:pos x="2246" y="2"/>
                </a:cxn>
                <a:cxn ang="0">
                  <a:pos x="2378" y="0"/>
                </a:cxn>
                <a:cxn ang="0">
                  <a:pos x="2444" y="0"/>
                </a:cxn>
                <a:cxn ang="0">
                  <a:pos x="2576" y="8"/>
                </a:cxn>
                <a:cxn ang="0">
                  <a:pos x="2706" y="20"/>
                </a:cxn>
                <a:cxn ang="0">
                  <a:pos x="2834" y="40"/>
                </a:cxn>
                <a:cxn ang="0">
                  <a:pos x="2962" y="66"/>
                </a:cxn>
                <a:cxn ang="0">
                  <a:pos x="3084" y="98"/>
                </a:cxn>
                <a:cxn ang="0">
                  <a:pos x="3206" y="136"/>
                </a:cxn>
                <a:cxn ang="0">
                  <a:pos x="3324" y="178"/>
                </a:cxn>
                <a:cxn ang="0">
                  <a:pos x="3382" y="202"/>
                </a:cxn>
                <a:cxn ang="0">
                  <a:pos x="3498" y="254"/>
                </a:cxn>
                <a:cxn ang="0">
                  <a:pos x="3608" y="312"/>
                </a:cxn>
                <a:cxn ang="0">
                  <a:pos x="3716" y="374"/>
                </a:cxn>
                <a:cxn ang="0">
                  <a:pos x="3822" y="440"/>
                </a:cxn>
                <a:cxn ang="0">
                  <a:pos x="3922" y="512"/>
                </a:cxn>
                <a:cxn ang="0">
                  <a:pos x="4020" y="590"/>
                </a:cxn>
                <a:cxn ang="0">
                  <a:pos x="4114" y="670"/>
                </a:cxn>
                <a:cxn ang="0">
                  <a:pos x="4204" y="756"/>
                </a:cxn>
                <a:cxn ang="0">
                  <a:pos x="4246" y="800"/>
                </a:cxn>
                <a:cxn ang="0">
                  <a:pos x="4330" y="892"/>
                </a:cxn>
                <a:cxn ang="0">
                  <a:pos x="4410" y="988"/>
                </a:cxn>
                <a:cxn ang="0">
                  <a:pos x="4484" y="1086"/>
                </a:cxn>
                <a:cxn ang="0">
                  <a:pos x="4552" y="1190"/>
                </a:cxn>
                <a:cxn ang="0">
                  <a:pos x="4618" y="1296"/>
                </a:cxn>
                <a:cxn ang="0">
                  <a:pos x="4678" y="1406"/>
                </a:cxn>
                <a:cxn ang="0">
                  <a:pos x="4732" y="1518"/>
                </a:cxn>
                <a:cxn ang="0">
                  <a:pos x="0" y="1576"/>
                </a:cxn>
              </a:cxnLst>
              <a:rect l="0" t="0" r="r" b="b"/>
              <a:pathLst>
                <a:path w="4756" h="1576">
                  <a:moveTo>
                    <a:pt x="0" y="1576"/>
                  </a:moveTo>
                  <a:lnTo>
                    <a:pt x="0" y="1576"/>
                  </a:lnTo>
                  <a:lnTo>
                    <a:pt x="24" y="1518"/>
                  </a:lnTo>
                  <a:lnTo>
                    <a:pt x="50" y="1462"/>
                  </a:lnTo>
                  <a:lnTo>
                    <a:pt x="78" y="1406"/>
                  </a:lnTo>
                  <a:lnTo>
                    <a:pt x="108" y="1350"/>
                  </a:lnTo>
                  <a:lnTo>
                    <a:pt x="138" y="1296"/>
                  </a:lnTo>
                  <a:lnTo>
                    <a:pt x="170" y="1242"/>
                  </a:lnTo>
                  <a:lnTo>
                    <a:pt x="204" y="1190"/>
                  </a:lnTo>
                  <a:lnTo>
                    <a:pt x="238" y="1138"/>
                  </a:lnTo>
                  <a:lnTo>
                    <a:pt x="272" y="1086"/>
                  </a:lnTo>
                  <a:lnTo>
                    <a:pt x="310" y="1036"/>
                  </a:lnTo>
                  <a:lnTo>
                    <a:pt x="348" y="988"/>
                  </a:lnTo>
                  <a:lnTo>
                    <a:pt x="386" y="940"/>
                  </a:lnTo>
                  <a:lnTo>
                    <a:pt x="426" y="892"/>
                  </a:lnTo>
                  <a:lnTo>
                    <a:pt x="468" y="846"/>
                  </a:lnTo>
                  <a:lnTo>
                    <a:pt x="510" y="800"/>
                  </a:lnTo>
                  <a:lnTo>
                    <a:pt x="552" y="756"/>
                  </a:lnTo>
                  <a:lnTo>
                    <a:pt x="552" y="756"/>
                  </a:lnTo>
                  <a:lnTo>
                    <a:pt x="596" y="712"/>
                  </a:lnTo>
                  <a:lnTo>
                    <a:pt x="642" y="670"/>
                  </a:lnTo>
                  <a:lnTo>
                    <a:pt x="688" y="630"/>
                  </a:lnTo>
                  <a:lnTo>
                    <a:pt x="736" y="590"/>
                  </a:lnTo>
                  <a:lnTo>
                    <a:pt x="784" y="550"/>
                  </a:lnTo>
                  <a:lnTo>
                    <a:pt x="834" y="512"/>
                  </a:lnTo>
                  <a:lnTo>
                    <a:pt x="884" y="476"/>
                  </a:lnTo>
                  <a:lnTo>
                    <a:pt x="934" y="440"/>
                  </a:lnTo>
                  <a:lnTo>
                    <a:pt x="986" y="406"/>
                  </a:lnTo>
                  <a:lnTo>
                    <a:pt x="1040" y="374"/>
                  </a:lnTo>
                  <a:lnTo>
                    <a:pt x="1092" y="342"/>
                  </a:lnTo>
                  <a:lnTo>
                    <a:pt x="1148" y="312"/>
                  </a:lnTo>
                  <a:lnTo>
                    <a:pt x="1202" y="282"/>
                  </a:lnTo>
                  <a:lnTo>
                    <a:pt x="1258" y="254"/>
                  </a:lnTo>
                  <a:lnTo>
                    <a:pt x="1316" y="228"/>
                  </a:lnTo>
                  <a:lnTo>
                    <a:pt x="1374" y="202"/>
                  </a:lnTo>
                  <a:lnTo>
                    <a:pt x="1374" y="202"/>
                  </a:lnTo>
                  <a:lnTo>
                    <a:pt x="1432" y="178"/>
                  </a:lnTo>
                  <a:lnTo>
                    <a:pt x="1490" y="156"/>
                  </a:lnTo>
                  <a:lnTo>
                    <a:pt x="1550" y="136"/>
                  </a:lnTo>
                  <a:lnTo>
                    <a:pt x="1610" y="116"/>
                  </a:lnTo>
                  <a:lnTo>
                    <a:pt x="1672" y="98"/>
                  </a:lnTo>
                  <a:lnTo>
                    <a:pt x="1732" y="80"/>
                  </a:lnTo>
                  <a:lnTo>
                    <a:pt x="1794" y="66"/>
                  </a:lnTo>
                  <a:lnTo>
                    <a:pt x="1858" y="52"/>
                  </a:lnTo>
                  <a:lnTo>
                    <a:pt x="1922" y="40"/>
                  </a:lnTo>
                  <a:lnTo>
                    <a:pt x="1984" y="30"/>
                  </a:lnTo>
                  <a:lnTo>
                    <a:pt x="2050" y="20"/>
                  </a:lnTo>
                  <a:lnTo>
                    <a:pt x="2114" y="12"/>
                  </a:lnTo>
                  <a:lnTo>
                    <a:pt x="2180" y="8"/>
                  </a:lnTo>
                  <a:lnTo>
                    <a:pt x="2246" y="2"/>
                  </a:lnTo>
                  <a:lnTo>
                    <a:pt x="2312" y="0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444" y="0"/>
                  </a:lnTo>
                  <a:lnTo>
                    <a:pt x="2510" y="2"/>
                  </a:lnTo>
                  <a:lnTo>
                    <a:pt x="2576" y="8"/>
                  </a:lnTo>
                  <a:lnTo>
                    <a:pt x="2642" y="12"/>
                  </a:lnTo>
                  <a:lnTo>
                    <a:pt x="2706" y="20"/>
                  </a:lnTo>
                  <a:lnTo>
                    <a:pt x="2772" y="30"/>
                  </a:lnTo>
                  <a:lnTo>
                    <a:pt x="2834" y="40"/>
                  </a:lnTo>
                  <a:lnTo>
                    <a:pt x="2898" y="52"/>
                  </a:lnTo>
                  <a:lnTo>
                    <a:pt x="2962" y="66"/>
                  </a:lnTo>
                  <a:lnTo>
                    <a:pt x="3024" y="80"/>
                  </a:lnTo>
                  <a:lnTo>
                    <a:pt x="3084" y="98"/>
                  </a:lnTo>
                  <a:lnTo>
                    <a:pt x="3146" y="116"/>
                  </a:lnTo>
                  <a:lnTo>
                    <a:pt x="3206" y="136"/>
                  </a:lnTo>
                  <a:lnTo>
                    <a:pt x="3266" y="156"/>
                  </a:lnTo>
                  <a:lnTo>
                    <a:pt x="3324" y="178"/>
                  </a:lnTo>
                  <a:lnTo>
                    <a:pt x="3382" y="202"/>
                  </a:lnTo>
                  <a:lnTo>
                    <a:pt x="3382" y="202"/>
                  </a:lnTo>
                  <a:lnTo>
                    <a:pt x="3440" y="228"/>
                  </a:lnTo>
                  <a:lnTo>
                    <a:pt x="3498" y="254"/>
                  </a:lnTo>
                  <a:lnTo>
                    <a:pt x="3554" y="282"/>
                  </a:lnTo>
                  <a:lnTo>
                    <a:pt x="3608" y="312"/>
                  </a:lnTo>
                  <a:lnTo>
                    <a:pt x="3664" y="342"/>
                  </a:lnTo>
                  <a:lnTo>
                    <a:pt x="3716" y="374"/>
                  </a:lnTo>
                  <a:lnTo>
                    <a:pt x="3770" y="406"/>
                  </a:lnTo>
                  <a:lnTo>
                    <a:pt x="3822" y="440"/>
                  </a:lnTo>
                  <a:lnTo>
                    <a:pt x="3872" y="476"/>
                  </a:lnTo>
                  <a:lnTo>
                    <a:pt x="3922" y="512"/>
                  </a:lnTo>
                  <a:lnTo>
                    <a:pt x="3972" y="550"/>
                  </a:lnTo>
                  <a:lnTo>
                    <a:pt x="4020" y="590"/>
                  </a:lnTo>
                  <a:lnTo>
                    <a:pt x="4068" y="630"/>
                  </a:lnTo>
                  <a:lnTo>
                    <a:pt x="4114" y="670"/>
                  </a:lnTo>
                  <a:lnTo>
                    <a:pt x="4160" y="712"/>
                  </a:lnTo>
                  <a:lnTo>
                    <a:pt x="4204" y="756"/>
                  </a:lnTo>
                  <a:lnTo>
                    <a:pt x="4204" y="756"/>
                  </a:lnTo>
                  <a:lnTo>
                    <a:pt x="4246" y="800"/>
                  </a:lnTo>
                  <a:lnTo>
                    <a:pt x="4288" y="846"/>
                  </a:lnTo>
                  <a:lnTo>
                    <a:pt x="4330" y="892"/>
                  </a:lnTo>
                  <a:lnTo>
                    <a:pt x="4370" y="940"/>
                  </a:lnTo>
                  <a:lnTo>
                    <a:pt x="4410" y="988"/>
                  </a:lnTo>
                  <a:lnTo>
                    <a:pt x="4446" y="1036"/>
                  </a:lnTo>
                  <a:lnTo>
                    <a:pt x="4484" y="1086"/>
                  </a:lnTo>
                  <a:lnTo>
                    <a:pt x="4518" y="1138"/>
                  </a:lnTo>
                  <a:lnTo>
                    <a:pt x="4552" y="1190"/>
                  </a:lnTo>
                  <a:lnTo>
                    <a:pt x="4586" y="1242"/>
                  </a:lnTo>
                  <a:lnTo>
                    <a:pt x="4618" y="1296"/>
                  </a:lnTo>
                  <a:lnTo>
                    <a:pt x="4648" y="1350"/>
                  </a:lnTo>
                  <a:lnTo>
                    <a:pt x="4678" y="1406"/>
                  </a:lnTo>
                  <a:lnTo>
                    <a:pt x="4706" y="1462"/>
                  </a:lnTo>
                  <a:lnTo>
                    <a:pt x="4732" y="1518"/>
                  </a:lnTo>
                  <a:lnTo>
                    <a:pt x="4756" y="1576"/>
                  </a:lnTo>
                  <a:lnTo>
                    <a:pt x="0" y="1576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gamma/>
                    <a:tint val="0"/>
                    <a:invGamma/>
                    <a:alpha val="0"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50"/>
            <p:cNvSpPr>
              <a:spLocks noChangeArrowheads="1"/>
            </p:cNvSpPr>
            <p:nvPr/>
          </p:nvSpPr>
          <p:spPr bwMode="auto">
            <a:xfrm>
              <a:off x="1769" y="1843"/>
              <a:ext cx="232" cy="2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67ABF5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Text Box 51"/>
          <p:cNvSpPr txBox="1">
            <a:spLocks noChangeArrowheads="1"/>
          </p:cNvSpPr>
          <p:nvPr/>
        </p:nvSpPr>
        <p:spPr bwMode="auto">
          <a:xfrm>
            <a:off x="9186992" y="2500766"/>
            <a:ext cx="971550" cy="307975"/>
          </a:xfrm>
          <a:prstGeom prst="rect">
            <a:avLst/>
          </a:prstGeom>
          <a:noFill/>
          <a:ln w="31750" cap="rnd" algn="ctr">
            <a:noFill/>
            <a:prstDash val="sysDot"/>
            <a:miter lim="800000"/>
          </a:ln>
        </p:spPr>
        <p:txBody>
          <a:bodyPr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图像文件</a:t>
            </a:r>
            <a:endParaRPr kumimoji="1" lang="zh-CN" altLang="en-US" sz="1400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Oval 75"/>
          <p:cNvSpPr>
            <a:spLocks noChangeArrowheads="1"/>
          </p:cNvSpPr>
          <p:nvPr/>
        </p:nvSpPr>
        <p:spPr bwMode="auto">
          <a:xfrm>
            <a:off x="10209342" y="4645478"/>
            <a:ext cx="98425" cy="777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67ABF5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Group 83"/>
          <p:cNvGrpSpPr/>
          <p:nvPr/>
        </p:nvGrpSpPr>
        <p:grpSpPr bwMode="auto">
          <a:xfrm>
            <a:off x="8940929" y="2948441"/>
            <a:ext cx="755650" cy="669925"/>
            <a:chOff x="2335" y="1139"/>
            <a:chExt cx="1089" cy="1089"/>
          </a:xfrm>
        </p:grpSpPr>
        <p:sp>
          <p:nvSpPr>
            <p:cNvPr id="61" name="Oval 84"/>
            <p:cNvSpPr>
              <a:spLocks noChangeArrowheads="1"/>
            </p:cNvSpPr>
            <p:nvPr/>
          </p:nvSpPr>
          <p:spPr bwMode="auto">
            <a:xfrm>
              <a:off x="2335" y="1139"/>
              <a:ext cx="1089" cy="1089"/>
            </a:xfrm>
            <a:prstGeom prst="ellipse">
              <a:avLst/>
            </a:prstGeom>
            <a:gradFill rotWithShape="1">
              <a:gsLst>
                <a:gs pos="0">
                  <a:srgbClr val="9E9E9E"/>
                </a:gs>
                <a:gs pos="100000">
                  <a:srgbClr val="5B5B5B"/>
                </a:gs>
              </a:gsLst>
              <a:lin ang="5400000" scaled="1"/>
            </a:gradFill>
            <a:ln w="9525" algn="ctr">
              <a:noFill/>
              <a:rou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" name="Group 85"/>
            <p:cNvGrpSpPr/>
            <p:nvPr/>
          </p:nvGrpSpPr>
          <p:grpSpPr bwMode="auto">
            <a:xfrm>
              <a:off x="2426" y="1169"/>
              <a:ext cx="908" cy="296"/>
              <a:chOff x="1431" y="1843"/>
              <a:chExt cx="907" cy="295"/>
            </a:xfrm>
          </p:grpSpPr>
          <p:sp>
            <p:nvSpPr>
              <p:cNvPr id="63" name="Freeform 86"/>
              <p:cNvSpPr/>
              <p:nvPr/>
            </p:nvSpPr>
            <p:spPr bwMode="auto">
              <a:xfrm>
                <a:off x="1432" y="1844"/>
                <a:ext cx="907" cy="293"/>
              </a:xfrm>
              <a:custGeom>
                <a:avLst/>
                <a:gdLst/>
                <a:ahLst/>
                <a:cxnLst>
                  <a:cxn ang="0">
                    <a:pos x="0" y="1576"/>
                  </a:cxn>
                  <a:cxn ang="0">
                    <a:pos x="50" y="1462"/>
                  </a:cxn>
                  <a:cxn ang="0">
                    <a:pos x="108" y="1350"/>
                  </a:cxn>
                  <a:cxn ang="0">
                    <a:pos x="170" y="1242"/>
                  </a:cxn>
                  <a:cxn ang="0">
                    <a:pos x="238" y="1138"/>
                  </a:cxn>
                  <a:cxn ang="0">
                    <a:pos x="310" y="1036"/>
                  </a:cxn>
                  <a:cxn ang="0">
                    <a:pos x="386" y="940"/>
                  </a:cxn>
                  <a:cxn ang="0">
                    <a:pos x="468" y="846"/>
                  </a:cxn>
                  <a:cxn ang="0">
                    <a:pos x="552" y="756"/>
                  </a:cxn>
                  <a:cxn ang="0">
                    <a:pos x="596" y="712"/>
                  </a:cxn>
                  <a:cxn ang="0">
                    <a:pos x="688" y="630"/>
                  </a:cxn>
                  <a:cxn ang="0">
                    <a:pos x="784" y="550"/>
                  </a:cxn>
                  <a:cxn ang="0">
                    <a:pos x="884" y="476"/>
                  </a:cxn>
                  <a:cxn ang="0">
                    <a:pos x="986" y="406"/>
                  </a:cxn>
                  <a:cxn ang="0">
                    <a:pos x="1092" y="342"/>
                  </a:cxn>
                  <a:cxn ang="0">
                    <a:pos x="1202" y="282"/>
                  </a:cxn>
                  <a:cxn ang="0">
                    <a:pos x="1316" y="228"/>
                  </a:cxn>
                  <a:cxn ang="0">
                    <a:pos x="1374" y="202"/>
                  </a:cxn>
                  <a:cxn ang="0">
                    <a:pos x="1490" y="156"/>
                  </a:cxn>
                  <a:cxn ang="0">
                    <a:pos x="1610" y="116"/>
                  </a:cxn>
                  <a:cxn ang="0">
                    <a:pos x="1732" y="80"/>
                  </a:cxn>
                  <a:cxn ang="0">
                    <a:pos x="1858" y="52"/>
                  </a:cxn>
                  <a:cxn ang="0">
                    <a:pos x="1984" y="30"/>
                  </a:cxn>
                  <a:cxn ang="0">
                    <a:pos x="2114" y="12"/>
                  </a:cxn>
                  <a:cxn ang="0">
                    <a:pos x="2246" y="2"/>
                  </a:cxn>
                  <a:cxn ang="0">
                    <a:pos x="2378" y="0"/>
                  </a:cxn>
                  <a:cxn ang="0">
                    <a:pos x="2444" y="0"/>
                  </a:cxn>
                  <a:cxn ang="0">
                    <a:pos x="2576" y="8"/>
                  </a:cxn>
                  <a:cxn ang="0">
                    <a:pos x="2706" y="20"/>
                  </a:cxn>
                  <a:cxn ang="0">
                    <a:pos x="2834" y="40"/>
                  </a:cxn>
                  <a:cxn ang="0">
                    <a:pos x="2962" y="66"/>
                  </a:cxn>
                  <a:cxn ang="0">
                    <a:pos x="3084" y="98"/>
                  </a:cxn>
                  <a:cxn ang="0">
                    <a:pos x="3206" y="136"/>
                  </a:cxn>
                  <a:cxn ang="0">
                    <a:pos x="3324" y="178"/>
                  </a:cxn>
                  <a:cxn ang="0">
                    <a:pos x="3382" y="202"/>
                  </a:cxn>
                  <a:cxn ang="0">
                    <a:pos x="3498" y="254"/>
                  </a:cxn>
                  <a:cxn ang="0">
                    <a:pos x="3608" y="312"/>
                  </a:cxn>
                  <a:cxn ang="0">
                    <a:pos x="3716" y="374"/>
                  </a:cxn>
                  <a:cxn ang="0">
                    <a:pos x="3822" y="440"/>
                  </a:cxn>
                  <a:cxn ang="0">
                    <a:pos x="3922" y="512"/>
                  </a:cxn>
                  <a:cxn ang="0">
                    <a:pos x="4020" y="590"/>
                  </a:cxn>
                  <a:cxn ang="0">
                    <a:pos x="4114" y="670"/>
                  </a:cxn>
                  <a:cxn ang="0">
                    <a:pos x="4204" y="756"/>
                  </a:cxn>
                  <a:cxn ang="0">
                    <a:pos x="4246" y="800"/>
                  </a:cxn>
                  <a:cxn ang="0">
                    <a:pos x="4330" y="892"/>
                  </a:cxn>
                  <a:cxn ang="0">
                    <a:pos x="4410" y="988"/>
                  </a:cxn>
                  <a:cxn ang="0">
                    <a:pos x="4484" y="1086"/>
                  </a:cxn>
                  <a:cxn ang="0">
                    <a:pos x="4552" y="1190"/>
                  </a:cxn>
                  <a:cxn ang="0">
                    <a:pos x="4618" y="1296"/>
                  </a:cxn>
                  <a:cxn ang="0">
                    <a:pos x="4678" y="1406"/>
                  </a:cxn>
                  <a:cxn ang="0">
                    <a:pos x="4732" y="1518"/>
                  </a:cxn>
                  <a:cxn ang="0">
                    <a:pos x="0" y="1576"/>
                  </a:cxn>
                </a:cxnLst>
                <a:rect l="0" t="0" r="r" b="b"/>
                <a:pathLst>
                  <a:path w="4756" h="1576">
                    <a:moveTo>
                      <a:pt x="0" y="1576"/>
                    </a:moveTo>
                    <a:lnTo>
                      <a:pt x="0" y="1576"/>
                    </a:lnTo>
                    <a:lnTo>
                      <a:pt x="24" y="1518"/>
                    </a:lnTo>
                    <a:lnTo>
                      <a:pt x="50" y="1462"/>
                    </a:lnTo>
                    <a:lnTo>
                      <a:pt x="78" y="1406"/>
                    </a:lnTo>
                    <a:lnTo>
                      <a:pt x="108" y="1350"/>
                    </a:lnTo>
                    <a:lnTo>
                      <a:pt x="138" y="1296"/>
                    </a:lnTo>
                    <a:lnTo>
                      <a:pt x="170" y="1242"/>
                    </a:lnTo>
                    <a:lnTo>
                      <a:pt x="204" y="1190"/>
                    </a:lnTo>
                    <a:lnTo>
                      <a:pt x="238" y="1138"/>
                    </a:lnTo>
                    <a:lnTo>
                      <a:pt x="272" y="1086"/>
                    </a:lnTo>
                    <a:lnTo>
                      <a:pt x="310" y="1036"/>
                    </a:lnTo>
                    <a:lnTo>
                      <a:pt x="348" y="988"/>
                    </a:lnTo>
                    <a:lnTo>
                      <a:pt x="386" y="940"/>
                    </a:lnTo>
                    <a:lnTo>
                      <a:pt x="426" y="892"/>
                    </a:lnTo>
                    <a:lnTo>
                      <a:pt x="468" y="846"/>
                    </a:lnTo>
                    <a:lnTo>
                      <a:pt x="510" y="800"/>
                    </a:lnTo>
                    <a:lnTo>
                      <a:pt x="552" y="756"/>
                    </a:lnTo>
                    <a:lnTo>
                      <a:pt x="552" y="756"/>
                    </a:lnTo>
                    <a:lnTo>
                      <a:pt x="596" y="712"/>
                    </a:lnTo>
                    <a:lnTo>
                      <a:pt x="642" y="670"/>
                    </a:lnTo>
                    <a:lnTo>
                      <a:pt x="688" y="630"/>
                    </a:lnTo>
                    <a:lnTo>
                      <a:pt x="736" y="590"/>
                    </a:lnTo>
                    <a:lnTo>
                      <a:pt x="784" y="550"/>
                    </a:lnTo>
                    <a:lnTo>
                      <a:pt x="834" y="512"/>
                    </a:lnTo>
                    <a:lnTo>
                      <a:pt x="884" y="476"/>
                    </a:lnTo>
                    <a:lnTo>
                      <a:pt x="934" y="440"/>
                    </a:lnTo>
                    <a:lnTo>
                      <a:pt x="986" y="406"/>
                    </a:lnTo>
                    <a:lnTo>
                      <a:pt x="1040" y="374"/>
                    </a:lnTo>
                    <a:lnTo>
                      <a:pt x="1092" y="342"/>
                    </a:lnTo>
                    <a:lnTo>
                      <a:pt x="1148" y="312"/>
                    </a:lnTo>
                    <a:lnTo>
                      <a:pt x="1202" y="282"/>
                    </a:lnTo>
                    <a:lnTo>
                      <a:pt x="1258" y="254"/>
                    </a:lnTo>
                    <a:lnTo>
                      <a:pt x="1316" y="228"/>
                    </a:lnTo>
                    <a:lnTo>
                      <a:pt x="1374" y="202"/>
                    </a:lnTo>
                    <a:lnTo>
                      <a:pt x="1374" y="202"/>
                    </a:lnTo>
                    <a:lnTo>
                      <a:pt x="1432" y="178"/>
                    </a:lnTo>
                    <a:lnTo>
                      <a:pt x="1490" y="156"/>
                    </a:lnTo>
                    <a:lnTo>
                      <a:pt x="1550" y="136"/>
                    </a:lnTo>
                    <a:lnTo>
                      <a:pt x="1610" y="116"/>
                    </a:lnTo>
                    <a:lnTo>
                      <a:pt x="1672" y="98"/>
                    </a:lnTo>
                    <a:lnTo>
                      <a:pt x="1732" y="80"/>
                    </a:lnTo>
                    <a:lnTo>
                      <a:pt x="1794" y="66"/>
                    </a:lnTo>
                    <a:lnTo>
                      <a:pt x="1858" y="52"/>
                    </a:lnTo>
                    <a:lnTo>
                      <a:pt x="1922" y="40"/>
                    </a:lnTo>
                    <a:lnTo>
                      <a:pt x="1984" y="30"/>
                    </a:lnTo>
                    <a:lnTo>
                      <a:pt x="2050" y="20"/>
                    </a:lnTo>
                    <a:lnTo>
                      <a:pt x="2114" y="12"/>
                    </a:lnTo>
                    <a:lnTo>
                      <a:pt x="2180" y="8"/>
                    </a:lnTo>
                    <a:lnTo>
                      <a:pt x="2246" y="2"/>
                    </a:lnTo>
                    <a:lnTo>
                      <a:pt x="2312" y="0"/>
                    </a:lnTo>
                    <a:lnTo>
                      <a:pt x="2378" y="0"/>
                    </a:lnTo>
                    <a:lnTo>
                      <a:pt x="2378" y="0"/>
                    </a:lnTo>
                    <a:lnTo>
                      <a:pt x="2444" y="0"/>
                    </a:lnTo>
                    <a:lnTo>
                      <a:pt x="2510" y="2"/>
                    </a:lnTo>
                    <a:lnTo>
                      <a:pt x="2576" y="8"/>
                    </a:lnTo>
                    <a:lnTo>
                      <a:pt x="2642" y="12"/>
                    </a:lnTo>
                    <a:lnTo>
                      <a:pt x="2706" y="20"/>
                    </a:lnTo>
                    <a:lnTo>
                      <a:pt x="2772" y="30"/>
                    </a:lnTo>
                    <a:lnTo>
                      <a:pt x="2834" y="40"/>
                    </a:lnTo>
                    <a:lnTo>
                      <a:pt x="2898" y="52"/>
                    </a:lnTo>
                    <a:lnTo>
                      <a:pt x="2962" y="66"/>
                    </a:lnTo>
                    <a:lnTo>
                      <a:pt x="3024" y="80"/>
                    </a:lnTo>
                    <a:lnTo>
                      <a:pt x="3084" y="98"/>
                    </a:lnTo>
                    <a:lnTo>
                      <a:pt x="3146" y="116"/>
                    </a:lnTo>
                    <a:lnTo>
                      <a:pt x="3206" y="136"/>
                    </a:lnTo>
                    <a:lnTo>
                      <a:pt x="3266" y="156"/>
                    </a:lnTo>
                    <a:lnTo>
                      <a:pt x="3324" y="178"/>
                    </a:lnTo>
                    <a:lnTo>
                      <a:pt x="3382" y="202"/>
                    </a:lnTo>
                    <a:lnTo>
                      <a:pt x="3382" y="202"/>
                    </a:lnTo>
                    <a:lnTo>
                      <a:pt x="3440" y="228"/>
                    </a:lnTo>
                    <a:lnTo>
                      <a:pt x="3498" y="254"/>
                    </a:lnTo>
                    <a:lnTo>
                      <a:pt x="3554" y="282"/>
                    </a:lnTo>
                    <a:lnTo>
                      <a:pt x="3608" y="312"/>
                    </a:lnTo>
                    <a:lnTo>
                      <a:pt x="3664" y="342"/>
                    </a:lnTo>
                    <a:lnTo>
                      <a:pt x="3716" y="374"/>
                    </a:lnTo>
                    <a:lnTo>
                      <a:pt x="3770" y="406"/>
                    </a:lnTo>
                    <a:lnTo>
                      <a:pt x="3822" y="440"/>
                    </a:lnTo>
                    <a:lnTo>
                      <a:pt x="3872" y="476"/>
                    </a:lnTo>
                    <a:lnTo>
                      <a:pt x="3922" y="512"/>
                    </a:lnTo>
                    <a:lnTo>
                      <a:pt x="3972" y="550"/>
                    </a:lnTo>
                    <a:lnTo>
                      <a:pt x="4020" y="590"/>
                    </a:lnTo>
                    <a:lnTo>
                      <a:pt x="4068" y="630"/>
                    </a:lnTo>
                    <a:lnTo>
                      <a:pt x="4114" y="670"/>
                    </a:lnTo>
                    <a:lnTo>
                      <a:pt x="4160" y="712"/>
                    </a:lnTo>
                    <a:lnTo>
                      <a:pt x="4204" y="756"/>
                    </a:lnTo>
                    <a:lnTo>
                      <a:pt x="4204" y="756"/>
                    </a:lnTo>
                    <a:lnTo>
                      <a:pt x="4246" y="800"/>
                    </a:lnTo>
                    <a:lnTo>
                      <a:pt x="4288" y="846"/>
                    </a:lnTo>
                    <a:lnTo>
                      <a:pt x="4330" y="892"/>
                    </a:lnTo>
                    <a:lnTo>
                      <a:pt x="4370" y="940"/>
                    </a:lnTo>
                    <a:lnTo>
                      <a:pt x="4410" y="988"/>
                    </a:lnTo>
                    <a:lnTo>
                      <a:pt x="4446" y="1036"/>
                    </a:lnTo>
                    <a:lnTo>
                      <a:pt x="4484" y="1086"/>
                    </a:lnTo>
                    <a:lnTo>
                      <a:pt x="4518" y="1138"/>
                    </a:lnTo>
                    <a:lnTo>
                      <a:pt x="4552" y="1190"/>
                    </a:lnTo>
                    <a:lnTo>
                      <a:pt x="4586" y="1242"/>
                    </a:lnTo>
                    <a:lnTo>
                      <a:pt x="4618" y="1296"/>
                    </a:lnTo>
                    <a:lnTo>
                      <a:pt x="4648" y="1350"/>
                    </a:lnTo>
                    <a:lnTo>
                      <a:pt x="4678" y="1406"/>
                    </a:lnTo>
                    <a:lnTo>
                      <a:pt x="4706" y="1462"/>
                    </a:lnTo>
                    <a:lnTo>
                      <a:pt x="4732" y="1518"/>
                    </a:lnTo>
                    <a:lnTo>
                      <a:pt x="4756" y="1576"/>
                    </a:lnTo>
                    <a:lnTo>
                      <a:pt x="0" y="1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75000"/>
                    </a:srgbClr>
                  </a:gs>
                  <a:gs pos="100000">
                    <a:srgbClr val="FFFFFF">
                      <a:gamma/>
                      <a:tint val="0"/>
                      <a:invGamma/>
                      <a:alpha val="0"/>
                    </a:srgbClr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Oval 87"/>
              <p:cNvSpPr>
                <a:spLocks noChangeArrowheads="1"/>
              </p:cNvSpPr>
              <p:nvPr/>
            </p:nvSpPr>
            <p:spPr bwMode="auto">
              <a:xfrm>
                <a:off x="1772" y="1844"/>
                <a:ext cx="226" cy="20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67ABF5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5" name="Group 88"/>
          <p:cNvGrpSpPr/>
          <p:nvPr/>
        </p:nvGrpSpPr>
        <p:grpSpPr bwMode="auto">
          <a:xfrm>
            <a:off x="7932867" y="3054803"/>
            <a:ext cx="2368550" cy="2357438"/>
            <a:chOff x="1088" y="1759"/>
            <a:chExt cx="1492" cy="1679"/>
          </a:xfrm>
        </p:grpSpPr>
        <p:sp>
          <p:nvSpPr>
            <p:cNvPr id="66" name="Freeform 89"/>
            <p:cNvSpPr/>
            <p:nvPr/>
          </p:nvSpPr>
          <p:spPr bwMode="auto">
            <a:xfrm>
              <a:off x="1088" y="1759"/>
              <a:ext cx="1492" cy="373"/>
            </a:xfrm>
            <a:custGeom>
              <a:avLst/>
              <a:gdLst>
                <a:gd name="T0" fmla="*/ 710 w 1492"/>
                <a:gd name="T1" fmla="*/ 350 h 373"/>
                <a:gd name="T2" fmla="*/ 605 w 1492"/>
                <a:gd name="T3" fmla="*/ 343 h 373"/>
                <a:gd name="T4" fmla="*/ 505 w 1492"/>
                <a:gd name="T5" fmla="*/ 329 h 373"/>
                <a:gd name="T6" fmla="*/ 413 w 1492"/>
                <a:gd name="T7" fmla="*/ 308 h 373"/>
                <a:gd name="T8" fmla="*/ 328 w 1492"/>
                <a:gd name="T9" fmla="*/ 281 h 373"/>
                <a:gd name="T10" fmla="*/ 251 w 1492"/>
                <a:gd name="T11" fmla="*/ 248 h 373"/>
                <a:gd name="T12" fmla="*/ 185 w 1492"/>
                <a:gd name="T13" fmla="*/ 210 h 373"/>
                <a:gd name="T14" fmla="*/ 131 w 1492"/>
                <a:gd name="T15" fmla="*/ 167 h 373"/>
                <a:gd name="T16" fmla="*/ 89 w 1492"/>
                <a:gd name="T17" fmla="*/ 121 h 373"/>
                <a:gd name="T18" fmla="*/ 61 w 1492"/>
                <a:gd name="T19" fmla="*/ 71 h 373"/>
                <a:gd name="T20" fmla="*/ 48 w 1492"/>
                <a:gd name="T21" fmla="*/ 18 h 373"/>
                <a:gd name="T22" fmla="*/ 0 w 1492"/>
                <a:gd name="T23" fmla="*/ 0 h 373"/>
                <a:gd name="T24" fmla="*/ 9 w 1492"/>
                <a:gd name="T25" fmla="*/ 57 h 373"/>
                <a:gd name="T26" fmla="*/ 34 w 1492"/>
                <a:gd name="T27" fmla="*/ 112 h 373"/>
                <a:gd name="T28" fmla="*/ 74 w 1492"/>
                <a:gd name="T29" fmla="*/ 162 h 373"/>
                <a:gd name="T30" fmla="*/ 127 w 1492"/>
                <a:gd name="T31" fmla="*/ 209 h 373"/>
                <a:gd name="T32" fmla="*/ 194 w 1492"/>
                <a:gd name="T33" fmla="*/ 251 h 373"/>
                <a:gd name="T34" fmla="*/ 272 w 1492"/>
                <a:gd name="T35" fmla="*/ 288 h 373"/>
                <a:gd name="T36" fmla="*/ 359 w 1492"/>
                <a:gd name="T37" fmla="*/ 319 h 373"/>
                <a:gd name="T38" fmla="*/ 456 w 1492"/>
                <a:gd name="T39" fmla="*/ 343 h 373"/>
                <a:gd name="T40" fmla="*/ 560 w 1492"/>
                <a:gd name="T41" fmla="*/ 362 h 373"/>
                <a:gd name="T42" fmla="*/ 670 w 1492"/>
                <a:gd name="T43" fmla="*/ 372 h 373"/>
                <a:gd name="T44" fmla="*/ 746 w 1492"/>
                <a:gd name="T45" fmla="*/ 373 h 373"/>
                <a:gd name="T46" fmla="*/ 860 w 1492"/>
                <a:gd name="T47" fmla="*/ 369 h 373"/>
                <a:gd name="T48" fmla="*/ 967 w 1492"/>
                <a:gd name="T49" fmla="*/ 356 h 373"/>
                <a:gd name="T50" fmla="*/ 1070 w 1492"/>
                <a:gd name="T51" fmla="*/ 337 h 373"/>
                <a:gd name="T52" fmla="*/ 1163 w 1492"/>
                <a:gd name="T53" fmla="*/ 310 h 373"/>
                <a:gd name="T54" fmla="*/ 1247 w 1492"/>
                <a:gd name="T55" fmla="*/ 276 h 373"/>
                <a:gd name="T56" fmla="*/ 1321 w 1492"/>
                <a:gd name="T57" fmla="*/ 237 h 373"/>
                <a:gd name="T58" fmla="*/ 1385 w 1492"/>
                <a:gd name="T59" fmla="*/ 193 h 373"/>
                <a:gd name="T60" fmla="*/ 1434 w 1492"/>
                <a:gd name="T61" fmla="*/ 145 h 373"/>
                <a:gd name="T62" fmla="*/ 1469 w 1492"/>
                <a:gd name="T63" fmla="*/ 93 h 373"/>
                <a:gd name="T64" fmla="*/ 1488 w 1492"/>
                <a:gd name="T65" fmla="*/ 38 h 373"/>
                <a:gd name="T66" fmla="*/ 1445 w 1492"/>
                <a:gd name="T67" fmla="*/ 0 h 373"/>
                <a:gd name="T68" fmla="*/ 1441 w 1492"/>
                <a:gd name="T69" fmla="*/ 36 h 373"/>
                <a:gd name="T70" fmla="*/ 1423 w 1492"/>
                <a:gd name="T71" fmla="*/ 88 h 373"/>
                <a:gd name="T72" fmla="*/ 1391 w 1492"/>
                <a:gd name="T73" fmla="*/ 136 h 373"/>
                <a:gd name="T74" fmla="*/ 1344 w 1492"/>
                <a:gd name="T75" fmla="*/ 181 h 373"/>
                <a:gd name="T76" fmla="*/ 1286 w 1492"/>
                <a:gd name="T77" fmla="*/ 223 h 373"/>
                <a:gd name="T78" fmla="*/ 1216 w 1492"/>
                <a:gd name="T79" fmla="*/ 259 h 373"/>
                <a:gd name="T80" fmla="*/ 1137 w 1492"/>
                <a:gd name="T81" fmla="*/ 290 h 373"/>
                <a:gd name="T82" fmla="*/ 1049 w 1492"/>
                <a:gd name="T83" fmla="*/ 316 h 373"/>
                <a:gd name="T84" fmla="*/ 955 w 1492"/>
                <a:gd name="T85" fmla="*/ 334 h 373"/>
                <a:gd name="T86" fmla="*/ 852 w 1492"/>
                <a:gd name="T87" fmla="*/ 346 h 373"/>
                <a:gd name="T88" fmla="*/ 746 w 1492"/>
                <a:gd name="T89" fmla="*/ 350 h 37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492"/>
                <a:gd name="T136" fmla="*/ 0 h 373"/>
                <a:gd name="T137" fmla="*/ 1492 w 1492"/>
                <a:gd name="T138" fmla="*/ 373 h 37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492" h="373">
                  <a:moveTo>
                    <a:pt x="746" y="350"/>
                  </a:moveTo>
                  <a:lnTo>
                    <a:pt x="746" y="350"/>
                  </a:lnTo>
                  <a:lnTo>
                    <a:pt x="710" y="350"/>
                  </a:lnTo>
                  <a:lnTo>
                    <a:pt x="675" y="349"/>
                  </a:lnTo>
                  <a:lnTo>
                    <a:pt x="640" y="346"/>
                  </a:lnTo>
                  <a:lnTo>
                    <a:pt x="605" y="343"/>
                  </a:lnTo>
                  <a:lnTo>
                    <a:pt x="571" y="340"/>
                  </a:lnTo>
                  <a:lnTo>
                    <a:pt x="537" y="334"/>
                  </a:lnTo>
                  <a:lnTo>
                    <a:pt x="505" y="329"/>
                  </a:lnTo>
                  <a:lnTo>
                    <a:pt x="474" y="323"/>
                  </a:lnTo>
                  <a:lnTo>
                    <a:pt x="443" y="316"/>
                  </a:lnTo>
                  <a:lnTo>
                    <a:pt x="413" y="308"/>
                  </a:lnTo>
                  <a:lnTo>
                    <a:pt x="383" y="299"/>
                  </a:lnTo>
                  <a:lnTo>
                    <a:pt x="355" y="290"/>
                  </a:lnTo>
                  <a:lnTo>
                    <a:pt x="328" y="281"/>
                  </a:lnTo>
                  <a:lnTo>
                    <a:pt x="302" y="271"/>
                  </a:lnTo>
                  <a:lnTo>
                    <a:pt x="276" y="259"/>
                  </a:lnTo>
                  <a:lnTo>
                    <a:pt x="251" y="248"/>
                  </a:lnTo>
                  <a:lnTo>
                    <a:pt x="228" y="236"/>
                  </a:lnTo>
                  <a:lnTo>
                    <a:pt x="206" y="223"/>
                  </a:lnTo>
                  <a:lnTo>
                    <a:pt x="185" y="210"/>
                  </a:lnTo>
                  <a:lnTo>
                    <a:pt x="166" y="196"/>
                  </a:lnTo>
                  <a:lnTo>
                    <a:pt x="148" y="181"/>
                  </a:lnTo>
                  <a:lnTo>
                    <a:pt x="131" y="167"/>
                  </a:lnTo>
                  <a:lnTo>
                    <a:pt x="115" y="152"/>
                  </a:lnTo>
                  <a:lnTo>
                    <a:pt x="101" y="136"/>
                  </a:lnTo>
                  <a:lnTo>
                    <a:pt x="89" y="121"/>
                  </a:lnTo>
                  <a:lnTo>
                    <a:pt x="78" y="104"/>
                  </a:lnTo>
                  <a:lnTo>
                    <a:pt x="69" y="88"/>
                  </a:lnTo>
                  <a:lnTo>
                    <a:pt x="61" y="71"/>
                  </a:lnTo>
                  <a:lnTo>
                    <a:pt x="54" y="53"/>
                  </a:lnTo>
                  <a:lnTo>
                    <a:pt x="51" y="36"/>
                  </a:lnTo>
                  <a:lnTo>
                    <a:pt x="48" y="18"/>
                  </a:lnTo>
                  <a:lnTo>
                    <a:pt x="47" y="0"/>
                  </a:lnTo>
                  <a:lnTo>
                    <a:pt x="0" y="0"/>
                  </a:lnTo>
                  <a:lnTo>
                    <a:pt x="1" y="20"/>
                  </a:lnTo>
                  <a:lnTo>
                    <a:pt x="4" y="38"/>
                  </a:lnTo>
                  <a:lnTo>
                    <a:pt x="9" y="57"/>
                  </a:lnTo>
                  <a:lnTo>
                    <a:pt x="16" y="75"/>
                  </a:lnTo>
                  <a:lnTo>
                    <a:pt x="23" y="93"/>
                  </a:lnTo>
                  <a:lnTo>
                    <a:pt x="34" y="112"/>
                  </a:lnTo>
                  <a:lnTo>
                    <a:pt x="45" y="128"/>
                  </a:lnTo>
                  <a:lnTo>
                    <a:pt x="58" y="145"/>
                  </a:lnTo>
                  <a:lnTo>
                    <a:pt x="74" y="162"/>
                  </a:lnTo>
                  <a:lnTo>
                    <a:pt x="91" y="178"/>
                  </a:lnTo>
                  <a:lnTo>
                    <a:pt x="107" y="193"/>
                  </a:lnTo>
                  <a:lnTo>
                    <a:pt x="127" y="209"/>
                  </a:lnTo>
                  <a:lnTo>
                    <a:pt x="148" y="223"/>
                  </a:lnTo>
                  <a:lnTo>
                    <a:pt x="171" y="237"/>
                  </a:lnTo>
                  <a:lnTo>
                    <a:pt x="194" y="251"/>
                  </a:lnTo>
                  <a:lnTo>
                    <a:pt x="219" y="264"/>
                  </a:lnTo>
                  <a:lnTo>
                    <a:pt x="245" y="276"/>
                  </a:lnTo>
                  <a:lnTo>
                    <a:pt x="272" y="288"/>
                  </a:lnTo>
                  <a:lnTo>
                    <a:pt x="299" y="299"/>
                  </a:lnTo>
                  <a:lnTo>
                    <a:pt x="329" y="310"/>
                  </a:lnTo>
                  <a:lnTo>
                    <a:pt x="359" y="319"/>
                  </a:lnTo>
                  <a:lnTo>
                    <a:pt x="390" y="328"/>
                  </a:lnTo>
                  <a:lnTo>
                    <a:pt x="422" y="337"/>
                  </a:lnTo>
                  <a:lnTo>
                    <a:pt x="456" y="343"/>
                  </a:lnTo>
                  <a:lnTo>
                    <a:pt x="490" y="351"/>
                  </a:lnTo>
                  <a:lnTo>
                    <a:pt x="525" y="356"/>
                  </a:lnTo>
                  <a:lnTo>
                    <a:pt x="560" y="362"/>
                  </a:lnTo>
                  <a:lnTo>
                    <a:pt x="596" y="365"/>
                  </a:lnTo>
                  <a:lnTo>
                    <a:pt x="632" y="369"/>
                  </a:lnTo>
                  <a:lnTo>
                    <a:pt x="670" y="372"/>
                  </a:lnTo>
                  <a:lnTo>
                    <a:pt x="707" y="373"/>
                  </a:lnTo>
                  <a:lnTo>
                    <a:pt x="746" y="373"/>
                  </a:lnTo>
                  <a:lnTo>
                    <a:pt x="785" y="373"/>
                  </a:lnTo>
                  <a:lnTo>
                    <a:pt x="822" y="372"/>
                  </a:lnTo>
                  <a:lnTo>
                    <a:pt x="860" y="369"/>
                  </a:lnTo>
                  <a:lnTo>
                    <a:pt x="896" y="365"/>
                  </a:lnTo>
                  <a:lnTo>
                    <a:pt x="933" y="362"/>
                  </a:lnTo>
                  <a:lnTo>
                    <a:pt x="967" y="356"/>
                  </a:lnTo>
                  <a:lnTo>
                    <a:pt x="1002" y="351"/>
                  </a:lnTo>
                  <a:lnTo>
                    <a:pt x="1036" y="343"/>
                  </a:lnTo>
                  <a:lnTo>
                    <a:pt x="1070" y="337"/>
                  </a:lnTo>
                  <a:lnTo>
                    <a:pt x="1102" y="328"/>
                  </a:lnTo>
                  <a:lnTo>
                    <a:pt x="1133" y="319"/>
                  </a:lnTo>
                  <a:lnTo>
                    <a:pt x="1163" y="310"/>
                  </a:lnTo>
                  <a:lnTo>
                    <a:pt x="1193" y="299"/>
                  </a:lnTo>
                  <a:lnTo>
                    <a:pt x="1220" y="288"/>
                  </a:lnTo>
                  <a:lnTo>
                    <a:pt x="1247" y="276"/>
                  </a:lnTo>
                  <a:lnTo>
                    <a:pt x="1273" y="264"/>
                  </a:lnTo>
                  <a:lnTo>
                    <a:pt x="1298" y="251"/>
                  </a:lnTo>
                  <a:lnTo>
                    <a:pt x="1321" y="237"/>
                  </a:lnTo>
                  <a:lnTo>
                    <a:pt x="1344" y="223"/>
                  </a:lnTo>
                  <a:lnTo>
                    <a:pt x="1365" y="209"/>
                  </a:lnTo>
                  <a:lnTo>
                    <a:pt x="1385" y="193"/>
                  </a:lnTo>
                  <a:lnTo>
                    <a:pt x="1401" y="178"/>
                  </a:lnTo>
                  <a:lnTo>
                    <a:pt x="1418" y="162"/>
                  </a:lnTo>
                  <a:lnTo>
                    <a:pt x="1434" y="145"/>
                  </a:lnTo>
                  <a:lnTo>
                    <a:pt x="1447" y="128"/>
                  </a:lnTo>
                  <a:lnTo>
                    <a:pt x="1458" y="112"/>
                  </a:lnTo>
                  <a:lnTo>
                    <a:pt x="1469" y="93"/>
                  </a:lnTo>
                  <a:lnTo>
                    <a:pt x="1476" y="75"/>
                  </a:lnTo>
                  <a:lnTo>
                    <a:pt x="1483" y="57"/>
                  </a:lnTo>
                  <a:lnTo>
                    <a:pt x="1488" y="38"/>
                  </a:lnTo>
                  <a:lnTo>
                    <a:pt x="1491" y="20"/>
                  </a:lnTo>
                  <a:lnTo>
                    <a:pt x="1492" y="0"/>
                  </a:lnTo>
                  <a:lnTo>
                    <a:pt x="1445" y="0"/>
                  </a:lnTo>
                  <a:lnTo>
                    <a:pt x="1444" y="18"/>
                  </a:lnTo>
                  <a:lnTo>
                    <a:pt x="1441" y="36"/>
                  </a:lnTo>
                  <a:lnTo>
                    <a:pt x="1438" y="53"/>
                  </a:lnTo>
                  <a:lnTo>
                    <a:pt x="1431" y="71"/>
                  </a:lnTo>
                  <a:lnTo>
                    <a:pt x="1423" y="88"/>
                  </a:lnTo>
                  <a:lnTo>
                    <a:pt x="1414" y="104"/>
                  </a:lnTo>
                  <a:lnTo>
                    <a:pt x="1403" y="121"/>
                  </a:lnTo>
                  <a:lnTo>
                    <a:pt x="1391" y="136"/>
                  </a:lnTo>
                  <a:lnTo>
                    <a:pt x="1377" y="152"/>
                  </a:lnTo>
                  <a:lnTo>
                    <a:pt x="1361" y="167"/>
                  </a:lnTo>
                  <a:lnTo>
                    <a:pt x="1344" y="181"/>
                  </a:lnTo>
                  <a:lnTo>
                    <a:pt x="1326" y="196"/>
                  </a:lnTo>
                  <a:lnTo>
                    <a:pt x="1307" y="210"/>
                  </a:lnTo>
                  <a:lnTo>
                    <a:pt x="1286" y="223"/>
                  </a:lnTo>
                  <a:lnTo>
                    <a:pt x="1264" y="236"/>
                  </a:lnTo>
                  <a:lnTo>
                    <a:pt x="1241" y="248"/>
                  </a:lnTo>
                  <a:lnTo>
                    <a:pt x="1216" y="259"/>
                  </a:lnTo>
                  <a:lnTo>
                    <a:pt x="1190" y="271"/>
                  </a:lnTo>
                  <a:lnTo>
                    <a:pt x="1164" y="281"/>
                  </a:lnTo>
                  <a:lnTo>
                    <a:pt x="1137" y="290"/>
                  </a:lnTo>
                  <a:lnTo>
                    <a:pt x="1109" y="299"/>
                  </a:lnTo>
                  <a:lnTo>
                    <a:pt x="1079" y="308"/>
                  </a:lnTo>
                  <a:lnTo>
                    <a:pt x="1049" y="316"/>
                  </a:lnTo>
                  <a:lnTo>
                    <a:pt x="1018" y="323"/>
                  </a:lnTo>
                  <a:lnTo>
                    <a:pt x="987" y="329"/>
                  </a:lnTo>
                  <a:lnTo>
                    <a:pt x="955" y="334"/>
                  </a:lnTo>
                  <a:lnTo>
                    <a:pt x="921" y="340"/>
                  </a:lnTo>
                  <a:lnTo>
                    <a:pt x="887" y="343"/>
                  </a:lnTo>
                  <a:lnTo>
                    <a:pt x="852" y="346"/>
                  </a:lnTo>
                  <a:lnTo>
                    <a:pt x="817" y="349"/>
                  </a:lnTo>
                  <a:lnTo>
                    <a:pt x="782" y="350"/>
                  </a:lnTo>
                  <a:lnTo>
                    <a:pt x="746" y="350"/>
                  </a:lnTo>
                  <a:close/>
                </a:path>
              </a:pathLst>
            </a:custGeom>
            <a:solidFill>
              <a:srgbClr val="EAEAEA"/>
            </a:solidFill>
            <a:ln w="12700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90"/>
            <p:cNvSpPr/>
            <p:nvPr/>
          </p:nvSpPr>
          <p:spPr bwMode="auto">
            <a:xfrm>
              <a:off x="1093" y="1806"/>
              <a:ext cx="1482" cy="1632"/>
            </a:xfrm>
            <a:custGeom>
              <a:avLst/>
              <a:gdLst>
                <a:gd name="T0" fmla="*/ 1481 w 1482"/>
                <a:gd name="T1" fmla="*/ 0 h 1632"/>
                <a:gd name="T2" fmla="*/ 1469 w 1482"/>
                <a:gd name="T3" fmla="*/ 35 h 1632"/>
                <a:gd name="T4" fmla="*/ 1452 w 1482"/>
                <a:gd name="T5" fmla="*/ 67 h 1632"/>
                <a:gd name="T6" fmla="*/ 1429 w 1482"/>
                <a:gd name="T7" fmla="*/ 98 h 1632"/>
                <a:gd name="T8" fmla="*/ 1399 w 1482"/>
                <a:gd name="T9" fmla="*/ 129 h 1632"/>
                <a:gd name="T10" fmla="*/ 1365 w 1482"/>
                <a:gd name="T11" fmla="*/ 158 h 1632"/>
                <a:gd name="T12" fmla="*/ 1326 w 1482"/>
                <a:gd name="T13" fmla="*/ 184 h 1632"/>
                <a:gd name="T14" fmla="*/ 1284 w 1482"/>
                <a:gd name="T15" fmla="*/ 210 h 1632"/>
                <a:gd name="T16" fmla="*/ 1236 w 1482"/>
                <a:gd name="T17" fmla="*/ 232 h 1632"/>
                <a:gd name="T18" fmla="*/ 1185 w 1482"/>
                <a:gd name="T19" fmla="*/ 252 h 1632"/>
                <a:gd name="T20" fmla="*/ 1130 w 1482"/>
                <a:gd name="T21" fmla="*/ 272 h 1632"/>
                <a:gd name="T22" fmla="*/ 1071 w 1482"/>
                <a:gd name="T23" fmla="*/ 287 h 1632"/>
                <a:gd name="T24" fmla="*/ 1010 w 1482"/>
                <a:gd name="T25" fmla="*/ 302 h 1632"/>
                <a:gd name="T26" fmla="*/ 947 w 1482"/>
                <a:gd name="T27" fmla="*/ 312 h 1632"/>
                <a:gd name="T28" fmla="*/ 880 w 1482"/>
                <a:gd name="T29" fmla="*/ 320 h 1632"/>
                <a:gd name="T30" fmla="*/ 811 w 1482"/>
                <a:gd name="T31" fmla="*/ 325 h 1632"/>
                <a:gd name="T32" fmla="*/ 741 w 1482"/>
                <a:gd name="T33" fmla="*/ 326 h 1632"/>
                <a:gd name="T34" fmla="*/ 706 w 1482"/>
                <a:gd name="T35" fmla="*/ 326 h 1632"/>
                <a:gd name="T36" fmla="*/ 636 w 1482"/>
                <a:gd name="T37" fmla="*/ 322 h 1632"/>
                <a:gd name="T38" fmla="*/ 569 w 1482"/>
                <a:gd name="T39" fmla="*/ 316 h 1632"/>
                <a:gd name="T40" fmla="*/ 503 w 1482"/>
                <a:gd name="T41" fmla="*/ 307 h 1632"/>
                <a:gd name="T42" fmla="*/ 441 w 1482"/>
                <a:gd name="T43" fmla="*/ 295 h 1632"/>
                <a:gd name="T44" fmla="*/ 381 w 1482"/>
                <a:gd name="T45" fmla="*/ 280 h 1632"/>
                <a:gd name="T46" fmla="*/ 324 w 1482"/>
                <a:gd name="T47" fmla="*/ 263 h 1632"/>
                <a:gd name="T48" fmla="*/ 271 w 1482"/>
                <a:gd name="T49" fmla="*/ 243 h 1632"/>
                <a:gd name="T50" fmla="*/ 222 w 1482"/>
                <a:gd name="T51" fmla="*/ 221 h 1632"/>
                <a:gd name="T52" fmla="*/ 176 w 1482"/>
                <a:gd name="T53" fmla="*/ 197 h 1632"/>
                <a:gd name="T54" fmla="*/ 135 w 1482"/>
                <a:gd name="T55" fmla="*/ 171 h 1632"/>
                <a:gd name="T56" fmla="*/ 99 w 1482"/>
                <a:gd name="T57" fmla="*/ 144 h 1632"/>
                <a:gd name="T58" fmla="*/ 68 w 1482"/>
                <a:gd name="T59" fmla="*/ 114 h 1632"/>
                <a:gd name="T60" fmla="*/ 42 w 1482"/>
                <a:gd name="T61" fmla="*/ 83 h 1632"/>
                <a:gd name="T62" fmla="*/ 21 w 1482"/>
                <a:gd name="T63" fmla="*/ 50 h 1632"/>
                <a:gd name="T64" fmla="*/ 5 w 1482"/>
                <a:gd name="T65" fmla="*/ 18 h 1632"/>
                <a:gd name="T66" fmla="*/ 1 w 1482"/>
                <a:gd name="T67" fmla="*/ 0 h 1632"/>
                <a:gd name="T68" fmla="*/ 0 w 1482"/>
                <a:gd name="T69" fmla="*/ 0 h 1632"/>
                <a:gd name="T70" fmla="*/ 371 w 1482"/>
                <a:gd name="T71" fmla="*/ 1469 h 1632"/>
                <a:gd name="T72" fmla="*/ 377 w 1482"/>
                <a:gd name="T73" fmla="*/ 1486 h 1632"/>
                <a:gd name="T74" fmla="*/ 398 w 1482"/>
                <a:gd name="T75" fmla="*/ 1518 h 1632"/>
                <a:gd name="T76" fmla="*/ 429 w 1482"/>
                <a:gd name="T77" fmla="*/ 1548 h 1632"/>
                <a:gd name="T78" fmla="*/ 469 w 1482"/>
                <a:gd name="T79" fmla="*/ 1574 h 1632"/>
                <a:gd name="T80" fmla="*/ 520 w 1482"/>
                <a:gd name="T81" fmla="*/ 1596 h 1632"/>
                <a:gd name="T82" fmla="*/ 575 w 1482"/>
                <a:gd name="T83" fmla="*/ 1613 h 1632"/>
                <a:gd name="T84" fmla="*/ 639 w 1482"/>
                <a:gd name="T85" fmla="*/ 1624 h 1632"/>
                <a:gd name="T86" fmla="*/ 706 w 1482"/>
                <a:gd name="T87" fmla="*/ 1631 h 1632"/>
                <a:gd name="T88" fmla="*/ 741 w 1482"/>
                <a:gd name="T89" fmla="*/ 1632 h 1632"/>
                <a:gd name="T90" fmla="*/ 811 w 1482"/>
                <a:gd name="T91" fmla="*/ 1628 h 1632"/>
                <a:gd name="T92" fmla="*/ 876 w 1482"/>
                <a:gd name="T93" fmla="*/ 1619 h 1632"/>
                <a:gd name="T94" fmla="*/ 935 w 1482"/>
                <a:gd name="T95" fmla="*/ 1605 h 1632"/>
                <a:gd name="T96" fmla="*/ 988 w 1482"/>
                <a:gd name="T97" fmla="*/ 1585 h 1632"/>
                <a:gd name="T98" fmla="*/ 1034 w 1482"/>
                <a:gd name="T99" fmla="*/ 1561 h 1632"/>
                <a:gd name="T100" fmla="*/ 1070 w 1482"/>
                <a:gd name="T101" fmla="*/ 1534 h 1632"/>
                <a:gd name="T102" fmla="*/ 1096 w 1482"/>
                <a:gd name="T103" fmla="*/ 1502 h 1632"/>
                <a:gd name="T104" fmla="*/ 1111 w 1482"/>
                <a:gd name="T105" fmla="*/ 1469 h 1632"/>
                <a:gd name="T106" fmla="*/ 1482 w 1482"/>
                <a:gd name="T107" fmla="*/ 0 h 1632"/>
                <a:gd name="T108" fmla="*/ 1481 w 1482"/>
                <a:gd name="T109" fmla="*/ 0 h 1632"/>
                <a:gd name="T110" fmla="*/ 1481 w 1482"/>
                <a:gd name="T111" fmla="*/ 0 h 163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482"/>
                <a:gd name="T169" fmla="*/ 0 h 1632"/>
                <a:gd name="T170" fmla="*/ 1482 w 1482"/>
                <a:gd name="T171" fmla="*/ 1632 h 163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482" h="1632">
                  <a:moveTo>
                    <a:pt x="1481" y="0"/>
                  </a:moveTo>
                  <a:lnTo>
                    <a:pt x="1481" y="0"/>
                  </a:lnTo>
                  <a:lnTo>
                    <a:pt x="1477" y="18"/>
                  </a:lnTo>
                  <a:lnTo>
                    <a:pt x="1469" y="35"/>
                  </a:lnTo>
                  <a:lnTo>
                    <a:pt x="1461" y="50"/>
                  </a:lnTo>
                  <a:lnTo>
                    <a:pt x="1452" y="67"/>
                  </a:lnTo>
                  <a:lnTo>
                    <a:pt x="1440" y="83"/>
                  </a:lnTo>
                  <a:lnTo>
                    <a:pt x="1429" y="98"/>
                  </a:lnTo>
                  <a:lnTo>
                    <a:pt x="1414" y="114"/>
                  </a:lnTo>
                  <a:lnTo>
                    <a:pt x="1399" y="129"/>
                  </a:lnTo>
                  <a:lnTo>
                    <a:pt x="1383" y="144"/>
                  </a:lnTo>
                  <a:lnTo>
                    <a:pt x="1365" y="158"/>
                  </a:lnTo>
                  <a:lnTo>
                    <a:pt x="1347" y="171"/>
                  </a:lnTo>
                  <a:lnTo>
                    <a:pt x="1326" y="184"/>
                  </a:lnTo>
                  <a:lnTo>
                    <a:pt x="1306" y="197"/>
                  </a:lnTo>
                  <a:lnTo>
                    <a:pt x="1284" y="210"/>
                  </a:lnTo>
                  <a:lnTo>
                    <a:pt x="1260" y="221"/>
                  </a:lnTo>
                  <a:lnTo>
                    <a:pt x="1236" y="232"/>
                  </a:lnTo>
                  <a:lnTo>
                    <a:pt x="1211" y="243"/>
                  </a:lnTo>
                  <a:lnTo>
                    <a:pt x="1185" y="252"/>
                  </a:lnTo>
                  <a:lnTo>
                    <a:pt x="1158" y="263"/>
                  </a:lnTo>
                  <a:lnTo>
                    <a:pt x="1130" y="272"/>
                  </a:lnTo>
                  <a:lnTo>
                    <a:pt x="1101" y="280"/>
                  </a:lnTo>
                  <a:lnTo>
                    <a:pt x="1071" y="287"/>
                  </a:lnTo>
                  <a:lnTo>
                    <a:pt x="1041" y="295"/>
                  </a:lnTo>
                  <a:lnTo>
                    <a:pt x="1010" y="302"/>
                  </a:lnTo>
                  <a:lnTo>
                    <a:pt x="979" y="307"/>
                  </a:lnTo>
                  <a:lnTo>
                    <a:pt x="947" y="312"/>
                  </a:lnTo>
                  <a:lnTo>
                    <a:pt x="913" y="316"/>
                  </a:lnTo>
                  <a:lnTo>
                    <a:pt x="880" y="320"/>
                  </a:lnTo>
                  <a:lnTo>
                    <a:pt x="846" y="322"/>
                  </a:lnTo>
                  <a:lnTo>
                    <a:pt x="811" y="325"/>
                  </a:lnTo>
                  <a:lnTo>
                    <a:pt x="776" y="326"/>
                  </a:lnTo>
                  <a:lnTo>
                    <a:pt x="741" y="326"/>
                  </a:lnTo>
                  <a:lnTo>
                    <a:pt x="706" y="326"/>
                  </a:lnTo>
                  <a:lnTo>
                    <a:pt x="671" y="325"/>
                  </a:lnTo>
                  <a:lnTo>
                    <a:pt x="636" y="322"/>
                  </a:lnTo>
                  <a:lnTo>
                    <a:pt x="602" y="320"/>
                  </a:lnTo>
                  <a:lnTo>
                    <a:pt x="569" y="316"/>
                  </a:lnTo>
                  <a:lnTo>
                    <a:pt x="535" y="312"/>
                  </a:lnTo>
                  <a:lnTo>
                    <a:pt x="503" y="307"/>
                  </a:lnTo>
                  <a:lnTo>
                    <a:pt x="472" y="302"/>
                  </a:lnTo>
                  <a:lnTo>
                    <a:pt x="441" y="295"/>
                  </a:lnTo>
                  <a:lnTo>
                    <a:pt x="411" y="287"/>
                  </a:lnTo>
                  <a:lnTo>
                    <a:pt x="381" y="280"/>
                  </a:lnTo>
                  <a:lnTo>
                    <a:pt x="352" y="272"/>
                  </a:lnTo>
                  <a:lnTo>
                    <a:pt x="324" y="263"/>
                  </a:lnTo>
                  <a:lnTo>
                    <a:pt x="297" y="252"/>
                  </a:lnTo>
                  <a:lnTo>
                    <a:pt x="271" y="243"/>
                  </a:lnTo>
                  <a:lnTo>
                    <a:pt x="246" y="232"/>
                  </a:lnTo>
                  <a:lnTo>
                    <a:pt x="222" y="221"/>
                  </a:lnTo>
                  <a:lnTo>
                    <a:pt x="198" y="210"/>
                  </a:lnTo>
                  <a:lnTo>
                    <a:pt x="176" y="197"/>
                  </a:lnTo>
                  <a:lnTo>
                    <a:pt x="156" y="184"/>
                  </a:lnTo>
                  <a:lnTo>
                    <a:pt x="135" y="171"/>
                  </a:lnTo>
                  <a:lnTo>
                    <a:pt x="117" y="158"/>
                  </a:lnTo>
                  <a:lnTo>
                    <a:pt x="99" y="144"/>
                  </a:lnTo>
                  <a:lnTo>
                    <a:pt x="83" y="129"/>
                  </a:lnTo>
                  <a:lnTo>
                    <a:pt x="68" y="114"/>
                  </a:lnTo>
                  <a:lnTo>
                    <a:pt x="53" y="98"/>
                  </a:lnTo>
                  <a:lnTo>
                    <a:pt x="42" y="83"/>
                  </a:lnTo>
                  <a:lnTo>
                    <a:pt x="30" y="67"/>
                  </a:lnTo>
                  <a:lnTo>
                    <a:pt x="21" y="50"/>
                  </a:lnTo>
                  <a:lnTo>
                    <a:pt x="13" y="35"/>
                  </a:lnTo>
                  <a:lnTo>
                    <a:pt x="5" y="18"/>
                  </a:lnTo>
                  <a:lnTo>
                    <a:pt x="1" y="0"/>
                  </a:lnTo>
                  <a:lnTo>
                    <a:pt x="0" y="0"/>
                  </a:lnTo>
                  <a:lnTo>
                    <a:pt x="371" y="1469"/>
                  </a:lnTo>
                  <a:lnTo>
                    <a:pt x="377" y="1486"/>
                  </a:lnTo>
                  <a:lnTo>
                    <a:pt x="386" y="1502"/>
                  </a:lnTo>
                  <a:lnTo>
                    <a:pt x="398" y="1518"/>
                  </a:lnTo>
                  <a:lnTo>
                    <a:pt x="412" y="1534"/>
                  </a:lnTo>
                  <a:lnTo>
                    <a:pt x="429" y="1548"/>
                  </a:lnTo>
                  <a:lnTo>
                    <a:pt x="448" y="1561"/>
                  </a:lnTo>
                  <a:lnTo>
                    <a:pt x="469" y="1574"/>
                  </a:lnTo>
                  <a:lnTo>
                    <a:pt x="494" y="1585"/>
                  </a:lnTo>
                  <a:lnTo>
                    <a:pt x="520" y="1596"/>
                  </a:lnTo>
                  <a:lnTo>
                    <a:pt x="547" y="1605"/>
                  </a:lnTo>
                  <a:lnTo>
                    <a:pt x="575" y="1613"/>
                  </a:lnTo>
                  <a:lnTo>
                    <a:pt x="606" y="1619"/>
                  </a:lnTo>
                  <a:lnTo>
                    <a:pt x="639" y="1624"/>
                  </a:lnTo>
                  <a:lnTo>
                    <a:pt x="671" y="1628"/>
                  </a:lnTo>
                  <a:lnTo>
                    <a:pt x="706" y="1631"/>
                  </a:lnTo>
                  <a:lnTo>
                    <a:pt x="741" y="1632"/>
                  </a:lnTo>
                  <a:lnTo>
                    <a:pt x="776" y="1631"/>
                  </a:lnTo>
                  <a:lnTo>
                    <a:pt x="811" y="1628"/>
                  </a:lnTo>
                  <a:lnTo>
                    <a:pt x="843" y="1624"/>
                  </a:lnTo>
                  <a:lnTo>
                    <a:pt x="876" y="1619"/>
                  </a:lnTo>
                  <a:lnTo>
                    <a:pt x="907" y="1613"/>
                  </a:lnTo>
                  <a:lnTo>
                    <a:pt x="935" y="1605"/>
                  </a:lnTo>
                  <a:lnTo>
                    <a:pt x="962" y="1596"/>
                  </a:lnTo>
                  <a:lnTo>
                    <a:pt x="988" y="1585"/>
                  </a:lnTo>
                  <a:lnTo>
                    <a:pt x="1013" y="1574"/>
                  </a:lnTo>
                  <a:lnTo>
                    <a:pt x="1034" y="1561"/>
                  </a:lnTo>
                  <a:lnTo>
                    <a:pt x="1053" y="1548"/>
                  </a:lnTo>
                  <a:lnTo>
                    <a:pt x="1070" y="1534"/>
                  </a:lnTo>
                  <a:lnTo>
                    <a:pt x="1084" y="1518"/>
                  </a:lnTo>
                  <a:lnTo>
                    <a:pt x="1096" y="1502"/>
                  </a:lnTo>
                  <a:lnTo>
                    <a:pt x="1105" y="1486"/>
                  </a:lnTo>
                  <a:lnTo>
                    <a:pt x="1111" y="1469"/>
                  </a:lnTo>
                  <a:lnTo>
                    <a:pt x="1482" y="0"/>
                  </a:lnTo>
                  <a:lnTo>
                    <a:pt x="1481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50000">
                  <a:srgbClr val="FFFFFF"/>
                </a:gs>
                <a:gs pos="100000">
                  <a:srgbClr val="969696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 rot="19800000">
            <a:off x="8247192" y="2021341"/>
            <a:ext cx="938212" cy="954087"/>
          </a:xfrm>
          <a:custGeom>
            <a:avLst/>
            <a:gdLst>
              <a:gd name="T0" fmla="*/ 23085227 w 21600"/>
              <a:gd name="T1" fmla="*/ 239789 h 21600"/>
              <a:gd name="T2" fmla="*/ 10438912 w 21600"/>
              <a:gd name="T3" fmla="*/ 11227100 h 21600"/>
              <a:gd name="T4" fmla="*/ 21787194 w 21600"/>
              <a:gd name="T5" fmla="*/ 13040410 h 21600"/>
              <a:gd name="T6" fmla="*/ 41280199 w 21600"/>
              <a:gd name="T7" fmla="*/ 7712878 h 21600"/>
              <a:gd name="T8" fmla="*/ 38791678 w 21600"/>
              <a:gd name="T9" fmla="*/ 26088316 h 21600"/>
              <a:gd name="T10" fmla="*/ 24911483 w 21600"/>
              <a:gd name="T11" fmla="*/ 2279389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0" y="7584"/>
                </a:moveTo>
                <a:cubicBezTo>
                  <a:pt x="14367" y="6072"/>
                  <a:pt x="12642" y="5171"/>
                  <a:pt x="10800" y="5171"/>
                </a:cubicBezTo>
                <a:cubicBezTo>
                  <a:pt x="9480" y="5170"/>
                  <a:pt x="8203" y="5634"/>
                  <a:pt x="7191" y="6479"/>
                </a:cubicBezTo>
                <a:lnTo>
                  <a:pt x="3876" y="2511"/>
                </a:lnTo>
                <a:cubicBezTo>
                  <a:pt x="5818" y="888"/>
                  <a:pt x="8269" y="-1"/>
                  <a:pt x="10800" y="0"/>
                </a:cubicBezTo>
                <a:cubicBezTo>
                  <a:pt x="14334" y="0"/>
                  <a:pt x="17645" y="1729"/>
                  <a:pt x="19664" y="4630"/>
                </a:cubicBezTo>
                <a:lnTo>
                  <a:pt x="21880" y="3088"/>
                </a:lnTo>
                <a:lnTo>
                  <a:pt x="20561" y="10445"/>
                </a:lnTo>
                <a:lnTo>
                  <a:pt x="13204" y="9126"/>
                </a:lnTo>
                <a:lnTo>
                  <a:pt x="15420" y="7584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9525" algn="ctr">
            <a:noFill/>
            <a:miter lim="800000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93"/>
          <p:cNvSpPr txBox="1">
            <a:spLocks noChangeArrowheads="1"/>
          </p:cNvSpPr>
          <p:nvPr/>
        </p:nvSpPr>
        <p:spPr bwMode="auto">
          <a:xfrm>
            <a:off x="8872667" y="3912053"/>
            <a:ext cx="393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夹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下箭头 69"/>
          <p:cNvSpPr>
            <a:spLocks noChangeArrowheads="1"/>
          </p:cNvSpPr>
          <p:nvPr/>
        </p:nvSpPr>
        <p:spPr bwMode="auto">
          <a:xfrm>
            <a:off x="3914016" y="2870506"/>
            <a:ext cx="439737" cy="3016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369B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019175" y="2364986"/>
            <a:ext cx="2468562" cy="582613"/>
            <a:chOff x="783123" y="2078992"/>
            <a:chExt cx="2468077" cy="583245"/>
          </a:xfrm>
        </p:grpSpPr>
        <p:sp>
          <p:nvSpPr>
            <p:cNvPr id="6" name="矩形 5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1019175" y="4079486"/>
            <a:ext cx="2468562" cy="582613"/>
            <a:chOff x="783123" y="2078992"/>
            <a:chExt cx="2468077" cy="583245"/>
          </a:xfrm>
        </p:grpSpPr>
        <p:sp>
          <p:nvSpPr>
            <p:cNvPr id="9" name="矩形 8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绝对路径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4460033" y="2174487"/>
            <a:ext cx="6876658" cy="1489075"/>
            <a:chOff x="4083843" y="2409195"/>
            <a:chExt cx="4484219" cy="1489709"/>
          </a:xfrm>
        </p:grpSpPr>
        <p:sp>
          <p:nvSpPr>
            <p:cNvPr id="12" name="圆角矩形标注 11"/>
            <p:cNvSpPr/>
            <p:nvPr/>
          </p:nvSpPr>
          <p:spPr bwMode="auto">
            <a:xfrm rot="5400000">
              <a:off x="5581098" y="911940"/>
              <a:ext cx="1489709" cy="4484219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52"/>
            <p:cNvSpPr>
              <a:spLocks noChangeArrowheads="1"/>
            </p:cNvSpPr>
            <p:nvPr/>
          </p:nvSpPr>
          <p:spPr bwMode="auto">
            <a:xfrm>
              <a:off x="4220126" y="2671080"/>
              <a:ext cx="4238074" cy="923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>
                <a:lnSpc>
                  <a:spcPct val="135000"/>
                </a:lnSpc>
              </a:pP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不带有盘符，通常是以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文件为起点，通过层级关系描述目标图像的位置。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 bwMode="auto">
          <a:xfrm>
            <a:off x="4460033" y="3917562"/>
            <a:ext cx="6876658" cy="1489075"/>
            <a:chOff x="4083843" y="2409195"/>
            <a:chExt cx="4484219" cy="1489709"/>
          </a:xfrm>
        </p:grpSpPr>
        <p:sp>
          <p:nvSpPr>
            <p:cNvPr id="15" name="圆角矩形标注 14"/>
            <p:cNvSpPr/>
            <p:nvPr/>
          </p:nvSpPr>
          <p:spPr bwMode="auto">
            <a:xfrm rot="5400000">
              <a:off x="5581098" y="911940"/>
              <a:ext cx="1489709" cy="4484219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56"/>
            <p:cNvSpPr>
              <a:spLocks noChangeArrowheads="1"/>
            </p:cNvSpPr>
            <p:nvPr/>
          </p:nvSpPr>
          <p:spPr bwMode="auto">
            <a:xfrm>
              <a:off x="4245526" y="2632979"/>
              <a:ext cx="4238074" cy="923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latinLnBrk="1">
                <a:lnSpc>
                  <a:spcPct val="135000"/>
                </a:lnSpc>
              </a:pP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一般是指带有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盘符的路径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，例如完整的网络地址 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u="sng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1" tooltip="http://www.itcast.cn/images/logo.gif"/>
                </a:rPr>
                <a:t>http://www.itcast.cn/images/logo.gif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相对路径和绝对路径</a:t>
            </a:r>
            <a:endParaRPr lang="zh-CN" altLang="en-US" sz="2000" dirty="0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737631" y="3232731"/>
            <a:ext cx="2468562" cy="582613"/>
            <a:chOff x="783123" y="2078992"/>
            <a:chExt cx="2468077" cy="583245"/>
          </a:xfrm>
        </p:grpSpPr>
        <p:sp>
          <p:nvSpPr>
            <p:cNvPr id="6" name="矩形 5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相对路径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1739218" y="3842331"/>
            <a:ext cx="2468563" cy="582613"/>
            <a:chOff x="810248" y="3425192"/>
            <a:chExt cx="2468077" cy="583245"/>
          </a:xfrm>
        </p:grpSpPr>
        <p:sp>
          <p:nvSpPr>
            <p:cNvPr id="9" name="矩形 8"/>
            <p:cNvSpPr/>
            <p:nvPr/>
          </p:nvSpPr>
          <p:spPr bwMode="auto">
            <a:xfrm>
              <a:off x="810248" y="3425192"/>
              <a:ext cx="2468077" cy="583245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矩形 1"/>
            <p:cNvSpPr>
              <a:spLocks noChangeArrowheads="1"/>
            </p:cNvSpPr>
            <p:nvPr/>
          </p:nvSpPr>
          <p:spPr bwMode="auto">
            <a:xfrm>
              <a:off x="1237247" y="3461266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设置分类</a:t>
              </a:r>
              <a:endPara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左大括号 10"/>
          <p:cNvSpPr/>
          <p:nvPr/>
        </p:nvSpPr>
        <p:spPr bwMode="auto">
          <a:xfrm>
            <a:off x="4395528" y="2120383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4638417" y="1899721"/>
            <a:ext cx="5101516" cy="1104737"/>
            <a:chOff x="3652415" y="2180389"/>
            <a:chExt cx="5102777" cy="1103701"/>
          </a:xfrm>
        </p:grpSpPr>
        <p:sp>
          <p:nvSpPr>
            <p:cNvPr id="13" name="任意多边形 12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154729" cy="368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文件位于同一文件夹：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77"/>
            <p:cNvGrpSpPr/>
            <p:nvPr/>
          </p:nvGrpSpPr>
          <p:grpSpPr bwMode="auto">
            <a:xfrm>
              <a:off x="3660354" y="2578478"/>
              <a:ext cx="5094838" cy="705612"/>
              <a:chOff x="1130673" y="5197227"/>
              <a:chExt cx="5094838" cy="705612"/>
            </a:xfrm>
          </p:grpSpPr>
          <p:sp>
            <p:nvSpPr>
              <p:cNvPr id="16" name="任意多边形 15"/>
              <p:cNvSpPr/>
              <p:nvPr/>
            </p:nvSpPr>
            <p:spPr bwMode="auto">
              <a:xfrm>
                <a:off x="1130673" y="5197227"/>
                <a:ext cx="4803376" cy="705612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 47"/>
              <p:cNvSpPr>
                <a:spLocks noChangeArrowheads="1"/>
              </p:cNvSpPr>
              <p:nvPr/>
            </p:nvSpPr>
            <p:spPr bwMode="auto">
              <a:xfrm>
                <a:off x="1476290" y="5369109"/>
                <a:ext cx="4749221" cy="338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只需输入图像文件的名称即可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 bwMode="auto">
          <a:xfrm>
            <a:off x="4638417" y="3117758"/>
            <a:ext cx="4968012" cy="1205439"/>
            <a:chOff x="3652415" y="2180389"/>
            <a:chExt cx="4968647" cy="1204580"/>
          </a:xfrm>
        </p:grpSpPr>
        <p:sp>
          <p:nvSpPr>
            <p:cNvPr id="19" name="任意多边形 18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38509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图像文件位于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文件的下一级文件夹：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组合 82"/>
            <p:cNvGrpSpPr/>
            <p:nvPr/>
          </p:nvGrpSpPr>
          <p:grpSpPr bwMode="auto">
            <a:xfrm>
              <a:off x="3660353" y="2578567"/>
              <a:ext cx="4960709" cy="806402"/>
              <a:chOff x="1130672" y="5197316"/>
              <a:chExt cx="4960709" cy="806402"/>
            </a:xfrm>
          </p:grpSpPr>
          <p:sp>
            <p:nvSpPr>
              <p:cNvPr id="22" name="任意多边形 21"/>
              <p:cNvSpPr/>
              <p:nvPr/>
            </p:nvSpPr>
            <p:spPr bwMode="auto">
              <a:xfrm>
                <a:off x="1130672" y="5197316"/>
                <a:ext cx="4802802" cy="806402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矩形 47"/>
              <p:cNvSpPr>
                <a:spLocks noChangeArrowheads="1"/>
              </p:cNvSpPr>
              <p:nvPr/>
            </p:nvSpPr>
            <p:spPr bwMode="auto">
              <a:xfrm>
                <a:off x="1494933" y="5424881"/>
                <a:ext cx="4596448" cy="338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lvl="1" eaLnBrk="1" latinLnBrk="1"/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输入文件夹名和文件名，之间用“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”隔开。</a:t>
                </a:r>
                <a:endPara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 bwMode="auto">
          <a:xfrm>
            <a:off x="4638417" y="4404435"/>
            <a:ext cx="4810124" cy="1214571"/>
            <a:chOff x="3652415" y="2180389"/>
            <a:chExt cx="4811315" cy="1214342"/>
          </a:xfrm>
        </p:grpSpPr>
        <p:sp>
          <p:nvSpPr>
            <p:cNvPr id="25" name="任意多边形 2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4385619" cy="36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latinLnBrk="1"/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图像文件位于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文件的上一级文件夹：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88"/>
            <p:cNvGrpSpPr/>
            <p:nvPr/>
          </p:nvGrpSpPr>
          <p:grpSpPr bwMode="auto">
            <a:xfrm>
              <a:off x="3660354" y="2563891"/>
              <a:ext cx="4803376" cy="830840"/>
              <a:chOff x="1130673" y="5182640"/>
              <a:chExt cx="4803376" cy="830840"/>
            </a:xfrm>
          </p:grpSpPr>
          <p:sp>
            <p:nvSpPr>
              <p:cNvPr id="28" name="任意多边形 27"/>
              <p:cNvSpPr/>
              <p:nvPr/>
            </p:nvSpPr>
            <p:spPr bwMode="auto">
              <a:xfrm>
                <a:off x="1130673" y="5197526"/>
                <a:ext cx="4803376" cy="795317"/>
              </a:xfrm>
              <a:custGeom>
                <a:avLst/>
                <a:gdLst>
                  <a:gd name="connsiteX0" fmla="*/ 0 w 2536031"/>
                  <a:gd name="connsiteY0" fmla="*/ 0 h 1691532"/>
                  <a:gd name="connsiteX1" fmla="*/ 2536031 w 2536031"/>
                  <a:gd name="connsiteY1" fmla="*/ 0 h 1691532"/>
                  <a:gd name="connsiteX2" fmla="*/ 2536031 w 2536031"/>
                  <a:gd name="connsiteY2" fmla="*/ 1691532 h 1691532"/>
                  <a:gd name="connsiteX3" fmla="*/ 0 w 2536031"/>
                  <a:gd name="connsiteY3" fmla="*/ 1691532 h 1691532"/>
                  <a:gd name="connsiteX4" fmla="*/ 0 w 2536031"/>
                  <a:gd name="connsiteY4" fmla="*/ 0 h 169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6031" h="1691532">
                    <a:moveTo>
                      <a:pt x="0" y="0"/>
                    </a:moveTo>
                    <a:lnTo>
                      <a:pt x="2536031" y="0"/>
                    </a:lnTo>
                    <a:lnTo>
                      <a:pt x="2536031" y="1691532"/>
                    </a:lnTo>
                    <a:lnTo>
                      <a:pt x="0" y="1691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EBFD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05765" tIns="412496" rIns="412496" bIns="412496" spcCol="1270" anchor="ctr"/>
              <a:lstStyle/>
              <a:p>
                <a:pPr defTabSz="2578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5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 47"/>
              <p:cNvSpPr>
                <a:spLocks noChangeArrowheads="1"/>
              </p:cNvSpPr>
              <p:nvPr/>
            </p:nvSpPr>
            <p:spPr bwMode="auto">
              <a:xfrm>
                <a:off x="1501543" y="5182640"/>
                <a:ext cx="4295884" cy="830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lvl="2" eaLnBrk="1" latinLnBrk="1"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在文件名之前加入“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 ，如果是上两级，则需要使用 “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../ ../</a:t>
                </a:r>
                <a:r>
                  <a:rPr lang="zh-CN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”，以此类推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2-4】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页面建设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准备工作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1019175" y="1089057"/>
            <a:ext cx="1943101" cy="5791200"/>
            <a:chOff x="-508" y="1320144"/>
            <a:chExt cx="1944216" cy="4554353"/>
          </a:xfrm>
        </p:grpSpPr>
        <p:sp>
          <p:nvSpPr>
            <p:cNvPr id="13" name="矩形 12"/>
            <p:cNvSpPr/>
            <p:nvPr/>
          </p:nvSpPr>
          <p:spPr>
            <a:xfrm>
              <a:off x="-508" y="1320144"/>
              <a:ext cx="1944216" cy="4554353"/>
            </a:xfrm>
            <a:prstGeom prst="rect">
              <a:avLst/>
            </a:prstGeom>
            <a:gradFill>
              <a:gsLst>
                <a:gs pos="48000">
                  <a:srgbClr val="8FE2FF"/>
                </a:gs>
                <a:gs pos="100000">
                  <a:srgbClr val="D1F7F4">
                    <a:alpha val="0"/>
                  </a:srgbClr>
                </a:gs>
                <a:gs pos="0">
                  <a:srgbClr val="D1F7F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8"/>
            <p:cNvSpPr>
              <a:spLocks noChangeArrowheads="1"/>
            </p:cNvSpPr>
            <p:nvPr/>
          </p:nvSpPr>
          <p:spPr bwMode="auto">
            <a:xfrm>
              <a:off x="365996" y="1549283"/>
              <a:ext cx="615906" cy="284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网站项目</a:t>
              </a:r>
              <a:endPara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9"/>
            <p:cNvSpPr>
              <a:spLocks noChangeArrowheads="1"/>
            </p:cNvSpPr>
            <p:nvPr/>
          </p:nvSpPr>
          <p:spPr bwMode="auto">
            <a:xfrm>
              <a:off x="1065356" y="1498056"/>
              <a:ext cx="554316" cy="2943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“博客”页面制作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6929438" y="2313792"/>
            <a:ext cx="4226466" cy="2671763"/>
            <a:chOff x="4851400" y="1971912"/>
            <a:chExt cx="4226466" cy="2671826"/>
          </a:xfrm>
        </p:grpSpPr>
        <p:sp>
          <p:nvSpPr>
            <p:cNvPr id="18" name="椭圆形标注 17"/>
            <p:cNvSpPr/>
            <p:nvPr/>
          </p:nvSpPr>
          <p:spPr bwMode="auto">
            <a:xfrm>
              <a:off x="4851400" y="1971912"/>
              <a:ext cx="3987800" cy="2671826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4"/>
            <p:cNvSpPr>
              <a:spLocks noChangeArrowheads="1"/>
            </p:cNvSpPr>
            <p:nvPr/>
          </p:nvSpPr>
          <p:spPr bwMode="auto">
            <a:xfrm>
              <a:off x="5199881" y="2354574"/>
              <a:ext cx="3877985" cy="1754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该怎样制作一个</a:t>
              </a:r>
              <a:endPara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sz="3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博客</a:t>
              </a:r>
              <a:r>
                <a:rPr lang="en-US" altLang="zh-CN" sz="3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3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</a:t>
              </a:r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呢？</a:t>
              </a:r>
              <a:endParaRPr lang="zh-CN" altLang="en-US" sz="3600" dirty="0"/>
            </a:p>
          </p:txBody>
        </p:sp>
      </p:grpSp>
      <p:pic>
        <p:nvPicPr>
          <p:cNvPr id="3789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357" y="1089057"/>
            <a:ext cx="2465740" cy="5357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656164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“博客”页面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之前，小思需要做一些页面建设的准备工作，主要包括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网站素材整理、页面结构分析、页面布局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建立站点</a:t>
            </a:r>
            <a:endParaRPr lang="zh-CN" altLang="en-US" sz="2000" dirty="0"/>
          </a:p>
        </p:txBody>
      </p:sp>
      <p:grpSp>
        <p:nvGrpSpPr>
          <p:cNvPr id="20" name="Group 5"/>
          <p:cNvGrpSpPr/>
          <p:nvPr/>
        </p:nvGrpSpPr>
        <p:grpSpPr bwMode="auto">
          <a:xfrm>
            <a:off x="3629641" y="4527385"/>
            <a:ext cx="1851025" cy="1049338"/>
            <a:chOff x="0" y="0"/>
            <a:chExt cx="1850766" cy="1048162"/>
          </a:xfrm>
        </p:grpSpPr>
        <p:sp>
          <p:nvSpPr>
            <p:cNvPr id="21" name="椭圆 2"/>
            <p:cNvSpPr/>
            <p:nvPr/>
          </p:nvSpPr>
          <p:spPr bwMode="auto">
            <a:xfrm>
              <a:off x="0" y="124940"/>
              <a:ext cx="1850766" cy="923222"/>
            </a:xfrm>
            <a:custGeom>
              <a:avLst/>
              <a:gdLst>
                <a:gd name="T0" fmla="*/ 0 w 2768819"/>
                <a:gd name="T1" fmla="*/ 0 h 989699"/>
                <a:gd name="T2" fmla="*/ 648 w 2768819"/>
                <a:gd name="T3" fmla="*/ 40695 h 989699"/>
                <a:gd name="T4" fmla="*/ 1313 w 2768819"/>
                <a:gd name="T5" fmla="*/ 0 h 989699"/>
                <a:gd name="T6" fmla="*/ 656 w 2768819"/>
                <a:gd name="T7" fmla="*/ 264095 h 989699"/>
                <a:gd name="T8" fmla="*/ 0 w 2768819"/>
                <a:gd name="T9" fmla="*/ 0 h 989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8819" h="989699">
                  <a:moveTo>
                    <a:pt x="0" y="0"/>
                  </a:moveTo>
                  <a:cubicBezTo>
                    <a:pt x="380260" y="70629"/>
                    <a:pt x="883212" y="152500"/>
                    <a:pt x="1365445" y="152500"/>
                  </a:cubicBezTo>
                  <a:cubicBezTo>
                    <a:pt x="1847678" y="152500"/>
                    <a:pt x="2284258" y="91012"/>
                    <a:pt x="2768819" y="0"/>
                  </a:cubicBezTo>
                  <a:cubicBezTo>
                    <a:pt x="2572779" y="576015"/>
                    <a:pt x="2026905" y="989699"/>
                    <a:pt x="1384409" y="989699"/>
                  </a:cubicBezTo>
                  <a:cubicBezTo>
                    <a:pt x="741914" y="989699"/>
                    <a:pt x="196039" y="576015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椭圆 10"/>
            <p:cNvSpPr/>
            <p:nvPr/>
          </p:nvSpPr>
          <p:spPr bwMode="auto">
            <a:xfrm>
              <a:off x="47" y="0"/>
              <a:ext cx="1850544" cy="268518"/>
            </a:xfrm>
            <a:custGeom>
              <a:avLst/>
              <a:gdLst>
                <a:gd name="T0" fmla="*/ 0 w 1855751"/>
                <a:gd name="T1" fmla="*/ 4622 h 322835"/>
                <a:gd name="T2" fmla="*/ 847952 w 1855751"/>
                <a:gd name="T3" fmla="*/ 2 h 322835"/>
                <a:gd name="T4" fmla="*/ 1759278 w 1855751"/>
                <a:gd name="T5" fmla="*/ 4766 h 322835"/>
                <a:gd name="T6" fmla="*/ 845970 w 1855751"/>
                <a:gd name="T7" fmla="*/ 9721 h 322835"/>
                <a:gd name="T8" fmla="*/ 0 w 1855751"/>
                <a:gd name="T9" fmla="*/ 4622 h 322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5751" h="322835">
                  <a:moveTo>
                    <a:pt x="0" y="153077"/>
                  </a:moveTo>
                  <a:cubicBezTo>
                    <a:pt x="33893" y="35645"/>
                    <a:pt x="585162" y="-781"/>
                    <a:pt x="894454" y="13"/>
                  </a:cubicBezTo>
                  <a:cubicBezTo>
                    <a:pt x="1203746" y="807"/>
                    <a:pt x="1842019" y="48699"/>
                    <a:pt x="1855751" y="157839"/>
                  </a:cubicBezTo>
                  <a:cubicBezTo>
                    <a:pt x="1812889" y="213003"/>
                    <a:pt x="1365462" y="333923"/>
                    <a:pt x="892361" y="322016"/>
                  </a:cubicBezTo>
                  <a:cubicBezTo>
                    <a:pt x="409709" y="322016"/>
                    <a:pt x="75442" y="209390"/>
                    <a:pt x="0" y="153077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3" name="Group 8"/>
          <p:cNvGrpSpPr/>
          <p:nvPr/>
        </p:nvGrpSpPr>
        <p:grpSpPr bwMode="auto">
          <a:xfrm>
            <a:off x="3556616" y="3492335"/>
            <a:ext cx="1997075" cy="1006475"/>
            <a:chOff x="0" y="0"/>
            <a:chExt cx="1996450" cy="1006832"/>
          </a:xfrm>
        </p:grpSpPr>
        <p:sp>
          <p:nvSpPr>
            <p:cNvPr id="24" name="椭圆 11"/>
            <p:cNvSpPr/>
            <p:nvPr/>
          </p:nvSpPr>
          <p:spPr bwMode="auto">
            <a:xfrm>
              <a:off x="0" y="140782"/>
              <a:ext cx="1996450" cy="866050"/>
            </a:xfrm>
            <a:custGeom>
              <a:avLst/>
              <a:gdLst>
                <a:gd name="T0" fmla="*/ 27 w 2929388"/>
                <a:gd name="T1" fmla="*/ 0 h 928410"/>
                <a:gd name="T2" fmla="*/ 28 w 2929388"/>
                <a:gd name="T3" fmla="*/ 66 h 928410"/>
                <a:gd name="T4" fmla="*/ 1004 w 2929388"/>
                <a:gd name="T5" fmla="*/ 44019 h 928410"/>
                <a:gd name="T6" fmla="*/ 1876 w 2929388"/>
                <a:gd name="T7" fmla="*/ 8738 h 928410"/>
                <a:gd name="T8" fmla="*/ 1984 w 2929388"/>
                <a:gd name="T9" fmla="*/ 2767 h 928410"/>
                <a:gd name="T10" fmla="*/ 2009 w 2929388"/>
                <a:gd name="T11" fmla="*/ 87550 h 928410"/>
                <a:gd name="T12" fmla="*/ 1953 w 2929388"/>
                <a:gd name="T13" fmla="*/ 214299 h 928410"/>
                <a:gd name="T14" fmla="*/ 992 w 2929388"/>
                <a:gd name="T15" fmla="*/ 247742 h 928410"/>
                <a:gd name="T16" fmla="*/ 55 w 2929388"/>
                <a:gd name="T17" fmla="*/ 214299 h 928410"/>
                <a:gd name="T18" fmla="*/ 0 w 2929388"/>
                <a:gd name="T19" fmla="*/ 87550 h 928410"/>
                <a:gd name="T20" fmla="*/ 27 w 2929388"/>
                <a:gd name="T21" fmla="*/ 0 h 9284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29388" h="928410">
                  <a:moveTo>
                    <a:pt x="38236" y="0"/>
                  </a:moveTo>
                  <a:lnTo>
                    <a:pt x="40502" y="249"/>
                  </a:lnTo>
                  <a:cubicBezTo>
                    <a:pt x="465536" y="105687"/>
                    <a:pt x="950252" y="164962"/>
                    <a:pt x="1464694" y="164962"/>
                  </a:cubicBezTo>
                  <a:cubicBezTo>
                    <a:pt x="1918892" y="164962"/>
                    <a:pt x="2349918" y="118757"/>
                    <a:pt x="2736593" y="32746"/>
                  </a:cubicBezTo>
                  <a:cubicBezTo>
                    <a:pt x="2788729" y="28638"/>
                    <a:pt x="2840843" y="21068"/>
                    <a:pt x="2892996" y="10365"/>
                  </a:cubicBezTo>
                  <a:cubicBezTo>
                    <a:pt x="2917427" y="112386"/>
                    <a:pt x="2929388" y="218843"/>
                    <a:pt x="2929388" y="328092"/>
                  </a:cubicBezTo>
                  <a:cubicBezTo>
                    <a:pt x="2929388" y="494525"/>
                    <a:pt x="2901629" y="654473"/>
                    <a:pt x="2849103" y="803087"/>
                  </a:cubicBezTo>
                  <a:cubicBezTo>
                    <a:pt x="2411952" y="866921"/>
                    <a:pt x="1927963" y="928410"/>
                    <a:pt x="1445730" y="928410"/>
                  </a:cubicBezTo>
                  <a:cubicBezTo>
                    <a:pt x="963497" y="928410"/>
                    <a:pt x="517436" y="866921"/>
                    <a:pt x="80285" y="803087"/>
                  </a:cubicBezTo>
                  <a:cubicBezTo>
                    <a:pt x="27759" y="654473"/>
                    <a:pt x="0" y="494525"/>
                    <a:pt x="0" y="328092"/>
                  </a:cubicBezTo>
                  <a:cubicBezTo>
                    <a:pt x="0" y="215192"/>
                    <a:pt x="12774" y="105274"/>
                    <a:pt x="382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E7C06"/>
                </a:gs>
                <a:gs pos="17999">
                  <a:srgbClr val="0E7C06"/>
                </a:gs>
                <a:gs pos="67000">
                  <a:srgbClr val="8AD53F"/>
                </a:gs>
                <a:gs pos="100000">
                  <a:srgbClr val="BCEB6F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" name="椭圆 10"/>
            <p:cNvSpPr/>
            <p:nvPr/>
          </p:nvSpPr>
          <p:spPr bwMode="auto">
            <a:xfrm>
              <a:off x="29234" y="0"/>
              <a:ext cx="1938617" cy="295573"/>
            </a:xfrm>
            <a:custGeom>
              <a:avLst/>
              <a:gdLst>
                <a:gd name="T0" fmla="*/ 0 w 1776882"/>
                <a:gd name="T1" fmla="*/ 14283 h 335678"/>
                <a:gd name="T2" fmla="*/ 4575128 w 1776882"/>
                <a:gd name="T3" fmla="*/ 4 h 335678"/>
                <a:gd name="T4" fmla="*/ 9300230 w 1776882"/>
                <a:gd name="T5" fmla="*/ 14817 h 335678"/>
                <a:gd name="T6" fmla="*/ 4438234 w 1776882"/>
                <a:gd name="T7" fmla="*/ 29853 h 335678"/>
                <a:gd name="T8" fmla="*/ 0 w 1776882"/>
                <a:gd name="T9" fmla="*/ 14283 h 335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76882" h="335678">
                  <a:moveTo>
                    <a:pt x="0" y="160220"/>
                  </a:moveTo>
                  <a:cubicBezTo>
                    <a:pt x="4763" y="92001"/>
                    <a:pt x="577967" y="-992"/>
                    <a:pt x="874114" y="8"/>
                  </a:cubicBezTo>
                  <a:cubicBezTo>
                    <a:pt x="1170261" y="1008"/>
                    <a:pt x="1734020" y="72954"/>
                    <a:pt x="1776882" y="166219"/>
                  </a:cubicBezTo>
                  <a:cubicBezTo>
                    <a:pt x="1734020" y="221383"/>
                    <a:pt x="1321060" y="346793"/>
                    <a:pt x="847959" y="334886"/>
                  </a:cubicBezTo>
                  <a:cubicBezTo>
                    <a:pt x="365307" y="334886"/>
                    <a:pt x="35718" y="216533"/>
                    <a:pt x="0" y="160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0E7C06"/>
                </a:gs>
                <a:gs pos="17999">
                  <a:srgbClr val="0E7C06"/>
                </a:gs>
                <a:gs pos="67000">
                  <a:srgbClr val="8AD53F"/>
                </a:gs>
                <a:gs pos="100000">
                  <a:srgbClr val="BCEB6F"/>
                </a:gs>
              </a:gsLst>
              <a:lin ang="48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6" name="Group 11"/>
          <p:cNvGrpSpPr/>
          <p:nvPr/>
        </p:nvGrpSpPr>
        <p:grpSpPr bwMode="auto">
          <a:xfrm>
            <a:off x="3599478" y="2611273"/>
            <a:ext cx="1906588" cy="868362"/>
            <a:chOff x="0" y="0"/>
            <a:chExt cx="1906927" cy="868230"/>
          </a:xfrm>
        </p:grpSpPr>
        <p:sp>
          <p:nvSpPr>
            <p:cNvPr id="27" name="椭圆 6"/>
            <p:cNvSpPr/>
            <p:nvPr/>
          </p:nvSpPr>
          <p:spPr bwMode="auto">
            <a:xfrm>
              <a:off x="0" y="110698"/>
              <a:ext cx="1906927" cy="757532"/>
            </a:xfrm>
            <a:custGeom>
              <a:avLst/>
              <a:gdLst>
                <a:gd name="T0" fmla="*/ 158 w 2852836"/>
                <a:gd name="T1" fmla="*/ 0 h 812079"/>
                <a:gd name="T2" fmla="*/ 675 w 2852836"/>
                <a:gd name="T3" fmla="*/ 48804 h 812079"/>
                <a:gd name="T4" fmla="*/ 1161 w 2852836"/>
                <a:gd name="T5" fmla="*/ 6290 h 812079"/>
                <a:gd name="T6" fmla="*/ 1192 w 2852836"/>
                <a:gd name="T7" fmla="*/ 280 h 812079"/>
                <a:gd name="T8" fmla="*/ 1354 w 2852836"/>
                <a:gd name="T9" fmla="*/ 172617 h 812079"/>
                <a:gd name="T10" fmla="*/ 677 w 2852836"/>
                <a:gd name="T11" fmla="*/ 216695 h 812079"/>
                <a:gd name="T12" fmla="*/ 0 w 2852836"/>
                <a:gd name="T13" fmla="*/ 172617 h 812079"/>
                <a:gd name="T14" fmla="*/ 158 w 2852836"/>
                <a:gd name="T15" fmla="*/ 0 h 812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52836" h="812079">
                  <a:moveTo>
                    <a:pt x="334026" y="0"/>
                  </a:moveTo>
                  <a:cubicBezTo>
                    <a:pt x="629853" y="114341"/>
                    <a:pt x="1009624" y="182893"/>
                    <a:pt x="1423773" y="182893"/>
                  </a:cubicBezTo>
                  <a:cubicBezTo>
                    <a:pt x="1807753" y="182893"/>
                    <a:pt x="2162182" y="123965"/>
                    <a:pt x="2447320" y="23572"/>
                  </a:cubicBezTo>
                  <a:cubicBezTo>
                    <a:pt x="2470720" y="18147"/>
                    <a:pt x="2493390" y="11141"/>
                    <a:pt x="2514376" y="1055"/>
                  </a:cubicBezTo>
                  <a:cubicBezTo>
                    <a:pt x="2679522" y="179535"/>
                    <a:pt x="2797076" y="401441"/>
                    <a:pt x="2852836" y="646891"/>
                  </a:cubicBezTo>
                  <a:cubicBezTo>
                    <a:pt x="2427255" y="752598"/>
                    <a:pt x="1941751" y="812079"/>
                    <a:pt x="1426418" y="812079"/>
                  </a:cubicBezTo>
                  <a:cubicBezTo>
                    <a:pt x="911085" y="812079"/>
                    <a:pt x="425581" y="752598"/>
                    <a:pt x="0" y="646891"/>
                  </a:cubicBezTo>
                  <a:cubicBezTo>
                    <a:pt x="55592" y="402182"/>
                    <a:pt x="172605" y="180875"/>
                    <a:pt x="3340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1000">
                  <a:srgbClr val="FF7711"/>
                </a:gs>
                <a:gs pos="62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" name="椭圆 10"/>
            <p:cNvSpPr/>
            <p:nvPr/>
          </p:nvSpPr>
          <p:spPr bwMode="auto">
            <a:xfrm>
              <a:off x="227718" y="0"/>
              <a:ext cx="1449802" cy="281550"/>
            </a:xfrm>
            <a:custGeom>
              <a:avLst/>
              <a:gdLst>
                <a:gd name="T0" fmla="*/ 0 w 1747836"/>
                <a:gd name="T1" fmla="*/ 4022 h 338503"/>
                <a:gd name="T2" fmla="*/ 24709 w 1747836"/>
                <a:gd name="T3" fmla="*/ 0 h 338503"/>
                <a:gd name="T4" fmla="*/ 50102 w 1747836"/>
                <a:gd name="T5" fmla="*/ 4022 h 338503"/>
                <a:gd name="T6" fmla="*/ 23890 w 1747836"/>
                <a:gd name="T7" fmla="*/ 10201 h 338503"/>
                <a:gd name="T8" fmla="*/ 0 w 1747836"/>
                <a:gd name="T9" fmla="*/ 4022 h 3385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7836" h="338503">
                  <a:moveTo>
                    <a:pt x="0" y="133220"/>
                  </a:moveTo>
                  <a:cubicBezTo>
                    <a:pt x="4763" y="65001"/>
                    <a:pt x="379360" y="0"/>
                    <a:pt x="862012" y="0"/>
                  </a:cubicBezTo>
                  <a:cubicBezTo>
                    <a:pt x="1344664" y="0"/>
                    <a:pt x="1704974" y="39955"/>
                    <a:pt x="1747836" y="133220"/>
                  </a:cubicBezTo>
                  <a:cubicBezTo>
                    <a:pt x="1704974" y="188384"/>
                    <a:pt x="1306538" y="349785"/>
                    <a:pt x="833437" y="337878"/>
                  </a:cubicBezTo>
                  <a:cubicBezTo>
                    <a:pt x="350785" y="337878"/>
                    <a:pt x="35718" y="189533"/>
                    <a:pt x="0" y="133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2999">
                  <a:srgbClr val="FF7711"/>
                </a:gs>
                <a:gs pos="75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4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9" name="Group 14"/>
          <p:cNvGrpSpPr/>
          <p:nvPr/>
        </p:nvGrpSpPr>
        <p:grpSpPr bwMode="auto">
          <a:xfrm>
            <a:off x="3899516" y="2042948"/>
            <a:ext cx="1304925" cy="631825"/>
            <a:chOff x="0" y="0"/>
            <a:chExt cx="1569720" cy="759442"/>
          </a:xfrm>
        </p:grpSpPr>
        <p:sp>
          <p:nvSpPr>
            <p:cNvPr id="30" name="椭圆 4"/>
            <p:cNvSpPr/>
            <p:nvPr/>
          </p:nvSpPr>
          <p:spPr bwMode="auto">
            <a:xfrm>
              <a:off x="0" y="0"/>
              <a:ext cx="1569720" cy="759442"/>
            </a:xfrm>
            <a:custGeom>
              <a:avLst/>
              <a:gdLst>
                <a:gd name="T0" fmla="*/ 6203 w 2054038"/>
                <a:gd name="T1" fmla="*/ 4214 h 677149"/>
                <a:gd name="T2" fmla="*/ 12407 w 2054038"/>
                <a:gd name="T3" fmla="*/ 4357198 h 677149"/>
                <a:gd name="T4" fmla="*/ 6203 w 2054038"/>
                <a:gd name="T5" fmla="*/ 5985242 h 677149"/>
                <a:gd name="T6" fmla="*/ 0 w 2054038"/>
                <a:gd name="T7" fmla="*/ 4297152 h 677149"/>
                <a:gd name="T8" fmla="*/ 6203 w 2054038"/>
                <a:gd name="T9" fmla="*/ 4214 h 677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4038" h="677149">
                  <a:moveTo>
                    <a:pt x="1027019" y="476"/>
                  </a:moveTo>
                  <a:cubicBezTo>
                    <a:pt x="1493997" y="-11131"/>
                    <a:pt x="1853323" y="190395"/>
                    <a:pt x="2054038" y="492958"/>
                  </a:cubicBezTo>
                  <a:cubicBezTo>
                    <a:pt x="1757656" y="608038"/>
                    <a:pt x="1442853" y="677149"/>
                    <a:pt x="1027019" y="677149"/>
                  </a:cubicBezTo>
                  <a:cubicBezTo>
                    <a:pt x="611185" y="677149"/>
                    <a:pt x="296382" y="601244"/>
                    <a:pt x="0" y="486164"/>
                  </a:cubicBezTo>
                  <a:cubicBezTo>
                    <a:pt x="210197" y="190396"/>
                    <a:pt x="684679" y="-656"/>
                    <a:pt x="1027019" y="476"/>
                  </a:cubicBezTo>
                  <a:close/>
                </a:path>
              </a:pathLst>
            </a:custGeom>
            <a:gradFill rotWithShape="1">
              <a:gsLst>
                <a:gs pos="0">
                  <a:srgbClr val="BE1247"/>
                </a:gs>
                <a:gs pos="27000">
                  <a:srgbClr val="D2144F"/>
                </a:gs>
                <a:gs pos="66000">
                  <a:srgbClr val="F87477"/>
                </a:gs>
                <a:gs pos="100000">
                  <a:srgbClr val="FA9496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2" name="Group 16"/>
            <p:cNvGrpSpPr/>
            <p:nvPr/>
          </p:nvGrpSpPr>
          <p:grpSpPr bwMode="auto">
            <a:xfrm>
              <a:off x="492487" y="61980"/>
              <a:ext cx="820862" cy="579001"/>
              <a:chOff x="0" y="0"/>
              <a:chExt cx="682752" cy="481584"/>
            </a:xfrm>
          </p:grpSpPr>
          <p:pic>
            <p:nvPicPr>
              <p:cNvPr id="33" name="椭圆 15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2752" cy="48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 rot="277197">
                <a:off x="101490" y="75279"/>
                <a:ext cx="479507" cy="331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cxnSp>
        <p:nvCxnSpPr>
          <p:cNvPr id="35" name="直接连接符 16"/>
          <p:cNvCxnSpPr>
            <a:cxnSpLocks noChangeShapeType="1"/>
          </p:cNvCxnSpPr>
          <p:nvPr/>
        </p:nvCxnSpPr>
        <p:spPr bwMode="auto">
          <a:xfrm>
            <a:off x="5059978" y="2381085"/>
            <a:ext cx="31337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11"/>
          <p:cNvSpPr txBox="1">
            <a:spLocks noChangeArrowheads="1"/>
          </p:cNvSpPr>
          <p:nvPr/>
        </p:nvSpPr>
        <p:spPr bwMode="auto">
          <a:xfrm flipH="1">
            <a:off x="6054529" y="1993735"/>
            <a:ext cx="2465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创建网站根目录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18"/>
          <p:cNvCxnSpPr>
            <a:cxnSpLocks noChangeShapeType="1"/>
          </p:cNvCxnSpPr>
          <p:nvPr/>
        </p:nvCxnSpPr>
        <p:spPr bwMode="auto">
          <a:xfrm>
            <a:off x="5399703" y="4198773"/>
            <a:ext cx="2794000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11"/>
          <p:cNvSpPr txBox="1">
            <a:spLocks noChangeArrowheads="1"/>
          </p:cNvSpPr>
          <p:nvPr/>
        </p:nvSpPr>
        <p:spPr bwMode="auto">
          <a:xfrm flipH="1">
            <a:off x="6092627" y="3792373"/>
            <a:ext cx="24272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“boke”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20"/>
          <p:cNvCxnSpPr>
            <a:cxnSpLocks noChangeShapeType="1"/>
          </p:cNvCxnSpPr>
          <p:nvPr/>
        </p:nvCxnSpPr>
        <p:spPr bwMode="auto">
          <a:xfrm>
            <a:off x="5110778" y="5249698"/>
            <a:ext cx="30829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11"/>
          <p:cNvSpPr txBox="1">
            <a:spLocks noChangeArrowheads="1"/>
          </p:cNvSpPr>
          <p:nvPr/>
        </p:nvSpPr>
        <p:spPr bwMode="auto">
          <a:xfrm flipH="1">
            <a:off x="6105328" y="4862348"/>
            <a:ext cx="21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22"/>
          <p:cNvCxnSpPr>
            <a:cxnSpLocks noChangeShapeType="1"/>
          </p:cNvCxnSpPr>
          <p:nvPr/>
        </p:nvCxnSpPr>
        <p:spPr bwMode="auto">
          <a:xfrm>
            <a:off x="5277466" y="3155785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11"/>
          <p:cNvSpPr txBox="1">
            <a:spLocks noChangeArrowheads="1"/>
          </p:cNvSpPr>
          <p:nvPr/>
        </p:nvSpPr>
        <p:spPr bwMode="auto">
          <a:xfrm flipH="1">
            <a:off x="6054527" y="2768435"/>
            <a:ext cx="3136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在根目录下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11"/>
          <p:cNvSpPr txBox="1">
            <a:spLocks noChangeArrowheads="1"/>
          </p:cNvSpPr>
          <p:nvPr/>
        </p:nvSpPr>
        <p:spPr bwMode="auto">
          <a:xfrm flipH="1">
            <a:off x="3969366" y="2255673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11"/>
          <p:cNvSpPr txBox="1">
            <a:spLocks noChangeArrowheads="1"/>
          </p:cNvSpPr>
          <p:nvPr/>
        </p:nvSpPr>
        <p:spPr bwMode="auto">
          <a:xfrm flipH="1">
            <a:off x="3969366" y="3016085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step2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11"/>
          <p:cNvSpPr txBox="1">
            <a:spLocks noChangeArrowheads="1"/>
          </p:cNvSpPr>
          <p:nvPr/>
        </p:nvSpPr>
        <p:spPr bwMode="auto">
          <a:xfrm flipH="1">
            <a:off x="3969366" y="4014623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step3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 flipH="1">
            <a:off x="3969366" y="4906798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step4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“博客”页面切图</a:t>
            </a:r>
            <a:endParaRPr lang="zh-CN" altLang="en-US" sz="2000" dirty="0"/>
          </a:p>
        </p:txBody>
      </p:sp>
      <p:pic>
        <p:nvPicPr>
          <p:cNvPr id="38914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355" y="2939150"/>
            <a:ext cx="7781384" cy="3037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56" name="圆角矩形 55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7" name="TextBox 38"/>
          <p:cNvSpPr txBox="1"/>
          <p:nvPr/>
        </p:nvSpPr>
        <p:spPr>
          <a:xfrm>
            <a:off x="1585974" y="1754840"/>
            <a:ext cx="9482075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 Fireworks CS6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的切片工具，导出“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博客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专题页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中的素材图片，存储在站点中的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9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370368" y="2292090"/>
            <a:ext cx="3966741" cy="2292350"/>
            <a:chOff x="450056" y="2672554"/>
            <a:chExt cx="5116819" cy="2291733"/>
          </a:xfrm>
        </p:grpSpPr>
        <p:sp>
          <p:nvSpPr>
            <p:cNvPr id="6" name="圆角矩形标注 5"/>
            <p:cNvSpPr/>
            <p:nvPr/>
          </p:nvSpPr>
          <p:spPr bwMode="auto">
            <a:xfrm rot="16200000" flipH="1">
              <a:off x="1862599" y="1260011"/>
              <a:ext cx="2291733" cy="5116819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30"/>
            <p:cNvSpPr>
              <a:spLocks noChangeArrowheads="1"/>
            </p:cNvSpPr>
            <p:nvPr/>
          </p:nvSpPr>
          <p:spPr bwMode="auto">
            <a:xfrm>
              <a:off x="764811" y="3129219"/>
              <a:ext cx="4487309" cy="1200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“博客”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页面从上到下可以分为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个模块。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20881" y="933060"/>
            <a:ext cx="135912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20881" y="933061"/>
          <a:ext cx="3536302" cy="5723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Visio" r:id="rId1" imgW="13677900" imgH="22148800" progId="Visio.Drawing.11">
                  <p:embed/>
                </p:oleObj>
              </mc:Choice>
              <mc:Fallback>
                <p:oleObj name="Visio" r:id="rId1" imgW="13677900" imgH="22148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881" y="933061"/>
                        <a:ext cx="3536302" cy="5723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页面布局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19175" y="2696480"/>
            <a:ext cx="10440988" cy="184752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585974" y="3080522"/>
            <a:ext cx="9482075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就是为了让网站页面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结构更加清晰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而对页面进行的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“排版”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，可以让我们在搭建页面的过程中更有针对性。在站点根目录下新建一个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，命名为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project02”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。然后使用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对页面进行布局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93"/>
          <p:cNvSpPr/>
          <p:nvPr/>
        </p:nvSpPr>
        <p:spPr>
          <a:xfrm>
            <a:off x="1024831" y="2696479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矩形 93"/>
          <p:cNvSpPr/>
          <p:nvPr/>
        </p:nvSpPr>
        <p:spPr>
          <a:xfrm rot="10800000">
            <a:off x="11076120" y="415996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2-5】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“头部”模块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0604" y="363893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86203" y="2118048"/>
          <a:ext cx="8964599" cy="833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Visio" r:id="rId1" imgW="12788900" imgH="1206500" progId="Visio.Drawing.11">
                  <p:embed/>
                </p:oleObj>
              </mc:Choice>
              <mc:Fallback>
                <p:oleObj name="Visio" r:id="rId1" imgW="12788900" imgH="12065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203" y="2118048"/>
                        <a:ext cx="8964599" cy="833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03" y="3493831"/>
            <a:ext cx="8951562" cy="164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196250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2-6】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“博主简介”模块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39657" y="362027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81701" y="2486705"/>
          <a:ext cx="5545119" cy="271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Visio" r:id="rId1" imgW="13246100" imgH="6477000" progId="Visio.Drawing.11">
                  <p:embed/>
                </p:oleObj>
              </mc:Choice>
              <mc:Fallback>
                <p:oleObj name="Visio" r:id="rId1" imgW="13246100" imgH="64770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701" y="2486705"/>
                        <a:ext cx="5545119" cy="27104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1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175" y="1982853"/>
            <a:ext cx="52959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280225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2-7】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“旅游随笔”模块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61054" y="1026367"/>
            <a:ext cx="1078734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95738" y="1026368"/>
          <a:ext cx="4982138" cy="5402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Visio" r:id="rId1" imgW="8731250" imgH="9458325" progId="Visio.Drawing.11">
                  <p:embed/>
                </p:oleObj>
              </mc:Choice>
              <mc:Fallback>
                <p:oleObj name="Visio" r:id="rId1" imgW="8731250" imgH="94583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738" y="1026368"/>
                        <a:ext cx="4982138" cy="5402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67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192" y="1026367"/>
            <a:ext cx="5535506" cy="540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50906" y="3059420"/>
            <a:ext cx="8322906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2-8】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“驴友评论”模块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12980" y="199675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91069" y="1240778"/>
          <a:ext cx="611505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Visio" r:id="rId1" imgW="11090910" imgH="3362325" progId="Visio.Drawing.11">
                  <p:embed/>
                </p:oleObj>
              </mc:Choice>
              <mc:Fallback>
                <p:oleObj name="Visio" r:id="rId1" imgW="11090910" imgH="33623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069" y="1240778"/>
                        <a:ext cx="6115050" cy="184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43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069" y="3388374"/>
            <a:ext cx="5486400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2-9】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“页脚”模块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09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30017" y="2827176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30017" y="1887895"/>
          <a:ext cx="8223828" cy="155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Visio" r:id="rId1" imgW="8420100" imgH="1600200" progId="Visio.Drawing.11">
                  <p:embed/>
                </p:oleObj>
              </mc:Choice>
              <mc:Fallback>
                <p:oleObj name="Visio" r:id="rId1" imgW="8420100" imgH="16002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017" y="1887895"/>
                        <a:ext cx="8223828" cy="15551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1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791" y="3857448"/>
            <a:ext cx="8069717" cy="153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2102485"/>
            <a:ext cx="9794240" cy="33756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587447"/>
            <a:ext cx="9001000" cy="2715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建议读者每完成一个模块的网页代码，都要用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浏览器查看效果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，保证制作的页面和网页效果图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保持一致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读者在制作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“博客”项目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时，要善于分析总结不同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标签的语义及属性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的特点。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读者在编辑代码过程中出现问题，可以检查是否有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错误字符、标点符号、空格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等问题，也可和项目伙伴交换检查。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2023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3905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85787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7669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ISPRING_RESOURCE_PATHS_HASH_PRESENTER" val="3f15e6573a385e41c33bb97e7105a62faa5c484"/>
  <p:tag name="COMMONDATA" val="eyJoZGlkIjoiYjM0NWU1MTk2Y2VjYWE3ZDk2ZTAwZTg0YWVkZjY0MTMifQ=="/>
  <p:tag name="commondata" val="eyJoZGlkIjoiOWM0MThkYWEwN2MzZWZkMDk3MjkwYzMwNGE5Njg1MTU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7530</Words>
  <Application>WPS 演示</Application>
  <PresentationFormat>自定义</PresentationFormat>
  <Paragraphs>962</Paragraphs>
  <Slides>79</Slides>
  <Notes>85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79</vt:i4>
      </vt:variant>
    </vt:vector>
  </HeadingPairs>
  <TitlesOfParts>
    <vt:vector size="110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Yu Gothic UI Semibold</vt:lpstr>
      <vt:lpstr>U.S. 101</vt:lpstr>
      <vt:lpstr>Segoe Print</vt:lpstr>
      <vt:lpstr>Roboto</vt:lpstr>
      <vt:lpstr>Times New Roman</vt:lpstr>
      <vt:lpstr>Open Sans Light</vt:lpstr>
      <vt:lpstr>楷体</vt:lpstr>
      <vt:lpstr>Courier New</vt:lpstr>
      <vt:lpstr>字魂105号-简雅黑</vt:lpstr>
      <vt:lpstr>Arial Unicode MS</vt:lpstr>
      <vt:lpstr>思源黑体 CN Regular</vt:lpstr>
      <vt:lpstr>Arial</vt:lpstr>
      <vt:lpstr>webwppDefTheme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鲜橙</cp:lastModifiedBy>
  <cp:revision>277</cp:revision>
  <dcterms:created xsi:type="dcterms:W3CDTF">2020-11-11T09:29:00Z</dcterms:created>
  <dcterms:modified xsi:type="dcterms:W3CDTF">2024-09-01T14:45:55Z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528A58EFD6484161A00921FF1F138C0E</vt:lpwstr>
  </property>
</Properties>
</file>