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0"/>
  </p:notesMasterIdLst>
  <p:handoutMasterIdLst>
    <p:handoutMasterId r:id="rId91"/>
  </p:handoutMasterIdLst>
  <p:sldIdLst>
    <p:sldId id="325" r:id="rId3"/>
    <p:sldId id="264" r:id="rId4"/>
    <p:sldId id="328" r:id="rId5"/>
    <p:sldId id="327" r:id="rId6"/>
    <p:sldId id="415" r:id="rId7"/>
    <p:sldId id="309" r:id="rId8"/>
    <p:sldId id="259" r:id="rId9"/>
    <p:sldId id="416" r:id="rId10"/>
    <p:sldId id="348" r:id="rId11"/>
    <p:sldId id="417" r:id="rId12"/>
    <p:sldId id="419" r:id="rId13"/>
    <p:sldId id="418" r:id="rId14"/>
    <p:sldId id="428" r:id="rId15"/>
    <p:sldId id="420" r:id="rId16"/>
    <p:sldId id="421" r:id="rId17"/>
    <p:sldId id="422" r:id="rId18"/>
    <p:sldId id="429" r:id="rId19"/>
    <p:sldId id="423" r:id="rId20"/>
    <p:sldId id="425" r:id="rId21"/>
    <p:sldId id="426" r:id="rId22"/>
    <p:sldId id="427" r:id="rId23"/>
    <p:sldId id="430" r:id="rId24"/>
    <p:sldId id="432" r:id="rId25"/>
    <p:sldId id="433" r:id="rId26"/>
    <p:sldId id="424" r:id="rId27"/>
    <p:sldId id="434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7" r:id="rId36"/>
    <p:sldId id="448" r:id="rId37"/>
    <p:sldId id="449" r:id="rId38"/>
    <p:sldId id="450" r:id="rId39"/>
    <p:sldId id="452" r:id="rId40"/>
    <p:sldId id="453" r:id="rId41"/>
    <p:sldId id="454" r:id="rId42"/>
    <p:sldId id="442" r:id="rId43"/>
    <p:sldId id="443" r:id="rId44"/>
    <p:sldId id="466" r:id="rId45"/>
    <p:sldId id="456" r:id="rId46"/>
    <p:sldId id="457" r:id="rId47"/>
    <p:sldId id="458" r:id="rId48"/>
    <p:sldId id="460" r:id="rId49"/>
    <p:sldId id="461" r:id="rId50"/>
    <p:sldId id="462" r:id="rId51"/>
    <p:sldId id="463" r:id="rId52"/>
    <p:sldId id="464" r:id="rId53"/>
    <p:sldId id="465" r:id="rId54"/>
    <p:sldId id="459" r:id="rId55"/>
    <p:sldId id="467" r:id="rId56"/>
    <p:sldId id="444" r:id="rId57"/>
    <p:sldId id="468" r:id="rId58"/>
    <p:sldId id="469" r:id="rId59"/>
    <p:sldId id="470" r:id="rId60"/>
    <p:sldId id="471" r:id="rId61"/>
    <p:sldId id="472" r:id="rId62"/>
    <p:sldId id="473" r:id="rId63"/>
    <p:sldId id="476" r:id="rId64"/>
    <p:sldId id="494" r:id="rId65"/>
    <p:sldId id="474" r:id="rId66"/>
    <p:sldId id="475" r:id="rId67"/>
    <p:sldId id="477" r:id="rId68"/>
    <p:sldId id="478" r:id="rId69"/>
    <p:sldId id="495" r:id="rId70"/>
    <p:sldId id="496" r:id="rId71"/>
    <p:sldId id="497" r:id="rId72"/>
    <p:sldId id="479" r:id="rId73"/>
    <p:sldId id="480" r:id="rId74"/>
    <p:sldId id="481" r:id="rId75"/>
    <p:sldId id="482" r:id="rId76"/>
    <p:sldId id="483" r:id="rId77"/>
    <p:sldId id="484" r:id="rId78"/>
    <p:sldId id="485" r:id="rId79"/>
    <p:sldId id="486" r:id="rId80"/>
    <p:sldId id="487" r:id="rId81"/>
    <p:sldId id="488" r:id="rId82"/>
    <p:sldId id="489" r:id="rId83"/>
    <p:sldId id="490" r:id="rId84"/>
    <p:sldId id="491" r:id="rId85"/>
    <p:sldId id="492" r:id="rId86"/>
    <p:sldId id="493" r:id="rId87"/>
    <p:sldId id="338" r:id="rId88"/>
    <p:sldId id="326" r:id="rId89"/>
  </p:sldIdLst>
  <p:sldSz cx="12190413" cy="6859588"/>
  <p:notesSz cx="6858000" cy="9144000"/>
  <p:custDataLst>
    <p:tags r:id="rId9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甘金龙" initials="甘金龙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0075CC"/>
    <a:srgbClr val="FF0000"/>
    <a:srgbClr val="F2F2F2"/>
    <a:srgbClr val="FAFAFA"/>
    <a:srgbClr val="006BB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09" autoAdjust="0"/>
    <p:restoredTop sz="96379" autoAdjust="0"/>
  </p:normalViewPr>
  <p:slideViewPr>
    <p:cSldViewPr snapToGrid="0">
      <p:cViewPr varScale="1">
        <p:scale>
          <a:sx n="67" d="100"/>
          <a:sy n="67" d="100"/>
        </p:scale>
        <p:origin x="-322" y="-43"/>
      </p:cViewPr>
      <p:guideLst>
        <p:guide orient="horz" pos="1072"/>
        <p:guide pos="7219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79"/>
        <p:guide pos="2142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handoutMaster" Target="handoutMasters/handout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gs" Target="tags/tag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39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53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160645" y="2355215"/>
            <a:ext cx="18681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3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4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oleObject" Target="../embeddings/oleObject5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6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32128" y="2877669"/>
            <a:ext cx="7706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3 “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网上花店”专题页制作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9"/>
            <a:ext cx="7293883" cy="688077"/>
            <a:chOff x="978872" y="1800499"/>
            <a:chExt cx="5471124" cy="515938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499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样式规则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属性和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样式的写法差异。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层叠性、继承性、优先级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等特点，能够清晰描述并举例说明。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引入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样式表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的不同方式，能够在网页中引入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样式控制网页中的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文本外观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的技巧。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项目描述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9293" y="2604441"/>
            <a:ext cx="1032292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在网站中，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能够帮助用户深入了解商品的信息，提高用户在网站中的停留时间，并对用户转化起到良好的促进作用。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“彼岸花”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是一家通过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互联网销售鲜花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的网店，最近店主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Michael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联系到小思，想请小思帮忙制作一个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“网上花店”专题页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。接到朋友的委托后，小思做了进一步学习规划，她计划先深入巩固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样式规则、选择器、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控制文本样式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基础知识，再动手完成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“网上花店”专题页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的制作。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86938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07336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237914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364759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3-1】CSS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核心基础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90510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3-2】CSS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文本样式属性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216261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3-3】CSS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高级特性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19265" y="5173459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024817" y="5156633"/>
            <a:ext cx="5142331" cy="613062"/>
            <a:chOff x="4315150" y="1647579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页面建设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准备工作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329200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421240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514298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326983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“分类”模块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419558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“热卖”模块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512133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3-8】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“页脚”模块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119265" y="2381399"/>
            <a:ext cx="1192190" cy="614525"/>
            <a:chOff x="2215144" y="3084852"/>
            <a:chExt cx="1244730" cy="844793"/>
          </a:xfrm>
        </p:grpSpPr>
        <p:sp>
          <p:nvSpPr>
            <p:cNvPr id="31" name="平行四边形 30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359746"/>
            <a:ext cx="5142331" cy="613062"/>
            <a:chOff x="4315150" y="2341731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3-5】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“标题”模块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3-1】CSS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核心基础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70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网页制作技术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的不断发展，单调的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属性已经无法满足网页设计的需求。网页制作人员往往需要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更多的字体、更方便的样式、更绚丽的图形动画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的出现在不改变原有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结构的情况下，增加了丰富的样式效果，极大地满足了网页制作人员的需求。在深入学习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之前，网页制作人员首先要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四个方面，对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什么是结构与表现相分离，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能够指出结构域表现相分离的好处。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sp>
        <p:nvSpPr>
          <p:cNvPr id="9" name="云形标注 8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1897278" y="2494614"/>
            <a:ext cx="47554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为什么要将结构和表现分离？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44" y="3448797"/>
            <a:ext cx="3505201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89846" y="1347759"/>
            <a:ext cx="8758237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对网页进行修饰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存在很大的</a:t>
            </a:r>
            <a:r>
              <a:rPr lang="zh-CN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局限和不足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3993632" y="2301035"/>
            <a:ext cx="3578225" cy="1839912"/>
            <a:chOff x="3087784" y="4014875"/>
            <a:chExt cx="3578577" cy="1840088"/>
          </a:xfrm>
        </p:grpSpPr>
        <p:sp>
          <p:nvSpPr>
            <p:cNvPr id="9" name="椭圆形标注 8"/>
            <p:cNvSpPr/>
            <p:nvPr/>
          </p:nvSpPr>
          <p:spPr bwMode="auto">
            <a:xfrm>
              <a:off x="3087784" y="4014875"/>
              <a:ext cx="3578577" cy="1840088"/>
            </a:xfrm>
            <a:prstGeom prst="wedgeEllipse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322757" y="4611832"/>
              <a:ext cx="763663" cy="7080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维护困难</a:t>
              </a:r>
              <a:endPara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289" y="4215345"/>
              <a:ext cx="2161529" cy="1371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组合 11"/>
          <p:cNvGrpSpPr/>
          <p:nvPr/>
        </p:nvGrpSpPr>
        <p:grpSpPr bwMode="auto">
          <a:xfrm>
            <a:off x="6062145" y="4164760"/>
            <a:ext cx="3578225" cy="1839912"/>
            <a:chOff x="4512587" y="4249297"/>
            <a:chExt cx="3578577" cy="1840088"/>
          </a:xfrm>
        </p:grpSpPr>
        <p:grpSp>
          <p:nvGrpSpPr>
            <p:cNvPr id="13" name="组合 16"/>
            <p:cNvGrpSpPr/>
            <p:nvPr/>
          </p:nvGrpSpPr>
          <p:grpSpPr bwMode="auto">
            <a:xfrm>
              <a:off x="4512587" y="4249297"/>
              <a:ext cx="3578577" cy="1840088"/>
              <a:chOff x="3087784" y="4014875"/>
              <a:chExt cx="3578577" cy="1840088"/>
            </a:xfrm>
          </p:grpSpPr>
          <p:sp>
            <p:nvSpPr>
              <p:cNvPr id="15" name="椭圆形标注 14"/>
              <p:cNvSpPr/>
              <p:nvPr/>
            </p:nvSpPr>
            <p:spPr bwMode="auto">
              <a:xfrm>
                <a:off x="3087784" y="4014875"/>
                <a:ext cx="3578577" cy="1840088"/>
              </a:xfrm>
              <a:prstGeom prst="wedgeEllipseCallout">
                <a:avLst/>
              </a:prstGeom>
              <a:noFill/>
              <a:ln w="285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378325" y="4600718"/>
                <a:ext cx="1219320" cy="7080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不利于代码的阅读</a:t>
                </a:r>
                <a:endPara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图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2895" y="4419159"/>
              <a:ext cx="1647187" cy="150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4899447" y="2340830"/>
            <a:ext cx="5040312" cy="2725738"/>
            <a:chOff x="3403599" y="2421469"/>
            <a:chExt cx="5040490" cy="2726268"/>
          </a:xfrm>
        </p:grpSpPr>
        <p:sp>
          <p:nvSpPr>
            <p:cNvPr id="8" name="圆角矩形标注 7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3790505" y="2639955"/>
              <a:ext cx="4439098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如果希望网页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美观、大方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升级轻松、维护方便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，就需要使用</a:t>
              </a:r>
              <a:r>
                <a:rPr lang="en-US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，实现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表现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的分离。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7418388" y="2787617"/>
            <a:ext cx="3933825" cy="2147887"/>
            <a:chOff x="4571998" y="3039743"/>
            <a:chExt cx="3933429" cy="2148629"/>
          </a:xfrm>
        </p:grpSpPr>
        <p:sp>
          <p:nvSpPr>
            <p:cNvPr id="19" name="圆角矩形标注 18"/>
            <p:cNvSpPr/>
            <p:nvPr/>
          </p:nvSpPr>
          <p:spPr bwMode="auto">
            <a:xfrm rot="16200000" flipV="1">
              <a:off x="5464398" y="2147343"/>
              <a:ext cx="2148629" cy="3933429"/>
            </a:xfrm>
            <a:prstGeom prst="wedgeRoundRect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20" name="矩形 29"/>
            <p:cNvSpPr>
              <a:spLocks noChangeArrowheads="1"/>
            </p:cNvSpPr>
            <p:nvPr/>
          </p:nvSpPr>
          <p:spPr bwMode="auto">
            <a:xfrm>
              <a:off x="4745567" y="3147980"/>
              <a:ext cx="3495322" cy="193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所示的代码片段，就是将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嵌入在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文档中，虽然与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在同一个文档中，但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集中写在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文档的头部，也是符合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结构与表现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相分离的。</a:t>
              </a:r>
              <a:endPara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86408" y="1530221"/>
            <a:ext cx="1447342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86408" y="2211355"/>
          <a:ext cx="6400800" cy="288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7" name="Visio" r:id="rId4" imgW="9677400" imgH="4368800" progId="Visio.Drawing.11">
                  <p:embed/>
                </p:oleObj>
              </mc:Choice>
              <mc:Fallback>
                <p:oleObj name="Visio" r:id="rId4" imgW="9677400" imgH="4368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408" y="2211355"/>
                        <a:ext cx="6400800" cy="2883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的书写方式，能够在网页制作中正确书写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，能够避免常见的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书写错误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25937" y="3497427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虚尾箭头 28"/>
          <p:cNvSpPr>
            <a:spLocks noChangeArrowheads="1"/>
          </p:cNvSpPr>
          <p:nvPr/>
        </p:nvSpPr>
        <p:spPr bwMode="auto">
          <a:xfrm rot="5400000">
            <a:off x="5491162" y="5041221"/>
            <a:ext cx="406400" cy="4508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295775" y="5648490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3446719" y="5754852"/>
            <a:ext cx="4889480" cy="523219"/>
            <a:chOff x="2488231" y="4814888"/>
            <a:chExt cx="5002121" cy="523220"/>
          </a:xfrm>
          <a:solidFill>
            <a:schemeClr val="bg1">
              <a:lumMod val="95000"/>
            </a:schemeClr>
          </a:solidFill>
        </p:grpSpPr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492589" y="4838848"/>
              <a:ext cx="188986" cy="46166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488231" y="4814888"/>
              <a:ext cx="5002121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样式的书写规则是什么？</a:t>
              </a:r>
            </a:p>
          </p:txBody>
        </p:sp>
      </p:grp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227512" y="3843502"/>
            <a:ext cx="31035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 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修饰的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网页大家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随处可见</a:t>
            </a: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1801812" y="2157577"/>
            <a:ext cx="1870075" cy="2309258"/>
            <a:chOff x="828675" y="1497013"/>
            <a:chExt cx="1870075" cy="2309257"/>
          </a:xfrm>
        </p:grpSpPr>
        <p:sp>
          <p:nvSpPr>
            <p:cNvPr id="14" name="TextBox 3"/>
            <p:cNvSpPr txBox="1">
              <a:spLocks noChangeArrowheads="1"/>
            </p:cNvSpPr>
            <p:nvPr/>
          </p:nvSpPr>
          <p:spPr bwMode="auto">
            <a:xfrm>
              <a:off x="1195227" y="3436938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网上购物</a:t>
              </a:r>
            </a:p>
          </p:txBody>
        </p: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75" y="1497013"/>
              <a:ext cx="1870075" cy="191293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/>
          <p:cNvGrpSpPr/>
          <p:nvPr/>
        </p:nvGrpSpPr>
        <p:grpSpPr bwMode="auto">
          <a:xfrm>
            <a:off x="7639050" y="2157577"/>
            <a:ext cx="1774825" cy="2267983"/>
            <a:chOff x="6665913" y="1497013"/>
            <a:chExt cx="1774825" cy="2267982"/>
          </a:xfrm>
        </p:grpSpPr>
        <p:sp>
          <p:nvSpPr>
            <p:cNvPr id="17" name="TextBox 7"/>
            <p:cNvSpPr txBox="1">
              <a:spLocks noChangeArrowheads="1"/>
            </p:cNvSpPr>
            <p:nvPr/>
          </p:nvSpPr>
          <p:spPr bwMode="auto">
            <a:xfrm>
              <a:off x="7044177" y="3395663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热门游戏</a:t>
              </a: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5913" y="1497013"/>
              <a:ext cx="1774825" cy="187166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组合 18"/>
          <p:cNvGrpSpPr/>
          <p:nvPr/>
        </p:nvGrpSpPr>
        <p:grpSpPr bwMode="auto">
          <a:xfrm>
            <a:off x="4510087" y="1847331"/>
            <a:ext cx="2276475" cy="1493326"/>
            <a:chOff x="3536950" y="1517650"/>
            <a:chExt cx="2276475" cy="1493503"/>
          </a:xfrm>
        </p:grpSpPr>
        <p:sp>
          <p:nvSpPr>
            <p:cNvPr id="20" name="TextBox 5"/>
            <p:cNvSpPr txBox="1">
              <a:spLocks noChangeArrowheads="1"/>
            </p:cNvSpPr>
            <p:nvPr/>
          </p:nvSpPr>
          <p:spPr bwMode="auto">
            <a:xfrm>
              <a:off x="4081819" y="2641777"/>
              <a:ext cx="1107996" cy="369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热点新闻</a:t>
              </a:r>
            </a:p>
          </p:txBody>
        </p:sp>
        <p:pic>
          <p:nvPicPr>
            <p:cNvPr id="21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6950" y="1517650"/>
              <a:ext cx="2276475" cy="112395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3949958" y="2179151"/>
            <a:ext cx="6509657" cy="500063"/>
            <a:chOff x="2895600" y="2325688"/>
            <a:chExt cx="6608408" cy="508000"/>
          </a:xfrm>
        </p:grpSpPr>
        <p:sp>
          <p:nvSpPr>
            <p:cNvPr id="7" name="矩形 2"/>
            <p:cNvSpPr>
              <a:spLocks noChangeArrowheads="1"/>
            </p:cNvSpPr>
            <p:nvPr/>
          </p:nvSpPr>
          <p:spPr bwMode="auto">
            <a:xfrm>
              <a:off x="2951163" y="2325688"/>
              <a:ext cx="6552845" cy="5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8" name="矩形 8"/>
            <p:cNvSpPr>
              <a:spLocks noChangeArrowheads="1"/>
            </p:cNvSpPr>
            <p:nvPr/>
          </p:nvSpPr>
          <p:spPr bwMode="auto">
            <a:xfrm>
              <a:off x="2895600" y="2349500"/>
              <a:ext cx="5311775" cy="424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3;}</a:t>
              </a:r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33" y="703578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3975358" y="2758589"/>
            <a:ext cx="6484257" cy="2641600"/>
            <a:chOff x="2920391" y="3364689"/>
            <a:chExt cx="5230187" cy="2640997"/>
          </a:xfrm>
        </p:grpSpPr>
        <p:sp>
          <p:nvSpPr>
            <p:cNvPr id="12" name="TextBox 7"/>
            <p:cNvSpPr txBox="1">
              <a:spLocks noChangeArrowheads="1"/>
            </p:cNvSpPr>
            <p:nvPr/>
          </p:nvSpPr>
          <p:spPr bwMode="auto">
            <a:xfrm>
              <a:off x="2973742" y="3925689"/>
              <a:ext cx="5176836" cy="1938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在上面的样式规则中，选择器用于指定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大括号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是对该对象设置的具体样式。其中，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属性和属性值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的形式出现，用英文“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连接，多个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进行区分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3" name="圆角矩形标注 1"/>
            <p:cNvSpPr/>
            <p:nvPr/>
          </p:nvSpPr>
          <p:spPr bwMode="auto">
            <a:xfrm rot="10800000">
              <a:off x="2920391" y="3364689"/>
              <a:ext cx="5207958" cy="2640997"/>
            </a:xfrm>
            <a:custGeom>
              <a:avLst/>
              <a:gdLst>
                <a:gd name="connsiteX0" fmla="*/ 0 w 5207609"/>
                <a:gd name="connsiteY0" fmla="*/ 391267 h 2347553"/>
                <a:gd name="connsiteX1" fmla="*/ 391267 w 5207609"/>
                <a:gd name="connsiteY1" fmla="*/ 0 h 2347553"/>
                <a:gd name="connsiteX2" fmla="*/ 867935 w 5207609"/>
                <a:gd name="connsiteY2" fmla="*/ 0 h 2347553"/>
                <a:gd name="connsiteX3" fmla="*/ 867935 w 5207609"/>
                <a:gd name="connsiteY3" fmla="*/ 0 h 2347553"/>
                <a:gd name="connsiteX4" fmla="*/ 2169837 w 5207609"/>
                <a:gd name="connsiteY4" fmla="*/ 0 h 2347553"/>
                <a:gd name="connsiteX5" fmla="*/ 4816342 w 5207609"/>
                <a:gd name="connsiteY5" fmla="*/ 0 h 2347553"/>
                <a:gd name="connsiteX6" fmla="*/ 5207609 w 5207609"/>
                <a:gd name="connsiteY6" fmla="*/ 391267 h 2347553"/>
                <a:gd name="connsiteX7" fmla="*/ 5207609 w 5207609"/>
                <a:gd name="connsiteY7" fmla="*/ 1369406 h 2347553"/>
                <a:gd name="connsiteX8" fmla="*/ 5207609 w 5207609"/>
                <a:gd name="connsiteY8" fmla="*/ 1369406 h 2347553"/>
                <a:gd name="connsiteX9" fmla="*/ 5207609 w 5207609"/>
                <a:gd name="connsiteY9" fmla="*/ 1956294 h 2347553"/>
                <a:gd name="connsiteX10" fmla="*/ 5207609 w 5207609"/>
                <a:gd name="connsiteY10" fmla="*/ 1956286 h 2347553"/>
                <a:gd name="connsiteX11" fmla="*/ 4816342 w 5207609"/>
                <a:gd name="connsiteY11" fmla="*/ 2347553 h 2347553"/>
                <a:gd name="connsiteX12" fmla="*/ 2169837 w 5207609"/>
                <a:gd name="connsiteY12" fmla="*/ 2347553 h 2347553"/>
                <a:gd name="connsiteX13" fmla="*/ 1518903 w 5207609"/>
                <a:gd name="connsiteY13" fmla="*/ 2640997 h 2347553"/>
                <a:gd name="connsiteX14" fmla="*/ 867935 w 5207609"/>
                <a:gd name="connsiteY14" fmla="*/ 2347553 h 2347553"/>
                <a:gd name="connsiteX15" fmla="*/ 391267 w 5207609"/>
                <a:gd name="connsiteY15" fmla="*/ 2347553 h 2347553"/>
                <a:gd name="connsiteX16" fmla="*/ 0 w 5207609"/>
                <a:gd name="connsiteY16" fmla="*/ 1956286 h 2347553"/>
                <a:gd name="connsiteX17" fmla="*/ 0 w 5207609"/>
                <a:gd name="connsiteY17" fmla="*/ 1956294 h 2347553"/>
                <a:gd name="connsiteX18" fmla="*/ 0 w 5207609"/>
                <a:gd name="connsiteY18" fmla="*/ 1369406 h 2347553"/>
                <a:gd name="connsiteX19" fmla="*/ 0 w 5207609"/>
                <a:gd name="connsiteY19" fmla="*/ 1369406 h 2347553"/>
                <a:gd name="connsiteX20" fmla="*/ 0 w 5207609"/>
                <a:gd name="connsiteY20" fmla="*/ 391267 h 2347553"/>
                <a:gd name="connsiteX0-1" fmla="*/ 0 w 5207609"/>
                <a:gd name="connsiteY0-2" fmla="*/ 391267 h 2640997"/>
                <a:gd name="connsiteX1-3" fmla="*/ 391267 w 5207609"/>
                <a:gd name="connsiteY1-4" fmla="*/ 0 h 2640997"/>
                <a:gd name="connsiteX2-5" fmla="*/ 867935 w 5207609"/>
                <a:gd name="connsiteY2-6" fmla="*/ 0 h 2640997"/>
                <a:gd name="connsiteX3-7" fmla="*/ 867935 w 5207609"/>
                <a:gd name="connsiteY3-8" fmla="*/ 0 h 2640997"/>
                <a:gd name="connsiteX4-9" fmla="*/ 2169837 w 5207609"/>
                <a:gd name="connsiteY4-10" fmla="*/ 0 h 2640997"/>
                <a:gd name="connsiteX5-11" fmla="*/ 4816342 w 5207609"/>
                <a:gd name="connsiteY5-12" fmla="*/ 0 h 2640997"/>
                <a:gd name="connsiteX6-13" fmla="*/ 5207609 w 5207609"/>
                <a:gd name="connsiteY6-14" fmla="*/ 391267 h 2640997"/>
                <a:gd name="connsiteX7-15" fmla="*/ 5207609 w 5207609"/>
                <a:gd name="connsiteY7-16" fmla="*/ 1369406 h 2640997"/>
                <a:gd name="connsiteX8-17" fmla="*/ 5207609 w 5207609"/>
                <a:gd name="connsiteY8-18" fmla="*/ 1369406 h 2640997"/>
                <a:gd name="connsiteX9-19" fmla="*/ 5207609 w 5207609"/>
                <a:gd name="connsiteY9-20" fmla="*/ 1956294 h 2640997"/>
                <a:gd name="connsiteX10-21" fmla="*/ 5207609 w 5207609"/>
                <a:gd name="connsiteY10-22" fmla="*/ 1956286 h 2640997"/>
                <a:gd name="connsiteX11-23" fmla="*/ 4816342 w 5207609"/>
                <a:gd name="connsiteY11-24" fmla="*/ 2347553 h 2640997"/>
                <a:gd name="connsiteX12-25" fmla="*/ 2169837 w 5207609"/>
                <a:gd name="connsiteY12-26" fmla="*/ 2347553 h 2640997"/>
                <a:gd name="connsiteX13-27" fmla="*/ 1518903 w 5207609"/>
                <a:gd name="connsiteY13-28" fmla="*/ 2640997 h 2640997"/>
                <a:gd name="connsiteX14-29" fmla="*/ 1680735 w 5207609"/>
                <a:gd name="connsiteY14-30" fmla="*/ 2347553 h 2640997"/>
                <a:gd name="connsiteX15-31" fmla="*/ 391267 w 5207609"/>
                <a:gd name="connsiteY15-32" fmla="*/ 2347553 h 2640997"/>
                <a:gd name="connsiteX16-33" fmla="*/ 0 w 5207609"/>
                <a:gd name="connsiteY16-34" fmla="*/ 1956286 h 2640997"/>
                <a:gd name="connsiteX17-35" fmla="*/ 0 w 5207609"/>
                <a:gd name="connsiteY17-36" fmla="*/ 1956294 h 2640997"/>
                <a:gd name="connsiteX18-37" fmla="*/ 0 w 5207609"/>
                <a:gd name="connsiteY18-38" fmla="*/ 1369406 h 2640997"/>
                <a:gd name="connsiteX19-39" fmla="*/ 0 w 5207609"/>
                <a:gd name="connsiteY19-40" fmla="*/ 1369406 h 2640997"/>
                <a:gd name="connsiteX20-41" fmla="*/ 0 w 5207609"/>
                <a:gd name="connsiteY20-42" fmla="*/ 391267 h 26409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5207609" h="2640997">
                  <a:moveTo>
                    <a:pt x="0" y="391267"/>
                  </a:moveTo>
                  <a:cubicBezTo>
                    <a:pt x="0" y="175176"/>
                    <a:pt x="175176" y="0"/>
                    <a:pt x="391267" y="0"/>
                  </a:cubicBezTo>
                  <a:lnTo>
                    <a:pt x="867935" y="0"/>
                  </a:lnTo>
                  <a:lnTo>
                    <a:pt x="867935" y="0"/>
                  </a:lnTo>
                  <a:lnTo>
                    <a:pt x="2169837" y="0"/>
                  </a:lnTo>
                  <a:lnTo>
                    <a:pt x="4816342" y="0"/>
                  </a:lnTo>
                  <a:cubicBezTo>
                    <a:pt x="5032433" y="0"/>
                    <a:pt x="5207609" y="175176"/>
                    <a:pt x="5207609" y="391267"/>
                  </a:cubicBezTo>
                  <a:lnTo>
                    <a:pt x="5207609" y="1369406"/>
                  </a:lnTo>
                  <a:lnTo>
                    <a:pt x="5207609" y="1369406"/>
                  </a:lnTo>
                  <a:lnTo>
                    <a:pt x="5207609" y="1956294"/>
                  </a:lnTo>
                  <a:lnTo>
                    <a:pt x="5207609" y="1956286"/>
                  </a:lnTo>
                  <a:cubicBezTo>
                    <a:pt x="5207609" y="2172377"/>
                    <a:pt x="5032433" y="2347553"/>
                    <a:pt x="4816342" y="2347553"/>
                  </a:cubicBezTo>
                  <a:lnTo>
                    <a:pt x="2169837" y="2347553"/>
                  </a:lnTo>
                  <a:lnTo>
                    <a:pt x="1518903" y="2640997"/>
                  </a:lnTo>
                  <a:lnTo>
                    <a:pt x="1680735" y="2347553"/>
                  </a:lnTo>
                  <a:lnTo>
                    <a:pt x="391267" y="2347553"/>
                  </a:lnTo>
                  <a:cubicBezTo>
                    <a:pt x="175176" y="2347553"/>
                    <a:pt x="0" y="2172377"/>
                    <a:pt x="0" y="1956286"/>
                  </a:cubicBezTo>
                  <a:lnTo>
                    <a:pt x="0" y="1956294"/>
                  </a:lnTo>
                  <a:lnTo>
                    <a:pt x="0" y="1369406"/>
                  </a:lnTo>
                  <a:lnTo>
                    <a:pt x="0" y="1369406"/>
                  </a:lnTo>
                  <a:lnTo>
                    <a:pt x="0" y="391267"/>
                  </a:ln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019175" y="1911243"/>
            <a:ext cx="10333038" cy="3265717"/>
            <a:chOff x="783920" y="1733012"/>
            <a:chExt cx="10332798" cy="3266461"/>
          </a:xfrm>
        </p:grpSpPr>
        <p:sp>
          <p:nvSpPr>
            <p:cNvPr id="7" name="矩形 6"/>
            <p:cNvSpPr/>
            <p:nvPr/>
          </p:nvSpPr>
          <p:spPr>
            <a:xfrm>
              <a:off x="783920" y="2321209"/>
              <a:ext cx="10332798" cy="26782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样式中的选择器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严格区分大小写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，而声明不区分大小写，按照书写习惯一般将选择器、声明都采用小写的方式。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多个属性之间必须用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英文状态下的分号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隔开，最后一个属性后的分号可以省略，但是为了便于增加新样式最好保留。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如果属性的属性值由多个单词组成且中间包含空格，则必须为这个属性值加上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英文状态下的引号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代码时，为了提高代码的可读性，可使用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/*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注释语句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*/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来进行注释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代码中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空格是不被解析的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，花括号以及分号前后的空格可有可无。因此可以使用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空格键、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Tab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键、回车键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等对样式代码进行排版，即所谓的格式化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8" name="矩形 41"/>
            <p:cNvSpPr>
              <a:spLocks noChangeArrowheads="1"/>
            </p:cNvSpPr>
            <p:nvPr/>
          </p:nvSpPr>
          <p:spPr bwMode="auto">
            <a:xfrm>
              <a:off x="4307817" y="1733012"/>
              <a:ext cx="2917718" cy="461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代码结构的特点</a:t>
              </a:r>
              <a:endPara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掌握引入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的四种方式，能够在网页制作中熟练应用。</a:t>
            </a: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样式表的引入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352442" y="3080538"/>
            <a:ext cx="812420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，是通过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来设置元素的样式，其基本语法格式如下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492403" y="4281654"/>
            <a:ext cx="7850479" cy="105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style="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3;"&gt;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4" y="2548693"/>
            <a:ext cx="80495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中，并且用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615149" y="3713647"/>
            <a:ext cx="7737064" cy="24470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选择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3;}</a:t>
            </a: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&lt;/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3" y="2548693"/>
            <a:ext cx="80588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将所有的样式放在一个或多个以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为扩展名的外部样式表文件中，通过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&lt;link /&gt;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将外部样式表文件链接到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文档中，其基本语法格式如下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564294" y="4196555"/>
            <a:ext cx="7787919" cy="16878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type="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text/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="stylesheet" /&gt;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623035" y="2548693"/>
            <a:ext cx="80029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针对外部样式表文件。对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头部文档应用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内的开头处使用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，即可导入外部样式表文件。其基本语法格式如下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750911" y="4174524"/>
            <a:ext cx="7604447" cy="200847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@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/*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在此还可以存放其他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样式*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&lt;/style&gt;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12032" y="847725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03801" y="3481692"/>
            <a:ext cx="3905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四种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基础选择器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的差异，能够在网页制作中熟练应用。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15" name="云形标注 14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2447784" y="2727881"/>
            <a:ext cx="4755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什么是选择器？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4899447" y="2471461"/>
            <a:ext cx="5040312" cy="2725738"/>
            <a:chOff x="3403599" y="2421469"/>
            <a:chExt cx="5040490" cy="2726268"/>
          </a:xfrm>
        </p:grpSpPr>
        <p:sp>
          <p:nvSpPr>
            <p:cNvPr id="12" name="圆角矩形标注 11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6" name="矩形 5"/>
            <p:cNvSpPr>
              <a:spLocks noChangeArrowheads="1"/>
            </p:cNvSpPr>
            <p:nvPr/>
          </p:nvSpPr>
          <p:spPr bwMode="auto">
            <a:xfrm>
              <a:off x="3713626" y="2845272"/>
              <a:ext cx="4439098" cy="1884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要想将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应用于特定的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，首先需要找到该目标元素。在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中，执行这一任务的样式规则部分被称为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器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2615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名称作为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分类，为页面中某一类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指定统一的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3953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（英文点号）进行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.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1" y="3238260"/>
            <a:ext cx="75073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34648" y="3238260"/>
            <a:ext cx="74793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表示，它是所有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中作用范围最广的，能匹配页面中所有的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47459" y="4520998"/>
            <a:ext cx="7195423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*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3-2】CSS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文本样式属性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61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时，我们可以使用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文本样式标签和属性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控制文本内容的显示样式，但是这种方式繁琐且不利于代码的维护。为此，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可以轻松方便的控制内容的显示样式。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文本样式属性包括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文本外观属性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，本节将对这两种属性做详细讲解。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字体样式属性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677171" y="1875453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9" name="矩形 4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677171" y="2475893"/>
            <a:ext cx="8735791" cy="545854"/>
            <a:chOff x="1677171" y="2475893"/>
            <a:chExt cx="8735791" cy="545854"/>
          </a:xfrm>
        </p:grpSpPr>
        <p:sp>
          <p:nvSpPr>
            <p:cNvPr id="37" name="任意多边形 36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5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5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0"/>
                <a:lumOff val="1029"/>
                <a:alphaOff val="-6665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0"/>
                <a:lumOff val="1029"/>
                <a:alphaOff val="-6665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矩形 49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677171" y="3076333"/>
            <a:ext cx="8735791" cy="545854"/>
            <a:chOff x="1677171" y="3076333"/>
            <a:chExt cx="8735791" cy="545854"/>
          </a:xfrm>
        </p:grpSpPr>
        <p:sp>
          <p:nvSpPr>
            <p:cNvPr id="39" name="任意多边形 38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1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1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2"/>
                <a:lumOff val="2057"/>
                <a:alphaOff val="-13331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2"/>
                <a:lumOff val="2057"/>
                <a:alphaOff val="-13331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矩形 50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677171" y="3676774"/>
            <a:ext cx="8735791" cy="545854"/>
            <a:chOff x="1677171" y="3676774"/>
            <a:chExt cx="8735791" cy="545854"/>
          </a:xfrm>
        </p:grpSpPr>
        <p:sp>
          <p:nvSpPr>
            <p:cNvPr id="41" name="任意多边形 40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2" name="矩形 51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677171" y="4277214"/>
            <a:ext cx="8735791" cy="545854"/>
            <a:chOff x="1677171" y="4277214"/>
            <a:chExt cx="8735791" cy="545854"/>
          </a:xfrm>
        </p:grpSpPr>
        <p:sp>
          <p:nvSpPr>
            <p:cNvPr id="43" name="任意多边形 42"/>
            <p:cNvSpPr/>
            <p:nvPr/>
          </p:nvSpPr>
          <p:spPr>
            <a:xfrm>
              <a:off x="1677171" y="427721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26665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26665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731756" y="433180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3738"/>
                <a:satOff val="-165"/>
                <a:lumOff val="4114"/>
                <a:alphaOff val="-26665"/>
              </a:schemeClr>
            </a:fillRef>
            <a:effectRef idx="0">
              <a:schemeClr val="accent2">
                <a:tint val="50000"/>
                <a:alpha val="90000"/>
                <a:hueOff val="3738"/>
                <a:satOff val="-165"/>
                <a:lumOff val="4114"/>
                <a:alphaOff val="-26665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3" name="矩形 52"/>
            <p:cNvSpPr/>
            <p:nvPr/>
          </p:nvSpPr>
          <p:spPr>
            <a:xfrm>
              <a:off x="1731756" y="436547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669957" y="4354509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用于定义字体风格。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677171" y="4877655"/>
            <a:ext cx="8735791" cy="545854"/>
            <a:chOff x="1677171" y="4877655"/>
            <a:chExt cx="8735791" cy="545854"/>
          </a:xfrm>
        </p:grpSpPr>
        <p:sp>
          <p:nvSpPr>
            <p:cNvPr id="45" name="任意多边形 44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1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1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7"/>
                <a:lumOff val="5142"/>
                <a:alphaOff val="-33331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7"/>
                <a:lumOff val="5142"/>
                <a:alphaOff val="-33331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矩形 53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677171" y="5478095"/>
            <a:ext cx="8735791" cy="545854"/>
            <a:chOff x="1677171" y="5478095"/>
            <a:chExt cx="8735791" cy="545854"/>
          </a:xfrm>
        </p:grpSpPr>
        <p:sp>
          <p:nvSpPr>
            <p:cNvPr id="47" name="任意多边形 46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8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8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49"/>
                <a:lumOff val="6171"/>
                <a:alphaOff val="-39998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49"/>
                <a:lumOff val="6171"/>
                <a:alphaOff val="-39998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5" name="矩形 5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font-face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1677171" y="1683138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矩形 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77171" y="3545630"/>
          <a:ext cx="8681205" cy="26400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03767"/>
                <a:gridCol w="6177438"/>
              </a:tblGrid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相对于当前对象内文本的字体尺寸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px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像素，最常用，推荐使用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厘米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毫米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font-size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用于设置字号，该属性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49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font-family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。网页中常用的字体有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宋体、微软雅黑、黑体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77171" y="1683138"/>
            <a:ext cx="8735791" cy="545854"/>
            <a:chOff x="1677171" y="2475893"/>
            <a:chExt cx="8735791" cy="545854"/>
          </a:xfrm>
        </p:grpSpPr>
        <p:sp>
          <p:nvSpPr>
            <p:cNvPr id="14" name="任意多边形 13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5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5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0"/>
                <a:lumOff val="1029"/>
                <a:alphaOff val="-6665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0"/>
                <a:lumOff val="1029"/>
                <a:alphaOff val="-6665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矩形 15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05548" y="3409636"/>
            <a:ext cx="8838432" cy="1011991"/>
            <a:chOff x="1574530" y="3950812"/>
            <a:chExt cx="8838432" cy="1011991"/>
          </a:xfrm>
        </p:grpSpPr>
        <p:sp>
          <p:nvSpPr>
            <p:cNvPr id="2" name="矩形 1"/>
            <p:cNvSpPr/>
            <p:nvPr/>
          </p:nvSpPr>
          <p:spPr>
            <a:xfrm>
              <a:off x="1574530" y="3950812"/>
              <a:ext cx="8735791" cy="458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网页中所有段落文本的字体设置为微软雅黑，可以使用如下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样式代码：</a:t>
              </a:r>
            </a:p>
          </p:txBody>
        </p:sp>
        <p:sp>
          <p:nvSpPr>
            <p:cNvPr id="18" name="矩形 1"/>
            <p:cNvSpPr>
              <a:spLocks noChangeArrowheads="1"/>
            </p:cNvSpPr>
            <p:nvPr/>
          </p:nvSpPr>
          <p:spPr bwMode="auto">
            <a:xfrm>
              <a:off x="1677171" y="4562934"/>
              <a:ext cx="8735791" cy="399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 smtClean="0">
                  <a:solidFill>
                    <a:srgbClr val="595959"/>
                  </a:solidFill>
                </a:rPr>
                <a:t>   p</a:t>
              </a:r>
              <a:r>
                <a:rPr lang="en-US" altLang="zh-CN" sz="2000" dirty="0">
                  <a:solidFill>
                    <a:srgbClr val="595959"/>
                  </a:solidFill>
                </a:rPr>
                <a:t>{ font-family:"</a:t>
              </a:r>
              <a:r>
                <a:rPr lang="zh-CN" altLang="zh-CN" sz="2000" dirty="0">
                  <a:solidFill>
                    <a:srgbClr val="595959"/>
                  </a:solidFill>
                </a:rPr>
                <a:t>微软雅黑</a:t>
              </a:r>
              <a:r>
                <a:rPr lang="en-US" altLang="zh-CN" sz="2000" dirty="0">
                  <a:solidFill>
                    <a:srgbClr val="595959"/>
                  </a:solidFill>
                </a:rPr>
                <a:t>";}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677171" y="1683138"/>
            <a:ext cx="8735791" cy="545854"/>
            <a:chOff x="1677171" y="3076333"/>
            <a:chExt cx="8735791" cy="545854"/>
          </a:xfrm>
        </p:grpSpPr>
        <p:sp>
          <p:nvSpPr>
            <p:cNvPr id="20" name="任意多边形 19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1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1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2"/>
                <a:lumOff val="2057"/>
                <a:alphaOff val="-13331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2"/>
                <a:lumOff val="2057"/>
                <a:alphaOff val="-13331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矩形 21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677170" y="2597678"/>
          <a:ext cx="8735791" cy="3159309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431032"/>
                <a:gridCol w="6304759"/>
              </a:tblGrid>
              <a:tr h="4959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87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默认值。定义标准的字符。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11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定义粗体字符。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463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定义更粗的字符。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8356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lighter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346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100~900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的整数倍）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定义由细到粗的字符。其中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，值越大字体越粗。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font-variant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属性用于设置变体（字体变化），一般用于定义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小型大写字母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，仅对英文字符有效。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595592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421999"/>
            <a:ext cx="8647869" cy="63519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small-caps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小型大写的字体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，即所有的小写字母均会转换为大写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8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4"/>
                <a:lumOff val="3086"/>
                <a:alphaOff val="-19998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用于用于定义字体风格。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用于定义字体风格，如设置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斜体、倾斜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241030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067437"/>
            <a:ext cx="8647869" cy="6631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italic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9" name="_s11273"/>
          <p:cNvSpPr>
            <a:spLocks noChangeArrowheads="1"/>
          </p:cNvSpPr>
          <p:nvPr/>
        </p:nvSpPr>
        <p:spPr bwMode="auto">
          <a:xfrm>
            <a:off x="1746430" y="4910429"/>
            <a:ext cx="8647869" cy="6412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oblique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用于对字体样式进行综合设置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677171" y="1681388"/>
            <a:ext cx="8735791" cy="545854"/>
            <a:chOff x="1677171" y="4877655"/>
            <a:chExt cx="8735791" cy="545854"/>
          </a:xfrm>
        </p:grpSpPr>
        <p:sp>
          <p:nvSpPr>
            <p:cNvPr id="21" name="任意多边形 20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1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1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7"/>
                <a:lumOff val="5142"/>
                <a:alphaOff val="-33331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7"/>
                <a:lumOff val="5142"/>
                <a:alphaOff val="-33331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矩形 22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731756" y="3394487"/>
            <a:ext cx="8791778" cy="961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{font: font-style font-variant font-weight font-size/line-height font-family;}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font-face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的新增属性，用于定义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服务器字体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，开发者可以在用户计算机未安装字体时，使用任何喜欢的字体。</a:t>
            </a:r>
          </a:p>
        </p:txBody>
      </p:sp>
      <p:sp>
        <p:nvSpPr>
          <p:cNvPr id="2" name="矩形 1"/>
          <p:cNvSpPr/>
          <p:nvPr/>
        </p:nvSpPr>
        <p:spPr>
          <a:xfrm>
            <a:off x="1731756" y="3618421"/>
            <a:ext cx="8791778" cy="17054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@font-face{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font-family: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677171" y="1692469"/>
            <a:ext cx="8735791" cy="545854"/>
            <a:chOff x="1677171" y="5478095"/>
            <a:chExt cx="8735791" cy="545854"/>
          </a:xfrm>
        </p:grpSpPr>
        <p:sp>
          <p:nvSpPr>
            <p:cNvPr id="13" name="任意多边形 12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8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8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49"/>
                <a:lumOff val="6171"/>
                <a:alphaOff val="-39998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49"/>
                <a:lumOff val="6171"/>
                <a:alphaOff val="-39998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1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font-face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文本外观属性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019175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15148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11121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07094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2528116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15148" y="2528116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11119" y="2528116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7093" y="2528116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19175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615148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211121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807094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19175" y="313479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615148" y="313479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11119" y="313479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807093" y="3134797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615148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211121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615148" y="373214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11119" y="373214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8637587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属性用于定义文本的颜色，其取值方式有如下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种：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预定义的颜色值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green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blue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#FF0000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#FF6600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#29D794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等。实际工作中，十六进制是最常用的定义颜色的方式。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，如红色可以表示为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(255,0,0)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(100%,0%,0%)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324643"/>
            <a:ext cx="10258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</a:t>
            </a:r>
            <a:r>
              <a:rPr lang="en-US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 </a:t>
            </a:r>
            <a:r>
              <a:rPr lang="zh-CN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代码的百分比颜色值，取值为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时也不能省略百分号，必须写为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0%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13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15" name="矩形 14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十六进制颜色值的缩写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原创设计师QQ598969553          _4"/>
          <p:cNvSpPr/>
          <p:nvPr/>
        </p:nvSpPr>
        <p:spPr>
          <a:xfrm>
            <a:off x="4657571" y="3287097"/>
            <a:ext cx="575539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十六进制颜色值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是由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开头的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位十六进制数值组成，每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为一个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颜色分量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，分别表示颜色的红、绿、蓝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位十六进制数都相同时，可使用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缩写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。例如，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#FF6600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#F60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#FF0000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</a:t>
            </a:r>
            <a:r>
              <a:rPr lang="zh-CN" altLang="en-US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招</a:t>
            </a:r>
            <a:r>
              <a:rPr lang="en-US" altLang="zh-CN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属性用于定义字间距，所谓字间距就是字符与字符之间的空白。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46423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latinLnBrk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，其属性值可为不同单位的数值，允许使用负值，默认为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属性用于定义英文单词之间的间距，对中文字符无效。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用于定义英文单词之间的间距，和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样，其属性值可为不同单位的数值，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允许使用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96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属性用于设置行间距，所谓行间距就是行与行之间的距离，即字符的垂直间距，一般称为行高。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88336"/>
            <a:ext cx="10177560" cy="420756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常用的属性值单位有三种，分别为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相对值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，实际工作中使用最多的是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属性用于控制英文字符的大小写。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：不转换（默认值）。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capitalize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首字母大写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uppercase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转换为小写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下画线，上画线，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删除线等装饰效果。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：没有装饰（正常文本默认值）。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line-through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属性用于设置文本内容水平对齐，相当于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423431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（默认值）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居中对齐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100" y="5060972"/>
            <a:ext cx="101806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</a:t>
            </a:r>
            <a:r>
              <a:rPr lang="zh-CN" altLang="zh-CN" sz="1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1600" b="1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属性仅适用于块级元素，对行内元素无效，关于块元素和行内元素，会在后面章节具体介绍</a:t>
            </a:r>
            <a:r>
              <a:rPr lang="zh-CN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如果需要对图像设置水平对齐，可以为图像添加一个父标签如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&lt;div&gt;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，然后对父标签应用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属性，即可实现图像的水平对齐。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属性用于设置首行文本的缩进。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其属性值可为不同单位的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数值、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字符宽度的倍数、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或相对于浏览器窗口宽度的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，允许使用负值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建议使用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作为设置单位。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1452" y="4584238"/>
            <a:ext cx="10180636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</a:t>
            </a:r>
            <a:r>
              <a:rPr lang="en-US" altLang="zh-CN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text-indent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属性可设置空白符的处理方式。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：常规（默认值），文本中的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空格、空行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无效，满行（到达区域边界）后自动换行。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：预格式化，按文档的书写格式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保留空格、空行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原样显示。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nowrap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：空格空行无效，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强制文本不能换行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，除非遇到换行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。内容超出元素的边界也不换行，若超出浏览器页面则会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自动增加滚动条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属性可以为页面中的文本添加阴影效果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36615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</a:t>
            </a: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半径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阴影颜色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9175" y="3442092"/>
            <a:ext cx="101775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选择器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text-shadow:h-shadow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v-shadow blur color;}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554619"/>
            <a:ext cx="10180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：阴影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的水平或垂直距离参数可以设为负值，但阴影的模糊半径参数只能设置为正值，并且数值越大阴影向外模糊的范围也就越大。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89202" y="1782934"/>
            <a:ext cx="6200775" cy="670560"/>
            <a:chOff x="3863975" y="1743007"/>
            <a:chExt cx="4203285" cy="670560"/>
          </a:xfrm>
        </p:grpSpPr>
        <p:sp>
          <p:nvSpPr>
            <p:cNvPr id="27" name="矩形 2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设置多个阴影叠加效果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原创设计师QQ598969553          _3"/>
          <p:cNvSpPr/>
          <p:nvPr/>
        </p:nvSpPr>
        <p:spPr>
          <a:xfrm>
            <a:off x="1636520" y="2809783"/>
            <a:ext cx="8853458" cy="847817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1791477" y="2988517"/>
            <a:ext cx="857483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阴影叠加的方法非常简单，我们只需设置多组阴影参数，中间用逗号隔开即可。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589864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</a:t>
            </a:r>
            <a:r>
              <a:rPr lang="zh-CN" altLang="en-US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招</a:t>
            </a:r>
            <a:r>
              <a:rPr lang="en-US" altLang="zh-CN" sz="4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9011" y="4031684"/>
            <a:ext cx="8910966" cy="1895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P{ 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font-size:32px;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text-shadow:10px 10px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red,20px 20px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green; </a:t>
            </a:r>
            <a:endParaRPr lang="en-US" altLang="zh-CN" sz="1600" kern="1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/*</a:t>
            </a: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红色和绿色的投影叠加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*/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923977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掌握使用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背景颜色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的方法，能够为网页定义背景颜色。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同侧圆角矩形 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  <p:sp>
        <p:nvSpPr>
          <p:cNvPr id="6" name="_s13317"/>
          <p:cNvSpPr>
            <a:spLocks noChangeArrowheads="1"/>
          </p:cNvSpPr>
          <p:nvPr/>
        </p:nvSpPr>
        <p:spPr bwMode="auto">
          <a:xfrm>
            <a:off x="5837026" y="2227345"/>
            <a:ext cx="5004026" cy="51276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EEE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background-color:背景颜色属性</a:t>
            </a:r>
          </a:p>
        </p:txBody>
      </p:sp>
      <p:grpSp>
        <p:nvGrpSpPr>
          <p:cNvPr id="7" name="Organization Chart 13"/>
          <p:cNvGrpSpPr>
            <a:grpSpLocks noRot="1"/>
          </p:cNvGrpSpPr>
          <p:nvPr/>
        </p:nvGrpSpPr>
        <p:grpSpPr bwMode="auto">
          <a:xfrm>
            <a:off x="1028699" y="2483726"/>
            <a:ext cx="4808327" cy="2335212"/>
            <a:chOff x="1152" y="276"/>
            <a:chExt cx="1281" cy="1385"/>
          </a:xfrm>
        </p:grpSpPr>
        <p:sp>
          <p:nvSpPr>
            <p:cNvPr id="8" name="_s14343"/>
            <p:cNvSpPr>
              <a:spLocks noChangeArrowheads="1"/>
            </p:cNvSpPr>
            <p:nvPr/>
          </p:nvSpPr>
          <p:spPr bwMode="auto">
            <a:xfrm>
              <a:off x="1152" y="509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ACE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，例：red、yellow</a:t>
              </a:r>
            </a:p>
          </p:txBody>
        </p:sp>
        <p:cxnSp>
          <p:nvCxnSpPr>
            <p:cNvPr id="9" name="_s14344"/>
            <p:cNvCxnSpPr>
              <a:cxnSpLocks noChangeShapeType="1"/>
              <a:stCxn id="8" idx="3"/>
            </p:cNvCxnSpPr>
            <p:nvPr/>
          </p:nvCxnSpPr>
          <p:spPr bwMode="auto">
            <a:xfrm flipV="1">
              <a:off x="2170" y="276"/>
              <a:ext cx="263" cy="377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" name="_s14345"/>
            <p:cNvSpPr>
              <a:spLocks noChangeArrowheads="1"/>
            </p:cNvSpPr>
            <p:nvPr/>
          </p:nvSpPr>
          <p:spPr bwMode="auto">
            <a:xfrm>
              <a:off x="1152" y="941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#十六进制色值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，例：#ccc</a:t>
              </a:r>
            </a:p>
          </p:txBody>
        </p:sp>
        <p:cxnSp>
          <p:nvCxnSpPr>
            <p:cNvPr id="11" name="_s14346"/>
            <p:cNvCxnSpPr>
              <a:cxnSpLocks noChangeShapeType="1"/>
              <a:stCxn id="10" idx="3"/>
            </p:cNvCxnSpPr>
            <p:nvPr/>
          </p:nvCxnSpPr>
          <p:spPr bwMode="auto">
            <a:xfrm flipV="1">
              <a:off x="2170" y="276"/>
              <a:ext cx="263" cy="809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" name="_s14347"/>
            <p:cNvSpPr>
              <a:spLocks noChangeArrowheads="1"/>
            </p:cNvSpPr>
            <p:nvPr/>
          </p:nvSpPr>
          <p:spPr bwMode="auto">
            <a:xfrm>
              <a:off x="1152" y="1373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rgb(r,g,b)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，例：rgb(30,0,0)</a:t>
              </a:r>
            </a:p>
          </p:txBody>
        </p:sp>
        <p:cxnSp>
          <p:nvCxnSpPr>
            <p:cNvPr id="13" name="_s14348"/>
            <p:cNvCxnSpPr>
              <a:cxnSpLocks noChangeShapeType="1"/>
              <a:stCxn id="12" idx="3"/>
            </p:cNvCxnSpPr>
            <p:nvPr/>
          </p:nvCxnSpPr>
          <p:spPr bwMode="auto">
            <a:xfrm flipV="1">
              <a:off x="2170" y="276"/>
              <a:ext cx="263" cy="1241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pic>
        <p:nvPicPr>
          <p:cNvPr id="7168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026" y="3165743"/>
            <a:ext cx="5004026" cy="1908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3-3】CSS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高级特性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结构与表现的分离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，解决工作中出现的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调试问题，还需要学习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，下面对这些高级特性进行详细讲解。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复合选择器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的用法，能够在网页中使用复合选择器单独定义元素样式。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复合选择器</a:t>
            </a:r>
            <a:endParaRPr lang="zh-CN" altLang="en-US" sz="2000" dirty="0"/>
          </a:p>
        </p:txBody>
      </p:sp>
      <p:sp>
        <p:nvSpPr>
          <p:cNvPr id="18" name="TextBox 41"/>
          <p:cNvSpPr>
            <a:spLocks noChangeArrowheads="1"/>
          </p:cNvSpPr>
          <p:nvPr/>
        </p:nvSpPr>
        <p:spPr bwMode="auto">
          <a:xfrm>
            <a:off x="1036200" y="1875488"/>
            <a:ext cx="2443162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标签指定选择器</a:t>
            </a:r>
          </a:p>
        </p:txBody>
      </p:sp>
      <p:sp>
        <p:nvSpPr>
          <p:cNvPr id="19" name="TextBox 41"/>
          <p:cNvSpPr>
            <a:spLocks noChangeArrowheads="1"/>
          </p:cNvSpPr>
          <p:nvPr/>
        </p:nvSpPr>
        <p:spPr bwMode="auto">
          <a:xfrm>
            <a:off x="3736537" y="1875488"/>
            <a:ext cx="2487613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后代选择器</a:t>
            </a:r>
          </a:p>
        </p:txBody>
      </p:sp>
      <p:sp>
        <p:nvSpPr>
          <p:cNvPr id="20" name="TextBox 41"/>
          <p:cNvSpPr>
            <a:spLocks noChangeArrowheads="1"/>
          </p:cNvSpPr>
          <p:nvPr/>
        </p:nvSpPr>
        <p:spPr bwMode="auto">
          <a:xfrm>
            <a:off x="6438462" y="1875488"/>
            <a:ext cx="2443163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子代</a:t>
            </a:r>
            <a:r>
              <a:rPr lang="zh-CN" altLang="en-US" sz="1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选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择器</a:t>
            </a:r>
          </a:p>
        </p:txBody>
      </p:sp>
      <p:sp>
        <p:nvSpPr>
          <p:cNvPr id="21" name="折角形 44"/>
          <p:cNvSpPr>
            <a:spLocks noChangeArrowheads="1"/>
          </p:cNvSpPr>
          <p:nvPr/>
        </p:nvSpPr>
        <p:spPr bwMode="auto">
          <a:xfrm>
            <a:off x="1047312" y="2307058"/>
            <a:ext cx="2432050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标签指定式选择器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交集选择器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，由两个选择器构成，其中第一个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，第二个为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选择器，两个选择器之间不能有空格，如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h3.special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p#one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00AC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2" name="折角形 44"/>
          <p:cNvSpPr>
            <a:spLocks noChangeArrowheads="1"/>
          </p:cNvSpPr>
          <p:nvPr/>
        </p:nvSpPr>
        <p:spPr bwMode="auto">
          <a:xfrm>
            <a:off x="3736537" y="2307058"/>
            <a:ext cx="2487613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后代选择器用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选择元素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的后代，其写法就是把</a:t>
            </a: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在前面，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在后面，中间用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空格分隔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嵌套时，</a:t>
            </a:r>
            <a:r>
              <a:rPr lang="zh-CN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后代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00AC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3" name="折角形 44"/>
          <p:cNvSpPr>
            <a:spLocks noChangeArrowheads="1"/>
          </p:cNvSpPr>
          <p:nvPr/>
        </p:nvSpPr>
        <p:spPr bwMode="auto">
          <a:xfrm>
            <a:off x="6438462" y="2307058"/>
            <a:ext cx="2443163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zh-CN" sz="16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</a:t>
            </a:r>
            <a:r>
              <a:rPr lang="zh-CN" alt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选择器用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选择元素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儿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子元素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其写法就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16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父标</a:t>
            </a:r>
            <a:r>
              <a:rPr lang="zh-CN" altLang="en-US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写在前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写在后面，中</a:t>
            </a:r>
            <a:r>
              <a:rPr lang="zh-CN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zh-CN" sz="16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  <a:r>
              <a:rPr lang="zh-CN" altLang="zh-CN" sz="16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00ACE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" name="TextBox 41"/>
          <p:cNvSpPr>
            <a:spLocks noChangeArrowheads="1"/>
          </p:cNvSpPr>
          <p:nvPr/>
        </p:nvSpPr>
        <p:spPr bwMode="auto">
          <a:xfrm>
            <a:off x="9123921" y="1873982"/>
            <a:ext cx="2443163" cy="369332"/>
          </a:xfrm>
          <a:prstGeom prst="rect">
            <a:avLst/>
          </a:prstGeom>
          <a:solidFill>
            <a:srgbClr val="1369B2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并集选择器</a:t>
            </a:r>
          </a:p>
        </p:txBody>
      </p:sp>
      <p:sp>
        <p:nvSpPr>
          <p:cNvPr id="12" name="折角形 44"/>
          <p:cNvSpPr>
            <a:spLocks noChangeArrowheads="1"/>
          </p:cNvSpPr>
          <p:nvPr/>
        </p:nvSpPr>
        <p:spPr bwMode="auto">
          <a:xfrm>
            <a:off x="9123921" y="2305552"/>
            <a:ext cx="2443163" cy="3424238"/>
          </a:xfrm>
          <a:prstGeom prst="foldedCorner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是各个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逗号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连接而成的，任何形式的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都可以作为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的一部分。若某些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定义的样式完全或部分相同，可利用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并集选择器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为它们定义相同的样式</a:t>
            </a:r>
            <a:r>
              <a:rPr lang="zh-CN" altLang="en-US" sz="1600" dirty="0" smtClean="0">
                <a:solidFill>
                  <a:srgbClr val="595959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34742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47818" y="3360391"/>
            <a:ext cx="38773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层叠性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的特点，能够合理使用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层叠性，避免代码冗余。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继承性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的用法，能够列举具有继承性的元素。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2329089" y="2097574"/>
            <a:ext cx="3173413" cy="3386138"/>
            <a:chOff x="803720" y="2349446"/>
            <a:chExt cx="3172816" cy="3386869"/>
          </a:xfrm>
        </p:grpSpPr>
        <p:grpSp>
          <p:nvGrpSpPr>
            <p:cNvPr id="10" name="组合 99"/>
            <p:cNvGrpSpPr/>
            <p:nvPr/>
          </p:nvGrpSpPr>
          <p:grpSpPr bwMode="auto">
            <a:xfrm>
              <a:off x="803720" y="2349446"/>
              <a:ext cx="3172816" cy="3386869"/>
              <a:chOff x="816420" y="2285946"/>
              <a:chExt cx="3172816" cy="3386869"/>
            </a:xfrm>
          </p:grpSpPr>
          <p:sp>
            <p:nvSpPr>
              <p:cNvPr id="15" name="同侧圆角矩形 14"/>
              <p:cNvSpPr/>
              <p:nvPr/>
            </p:nvSpPr>
            <p:spPr>
              <a:xfrm>
                <a:off x="816420" y="2285946"/>
                <a:ext cx="3172816" cy="2369061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ln>
                <a:solidFill>
                  <a:srgbClr val="0075CC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任意多边形 16"/>
              <p:cNvSpPr/>
              <p:nvPr/>
            </p:nvSpPr>
            <p:spPr>
              <a:xfrm>
                <a:off x="816420" y="4655007"/>
                <a:ext cx="3172816" cy="1017808"/>
              </a:xfrm>
              <a:custGeom>
                <a:avLst/>
                <a:gdLst>
                  <a:gd name="connsiteX0" fmla="*/ 0 w 3172816"/>
                  <a:gd name="connsiteY0" fmla="*/ 0 h 1018429"/>
                  <a:gd name="connsiteX1" fmla="*/ 3172816 w 3172816"/>
                  <a:gd name="connsiteY1" fmla="*/ 0 h 1018429"/>
                  <a:gd name="connsiteX2" fmla="*/ 3172816 w 3172816"/>
                  <a:gd name="connsiteY2" fmla="*/ 1018429 h 1018429"/>
                  <a:gd name="connsiteX3" fmla="*/ 0 w 3172816"/>
                  <a:gd name="connsiteY3" fmla="*/ 1018429 h 1018429"/>
                  <a:gd name="connsiteX4" fmla="*/ 0 w 3172816"/>
                  <a:gd name="connsiteY4" fmla="*/ 0 h 1018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2816" h="1018429">
                    <a:moveTo>
                      <a:pt x="0" y="0"/>
                    </a:moveTo>
                    <a:lnTo>
                      <a:pt x="3172816" y="0"/>
                    </a:lnTo>
                    <a:lnTo>
                      <a:pt x="3172816" y="1018429"/>
                    </a:lnTo>
                    <a:lnTo>
                      <a:pt x="0" y="101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5CC"/>
              </a:solidFill>
              <a:ln>
                <a:solidFill>
                  <a:srgbClr val="0075CC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20989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</p:grpSp>
        <p:sp>
          <p:nvSpPr>
            <p:cNvPr id="13" name="矩形 100"/>
            <p:cNvSpPr>
              <a:spLocks noChangeArrowheads="1"/>
            </p:cNvSpPr>
            <p:nvPr/>
          </p:nvSpPr>
          <p:spPr bwMode="auto">
            <a:xfrm>
              <a:off x="820055" y="2508736"/>
              <a:ext cx="3155045" cy="10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所谓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层叠性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是指多种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样式的叠加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/>
            </a:p>
          </p:txBody>
        </p:sp>
        <p:sp>
          <p:nvSpPr>
            <p:cNvPr id="14" name="矩形 101"/>
            <p:cNvSpPr>
              <a:spLocks noChangeArrowheads="1"/>
            </p:cNvSpPr>
            <p:nvPr/>
          </p:nvSpPr>
          <p:spPr bwMode="auto">
            <a:xfrm>
              <a:off x="1355026" y="4824301"/>
              <a:ext cx="203132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层叠性</a:t>
              </a:r>
              <a:endParaRPr lang="zh-CN" altLang="en-US" sz="48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6496277" y="2097574"/>
            <a:ext cx="3173412" cy="3386138"/>
            <a:chOff x="4932553" y="2349446"/>
            <a:chExt cx="3172816" cy="3386869"/>
          </a:xfrm>
        </p:grpSpPr>
        <p:grpSp>
          <p:nvGrpSpPr>
            <p:cNvPr id="19" name="组合 98"/>
            <p:cNvGrpSpPr/>
            <p:nvPr/>
          </p:nvGrpSpPr>
          <p:grpSpPr bwMode="auto">
            <a:xfrm>
              <a:off x="4932553" y="2349446"/>
              <a:ext cx="3172816" cy="3386869"/>
              <a:chOff x="4526153" y="2285946"/>
              <a:chExt cx="3172816" cy="3386869"/>
            </a:xfrm>
          </p:grpSpPr>
          <p:sp>
            <p:nvSpPr>
              <p:cNvPr id="22" name="同侧圆角矩形 21"/>
              <p:cNvSpPr/>
              <p:nvPr/>
            </p:nvSpPr>
            <p:spPr>
              <a:xfrm>
                <a:off x="4526153" y="2285946"/>
                <a:ext cx="3172816" cy="2369061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ln>
                <a:solidFill>
                  <a:srgbClr val="1369B2"/>
                </a:solidFill>
              </a:ln>
            </p:spPr>
            <p:style>
              <a:lnRef idx="2">
                <a:schemeClr val="accent4">
                  <a:hueOff val="1856823"/>
                  <a:satOff val="-56408"/>
                  <a:lumOff val="18628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3" name="任意多边形 22"/>
              <p:cNvSpPr/>
              <p:nvPr/>
            </p:nvSpPr>
            <p:spPr>
              <a:xfrm>
                <a:off x="4526153" y="4655007"/>
                <a:ext cx="3172816" cy="1017808"/>
              </a:xfrm>
              <a:custGeom>
                <a:avLst/>
                <a:gdLst>
                  <a:gd name="connsiteX0" fmla="*/ 0 w 3172816"/>
                  <a:gd name="connsiteY0" fmla="*/ 0 h 1018429"/>
                  <a:gd name="connsiteX1" fmla="*/ 3172816 w 3172816"/>
                  <a:gd name="connsiteY1" fmla="*/ 0 h 1018429"/>
                  <a:gd name="connsiteX2" fmla="*/ 3172816 w 3172816"/>
                  <a:gd name="connsiteY2" fmla="*/ 1018429 h 1018429"/>
                  <a:gd name="connsiteX3" fmla="*/ 0 w 3172816"/>
                  <a:gd name="connsiteY3" fmla="*/ 1018429 h 1018429"/>
                  <a:gd name="connsiteX4" fmla="*/ 0 w 3172816"/>
                  <a:gd name="connsiteY4" fmla="*/ 0 h 1018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2816" h="1018429">
                    <a:moveTo>
                      <a:pt x="0" y="0"/>
                    </a:moveTo>
                    <a:lnTo>
                      <a:pt x="3172816" y="0"/>
                    </a:lnTo>
                    <a:lnTo>
                      <a:pt x="3172816" y="1018429"/>
                    </a:lnTo>
                    <a:lnTo>
                      <a:pt x="0" y="101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369B2"/>
              </a:solidFill>
              <a:ln>
                <a:solidFill>
                  <a:srgbClr val="1369B2"/>
                </a:solidFill>
              </a:ln>
            </p:spPr>
            <p:style>
              <a:lnRef idx="2">
                <a:schemeClr val="accent4">
                  <a:hueOff val="1856823"/>
                  <a:satOff val="-56408"/>
                  <a:lumOff val="18628"/>
                  <a:alphaOff val="0"/>
                </a:schemeClr>
              </a:lnRef>
              <a:fillRef idx="1">
                <a:schemeClr val="accent4">
                  <a:hueOff val="1856823"/>
                  <a:satOff val="-56408"/>
                  <a:lumOff val="18628"/>
                  <a:alphaOff val="0"/>
                </a:schemeClr>
              </a:fillRef>
              <a:effectRef idx="0">
                <a:schemeClr val="accent4">
                  <a:hueOff val="1856823"/>
                  <a:satOff val="-56408"/>
                  <a:lumOff val="1862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20989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</p:grpSp>
        <p:sp>
          <p:nvSpPr>
            <p:cNvPr id="20" name="矩形 104"/>
            <p:cNvSpPr>
              <a:spLocks noChangeArrowheads="1"/>
            </p:cNvSpPr>
            <p:nvPr/>
          </p:nvSpPr>
          <p:spPr bwMode="auto">
            <a:xfrm>
              <a:off x="5024327" y="2491403"/>
              <a:ext cx="3048000" cy="1939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所谓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继承性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是指书写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表时，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某些样式，如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文本颜色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字号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/>
            </a:p>
          </p:txBody>
        </p:sp>
        <p:sp>
          <p:nvSpPr>
            <p:cNvPr id="21" name="矩形 105"/>
            <p:cNvSpPr>
              <a:spLocks noChangeArrowheads="1"/>
            </p:cNvSpPr>
            <p:nvPr/>
          </p:nvSpPr>
          <p:spPr bwMode="auto">
            <a:xfrm>
              <a:off x="5519964" y="4824301"/>
              <a:ext cx="203132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继承性</a:t>
              </a:r>
              <a:endParaRPr lang="zh-CN" altLang="en-US" sz="48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pic>
        <p:nvPicPr>
          <p:cNvPr id="24" name="Picture 6" descr="注意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758" y="1847330"/>
            <a:ext cx="3354388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4672825" y="2144810"/>
            <a:ext cx="5656263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并不是所有的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属性都可以继承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例如，下面的属性就不具有继承性：</a:t>
            </a:r>
          </a:p>
        </p:txBody>
      </p:sp>
      <p:sp>
        <p:nvSpPr>
          <p:cNvPr id="26" name="虚尾箭头 28"/>
          <p:cNvSpPr>
            <a:spLocks noChangeArrowheads="1"/>
          </p:cNvSpPr>
          <p:nvPr/>
        </p:nvSpPr>
        <p:spPr bwMode="auto">
          <a:xfrm>
            <a:off x="4798238" y="3429098"/>
            <a:ext cx="450850" cy="41116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493563" y="343541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</a:p>
        </p:txBody>
      </p:sp>
      <p:sp>
        <p:nvSpPr>
          <p:cNvPr id="28" name="虚尾箭头 28"/>
          <p:cNvSpPr>
            <a:spLocks noChangeArrowheads="1"/>
          </p:cNvSpPr>
          <p:nvPr/>
        </p:nvSpPr>
        <p:spPr bwMode="auto">
          <a:xfrm>
            <a:off x="4796650" y="4168873"/>
            <a:ext cx="452438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5493563" y="415299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虚尾箭头 28"/>
          <p:cNvSpPr>
            <a:spLocks noChangeArrowheads="1"/>
          </p:cNvSpPr>
          <p:nvPr/>
        </p:nvSpPr>
        <p:spPr bwMode="auto">
          <a:xfrm>
            <a:off x="4796650" y="4830860"/>
            <a:ext cx="452438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 cap="flat" cmpd="sng">
            <a:noFill/>
            <a:miter lim="800000"/>
          </a:ln>
          <a:effectLst/>
        </p:spPr>
        <p:txBody>
          <a:bodyPr lIns="90170" tIns="46990" rIns="90170" bIns="4699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5493563" y="4833212"/>
            <a:ext cx="20272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7868463" y="3440974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868463" y="4159348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布局属性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7868463" y="4838768"/>
            <a:ext cx="2028825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元素宽高属性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层叠性与继承性</a:t>
            </a:r>
            <a:endParaRPr lang="zh-CN" altLang="en-US" sz="2000" dirty="0"/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4672825" y="2144810"/>
            <a:ext cx="565626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具有继承性</a:t>
            </a:r>
            <a:r>
              <a:rPr lang="zh-CN" altLang="zh-CN" sz="20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</a:t>
            </a:r>
            <a:r>
              <a:rPr lang="zh-CN" altLang="zh-CN" sz="20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虚尾箭头 28"/>
          <p:cNvSpPr>
            <a:spLocks noChangeArrowheads="1"/>
          </p:cNvSpPr>
          <p:nvPr/>
        </p:nvSpPr>
        <p:spPr bwMode="auto">
          <a:xfrm>
            <a:off x="4798238" y="3429098"/>
            <a:ext cx="450850" cy="411162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493563" y="343541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虚尾箭头 28"/>
          <p:cNvSpPr>
            <a:spLocks noChangeArrowheads="1"/>
          </p:cNvSpPr>
          <p:nvPr/>
        </p:nvSpPr>
        <p:spPr bwMode="auto">
          <a:xfrm>
            <a:off x="4796650" y="4168873"/>
            <a:ext cx="452438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75CC"/>
          </a:solidFill>
          <a:ln w="19050">
            <a:noFill/>
            <a:miter lim="800000"/>
          </a:ln>
          <a:effectLst/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5493563" y="4152998"/>
            <a:ext cx="2063750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ine-height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7868463" y="3440974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ont-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7868463" y="4159348"/>
            <a:ext cx="2065337" cy="400110"/>
          </a:xfrm>
          <a:prstGeom prst="rect">
            <a:avLst/>
          </a:prstGeom>
          <a:solidFill>
            <a:srgbClr val="0075CC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ext-</a:t>
            </a:r>
            <a:endParaRPr lang="zh-CN" altLang="en-US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015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34742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47818" y="3360391"/>
            <a:ext cx="387732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各类选择器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优先级的顺序，能够合理使用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优先级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，单独控制网页某个模块。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1392400" y="1701800"/>
            <a:ext cx="9373572" cy="1463674"/>
            <a:chOff x="1" y="2194626"/>
            <a:chExt cx="9372748" cy="1462974"/>
          </a:xfrm>
        </p:grpSpPr>
        <p:sp>
          <p:nvSpPr>
            <p:cNvPr id="10" name="矩形 9"/>
            <p:cNvSpPr/>
            <p:nvPr/>
          </p:nvSpPr>
          <p:spPr bwMode="auto">
            <a:xfrm>
              <a:off x="1" y="2194626"/>
              <a:ext cx="9372748" cy="14629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32494" y="2397826"/>
              <a:ext cx="762571" cy="112007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4" name="矩形 2"/>
            <p:cNvSpPr>
              <a:spLocks noChangeArrowheads="1"/>
            </p:cNvSpPr>
            <p:nvPr/>
          </p:nvSpPr>
          <p:spPr bwMode="auto">
            <a:xfrm>
              <a:off x="1006420" y="2881589"/>
              <a:ext cx="6716511" cy="466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网页制作时，对统一元素，应用不同的背景，会出现什么情况？</a:t>
              </a:r>
            </a:p>
          </p:txBody>
        </p:sp>
        <p:sp>
          <p:nvSpPr>
            <p:cNvPr id="15" name="矩形 49"/>
            <p:cNvSpPr>
              <a:spLocks noChangeArrowheads="1"/>
            </p:cNvSpPr>
            <p:nvPr/>
          </p:nvSpPr>
          <p:spPr bwMode="auto">
            <a:xfrm>
              <a:off x="985762" y="2345743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</a:t>
              </a:r>
              <a:endParaRPr lang="zh-CN" altLang="en-US" sz="2400" b="1" dirty="0">
                <a:solidFill>
                  <a:srgbClr val="595959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433675" y="3963739"/>
            <a:ext cx="1612900" cy="1612900"/>
            <a:chOff x="5611812" y="2345743"/>
            <a:chExt cx="1743274" cy="1743274"/>
          </a:xfrm>
        </p:grpSpPr>
        <p:sp>
          <p:nvSpPr>
            <p:cNvPr id="18" name="任意多边形 17"/>
            <p:cNvSpPr/>
            <p:nvPr/>
          </p:nvSpPr>
          <p:spPr>
            <a:xfrm>
              <a:off x="5611812" y="2345743"/>
              <a:ext cx="1743274" cy="1743274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595959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eaLnBrk="1" hangingPunct="1">
                <a:defRPr/>
              </a:pPr>
              <a:endParaRPr lang="zh-CN" altLang="en-US" sz="1600" dirty="0"/>
            </a:p>
          </p:txBody>
        </p:sp>
        <p:sp>
          <p:nvSpPr>
            <p:cNvPr id="19" name="矩形 54"/>
            <p:cNvSpPr>
              <a:spLocks noChangeArrowheads="1"/>
            </p:cNvSpPr>
            <p:nvPr/>
          </p:nvSpPr>
          <p:spPr bwMode="auto">
            <a:xfrm>
              <a:off x="5748430" y="2835348"/>
              <a:ext cx="1543156" cy="765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en-US" altLang="zh-CN" sz="1600">
                  <a:solidFill>
                    <a:schemeClr val="bg1"/>
                  </a:solidFill>
                </a:rPr>
                <a:t>background-color:pink;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3650765" y="3963739"/>
            <a:ext cx="1611312" cy="1612900"/>
            <a:chOff x="5611812" y="2345743"/>
            <a:chExt cx="1743274" cy="1743274"/>
          </a:xfrm>
        </p:grpSpPr>
        <p:sp>
          <p:nvSpPr>
            <p:cNvPr id="21" name="任意多边形 20"/>
            <p:cNvSpPr/>
            <p:nvPr/>
          </p:nvSpPr>
          <p:spPr>
            <a:xfrm>
              <a:off x="5611812" y="2345743"/>
              <a:ext cx="1743274" cy="1743274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0075CC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eaLnBrk="1" hangingPunct="1">
                <a:defRPr/>
              </a:pPr>
              <a:endParaRPr lang="zh-CN" altLang="en-US" sz="1600" dirty="0"/>
            </a:p>
          </p:txBody>
        </p:sp>
        <p:sp>
          <p:nvSpPr>
            <p:cNvPr id="22" name="矩形 58"/>
            <p:cNvSpPr>
              <a:spLocks noChangeArrowheads="1"/>
            </p:cNvSpPr>
            <p:nvPr/>
          </p:nvSpPr>
          <p:spPr bwMode="auto">
            <a:xfrm>
              <a:off x="5748430" y="2835348"/>
              <a:ext cx="1543155" cy="765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en-US" altLang="zh-CN" sz="1600">
                  <a:solidFill>
                    <a:schemeClr val="bg1"/>
                  </a:solidFill>
                </a:rPr>
                <a:t>background-color:blue;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5902003" y="3963739"/>
            <a:ext cx="1612900" cy="1612900"/>
            <a:chOff x="5611812" y="2345743"/>
            <a:chExt cx="1743274" cy="1743274"/>
          </a:xfrm>
        </p:grpSpPr>
        <p:sp>
          <p:nvSpPr>
            <p:cNvPr id="24" name="任意多边形 23"/>
            <p:cNvSpPr/>
            <p:nvPr/>
          </p:nvSpPr>
          <p:spPr>
            <a:xfrm>
              <a:off x="5611812" y="2345743"/>
              <a:ext cx="1743274" cy="1743274"/>
            </a:xfrm>
            <a:custGeom>
              <a:avLst/>
              <a:gdLst>
                <a:gd name="connsiteX0" fmla="*/ 0 w 4060031"/>
                <a:gd name="connsiteY0" fmla="*/ 2030016 h 4060031"/>
                <a:gd name="connsiteX1" fmla="*/ 2030016 w 4060031"/>
                <a:gd name="connsiteY1" fmla="*/ 0 h 4060031"/>
                <a:gd name="connsiteX2" fmla="*/ 4060032 w 4060031"/>
                <a:gd name="connsiteY2" fmla="*/ 2030016 h 4060031"/>
                <a:gd name="connsiteX3" fmla="*/ 2030016 w 4060031"/>
                <a:gd name="connsiteY3" fmla="*/ 4060032 h 4060031"/>
                <a:gd name="connsiteX4" fmla="*/ 0 w 4060031"/>
                <a:gd name="connsiteY4" fmla="*/ 2030016 h 406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031" h="4060031">
                  <a:moveTo>
                    <a:pt x="0" y="2030016"/>
                  </a:moveTo>
                  <a:cubicBezTo>
                    <a:pt x="0" y="908869"/>
                    <a:pt x="908869" y="0"/>
                    <a:pt x="2030016" y="0"/>
                  </a:cubicBezTo>
                  <a:cubicBezTo>
                    <a:pt x="3151163" y="0"/>
                    <a:pt x="4060032" y="908869"/>
                    <a:pt x="4060032" y="2030016"/>
                  </a:cubicBezTo>
                  <a:cubicBezTo>
                    <a:pt x="4060032" y="3151163"/>
                    <a:pt x="3151163" y="4060032"/>
                    <a:pt x="2030016" y="4060032"/>
                  </a:cubicBezTo>
                  <a:cubicBezTo>
                    <a:pt x="908869" y="4060032"/>
                    <a:pt x="0" y="3151163"/>
                    <a:pt x="0" y="2030016"/>
                  </a:cubicBezTo>
                  <a:close/>
                </a:path>
              </a:pathLst>
            </a:custGeom>
            <a:solidFill>
              <a:srgbClr val="1369B2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677128" tIns="677128" rIns="677128" bIns="677128" spcCol="1270" anchor="ctr"/>
            <a:lstStyle/>
            <a:p>
              <a:pPr eaLnBrk="1" hangingPunct="1">
                <a:defRPr/>
              </a:pPr>
              <a:endParaRPr lang="zh-CN" altLang="en-US" sz="1600" dirty="0"/>
            </a:p>
          </p:txBody>
        </p:sp>
        <p:sp>
          <p:nvSpPr>
            <p:cNvPr id="25" name="矩形 61"/>
            <p:cNvSpPr>
              <a:spLocks noChangeArrowheads="1"/>
            </p:cNvSpPr>
            <p:nvPr/>
          </p:nvSpPr>
          <p:spPr bwMode="auto">
            <a:xfrm>
              <a:off x="5748430" y="2835348"/>
              <a:ext cx="1543156" cy="765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en-US" altLang="zh-CN" sz="1600" dirty="0" err="1">
                  <a:solidFill>
                    <a:schemeClr val="bg1"/>
                  </a:solidFill>
                </a:rPr>
                <a:t>background-color:red</a:t>
              </a:r>
              <a:r>
                <a:rPr lang="en-US" altLang="zh-CN" sz="1600" dirty="0">
                  <a:solidFill>
                    <a:schemeClr val="bg1"/>
                  </a:solidFill>
                </a:rPr>
                <a:t>;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 bwMode="auto">
          <a:xfrm>
            <a:off x="8089447" y="3594407"/>
            <a:ext cx="2676525" cy="2413000"/>
            <a:chOff x="1133281" y="3933958"/>
            <a:chExt cx="2676319" cy="2413337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242811" y="4118134"/>
              <a:ext cx="2465197" cy="952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矩形 33"/>
            <p:cNvSpPr>
              <a:spLocks noChangeArrowheads="1"/>
            </p:cNvSpPr>
            <p:nvPr/>
          </p:nvSpPr>
          <p:spPr bwMode="auto">
            <a:xfrm>
              <a:off x="2016095" y="3933958"/>
              <a:ext cx="936103" cy="36938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>
                  <a:solidFill>
                    <a:srgbClr val="0075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sz="1800">
                  <a:solidFill>
                    <a:srgbClr val="0075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 sz="1800">
                  <a:solidFill>
                    <a:srgbClr val="0075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 sz="1800">
                <a:solidFill>
                  <a:srgbClr val="0075CC"/>
                </a:solidFill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1280908" y="6347295"/>
              <a:ext cx="2465197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TextBox 35"/>
            <p:cNvSpPr txBox="1">
              <a:spLocks noChangeArrowheads="1"/>
            </p:cNvSpPr>
            <p:nvPr/>
          </p:nvSpPr>
          <p:spPr bwMode="auto">
            <a:xfrm>
              <a:off x="1133281" y="4455190"/>
              <a:ext cx="2676319" cy="1754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样式时，经常出现两个或更多规则应用在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同一元素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上，这时就会出现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优先级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的问题。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974725" y="1421233"/>
            <a:ext cx="23383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来看一个例子：</a:t>
            </a:r>
          </a:p>
        </p:txBody>
      </p:sp>
      <p:grpSp>
        <p:nvGrpSpPr>
          <p:cNvPr id="33" name="组合 32"/>
          <p:cNvGrpSpPr/>
          <p:nvPr/>
        </p:nvGrpSpPr>
        <p:grpSpPr bwMode="auto">
          <a:xfrm>
            <a:off x="952500" y="2167358"/>
            <a:ext cx="10507662" cy="3980672"/>
            <a:chOff x="271778" y="2614347"/>
            <a:chExt cx="10508488" cy="3980665"/>
          </a:xfrm>
        </p:grpSpPr>
        <p:sp>
          <p:nvSpPr>
            <p:cNvPr id="34" name="矩形 33"/>
            <p:cNvSpPr/>
            <p:nvPr/>
          </p:nvSpPr>
          <p:spPr>
            <a:xfrm>
              <a:off x="387674" y="2614347"/>
              <a:ext cx="10392592" cy="1089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&lt;p class="father" id="header" &gt;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600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&lt;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strong class="blue"&gt;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文本的颜色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&lt;/strong&gt;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&lt;/p&gt;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65448" y="4348704"/>
              <a:ext cx="10414818" cy="2246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 strong{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color:black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              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:1+1*/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strong.blue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color:green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       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:1+10*/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.father strong{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color:yellow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    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:10+1*/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p.father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strong{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color:orange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:1+10+1*/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p.father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.blue{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color:gold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      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:1+10+10*/ 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#header strong{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color:pink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      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:100+1*/ 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#header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strong.blue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 </a:t>
              </a:r>
              <a:r>
                <a:rPr lang="en-US" altLang="zh-CN" sz="1600" dirty="0" err="1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color:red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;}                    /*</a:t>
              </a:r>
              <a:r>
                <a:rPr lang="zh-CN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权重为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:100+1+10*/</a:t>
              </a:r>
              <a:endParaRPr lang="zh-CN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70"/>
            <p:cNvSpPr>
              <a:spLocks noChangeArrowheads="1"/>
            </p:cNvSpPr>
            <p:nvPr/>
          </p:nvSpPr>
          <p:spPr bwMode="auto">
            <a:xfrm>
              <a:off x="271778" y="3759509"/>
              <a:ext cx="2339286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对应的权重值：</a:t>
              </a:r>
              <a:endParaRPr lang="zh-CN" altLang="en-US" b="1" dirty="0">
                <a:solidFill>
                  <a:srgbClr val="1369B2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068387" y="6213442"/>
            <a:ext cx="101806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</a:t>
            </a:r>
            <a:r>
              <a:rPr lang="zh-CN" altLang="en-US" sz="1600" kern="1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意 ：继承的属性权重为</a:t>
            </a:r>
            <a:r>
              <a:rPr lang="en-US" altLang="zh-CN" sz="1600" kern="1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10" y="866390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3710134" y="2119617"/>
            <a:ext cx="7327982" cy="3495675"/>
            <a:chOff x="2968977" y="2386253"/>
            <a:chExt cx="7327033" cy="3495257"/>
          </a:xfrm>
        </p:grpSpPr>
        <p:sp>
          <p:nvSpPr>
            <p:cNvPr id="12" name="矩形 1"/>
            <p:cNvSpPr>
              <a:spLocks noChangeArrowheads="1"/>
            </p:cNvSpPr>
            <p:nvPr/>
          </p:nvSpPr>
          <p:spPr bwMode="auto">
            <a:xfrm>
              <a:off x="3288752" y="3817272"/>
              <a:ext cx="6848656" cy="1705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继承样式的权重为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行内样式优先。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权重相同时，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遵循就近原则。</a:t>
              </a:r>
            </a:p>
            <a:p>
              <a:pPr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定义了一个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!important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命令，该命令被赋予最大的优先级。</a:t>
              </a:r>
            </a:p>
          </p:txBody>
        </p:sp>
        <p:sp>
          <p:nvSpPr>
            <p:cNvPr id="13" name="矩形 2"/>
            <p:cNvSpPr>
              <a:spLocks noChangeArrowheads="1"/>
            </p:cNvSpPr>
            <p:nvPr/>
          </p:nvSpPr>
          <p:spPr bwMode="auto">
            <a:xfrm>
              <a:off x="3289380" y="2812898"/>
              <a:ext cx="6260276" cy="1015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在考虑权重时，初学者还需要注意一些特殊的情况，具体如下：</a:t>
              </a:r>
            </a:p>
          </p:txBody>
        </p:sp>
        <p:sp>
          <p:nvSpPr>
            <p:cNvPr id="14" name="圆角矩形 13"/>
            <p:cNvSpPr/>
            <p:nvPr/>
          </p:nvSpPr>
          <p:spPr bwMode="auto">
            <a:xfrm>
              <a:off x="2968977" y="2386253"/>
              <a:ext cx="7327033" cy="3495257"/>
            </a:xfrm>
            <a:prstGeom prst="roundRec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58" y="0"/>
            <a:ext cx="9025194" cy="6825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60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91" y="0"/>
            <a:ext cx="9521923" cy="685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91" y="152400"/>
            <a:ext cx="9521923" cy="685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55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endParaRPr lang="zh-CN" altLang="en-US" sz="2000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308" y="0"/>
            <a:ext cx="8843824" cy="691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453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3-4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】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页面建设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准备工作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1019175" y="1089058"/>
            <a:ext cx="1943101" cy="5791200"/>
            <a:chOff x="-508" y="1320144"/>
            <a:chExt cx="1944216" cy="4554353"/>
          </a:xfrm>
        </p:grpSpPr>
        <p:sp>
          <p:nvSpPr>
            <p:cNvPr id="13" name="矩形 12"/>
            <p:cNvSpPr/>
            <p:nvPr/>
          </p:nvSpPr>
          <p:spPr>
            <a:xfrm>
              <a:off x="-508" y="1320144"/>
              <a:ext cx="1944216" cy="4554353"/>
            </a:xfrm>
            <a:prstGeom prst="rect">
              <a:avLst/>
            </a:prstGeom>
            <a:gradFill>
              <a:gsLst>
                <a:gs pos="48000">
                  <a:srgbClr val="8FE2FF"/>
                </a:gs>
                <a:gs pos="100000">
                  <a:srgbClr val="D1F7F4">
                    <a:alpha val="0"/>
                  </a:srgbClr>
                </a:gs>
                <a:gs pos="0">
                  <a:srgbClr val="D1F7F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8"/>
            <p:cNvSpPr>
              <a:spLocks noChangeArrowheads="1"/>
            </p:cNvSpPr>
            <p:nvPr/>
          </p:nvSpPr>
          <p:spPr bwMode="auto">
            <a:xfrm>
              <a:off x="365996" y="1549283"/>
              <a:ext cx="615906" cy="284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网站项目</a:t>
              </a:r>
            </a:p>
          </p:txBody>
        </p:sp>
        <p:sp>
          <p:nvSpPr>
            <p:cNvPr id="15" name="矩形 9"/>
            <p:cNvSpPr>
              <a:spLocks noChangeArrowheads="1"/>
            </p:cNvSpPr>
            <p:nvPr/>
          </p:nvSpPr>
          <p:spPr bwMode="auto">
            <a:xfrm>
              <a:off x="1061912" y="2283307"/>
              <a:ext cx="554316" cy="273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网上花店”专题页制作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7309128" y="2313792"/>
            <a:ext cx="4147037" cy="2671763"/>
            <a:chOff x="4851400" y="1971912"/>
            <a:chExt cx="4147037" cy="2671826"/>
          </a:xfrm>
        </p:grpSpPr>
        <p:sp>
          <p:nvSpPr>
            <p:cNvPr id="18" name="椭圆形标注 17"/>
            <p:cNvSpPr/>
            <p:nvPr/>
          </p:nvSpPr>
          <p:spPr bwMode="auto">
            <a:xfrm>
              <a:off x="4851400" y="1971912"/>
              <a:ext cx="3987800" cy="2671826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4"/>
            <p:cNvSpPr>
              <a:spLocks noChangeArrowheads="1"/>
            </p:cNvSpPr>
            <p:nvPr/>
          </p:nvSpPr>
          <p:spPr bwMode="auto">
            <a:xfrm>
              <a:off x="4863972" y="2494536"/>
              <a:ext cx="4134465" cy="1385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该</a:t>
              </a:r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怎样制作一个</a:t>
              </a:r>
              <a:endParaRPr lang="en-US" altLang="zh-CN" sz="2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2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“网上花店”专题</a:t>
              </a:r>
              <a:r>
                <a:rPr lang="zh-CN" altLang="zh-CN" sz="2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</a:t>
              </a:r>
              <a:r>
                <a:rPr lang="zh-CN" altLang="en-US" sz="2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呢？</a:t>
              </a:r>
              <a:endParaRPr lang="zh-CN" altLang="en-US" sz="2800" dirty="0">
                <a:solidFill>
                  <a:srgbClr val="595959"/>
                </a:solidFill>
              </a:endParaRPr>
            </a:p>
          </p:txBody>
        </p:sp>
      </p:grpSp>
      <p:pic>
        <p:nvPicPr>
          <p:cNvPr id="78850" name="Picture 2" descr="201601271607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452" y="864766"/>
            <a:ext cx="4000500" cy="574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656164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“网上花店”专题页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，小思需要做一些页面建设的准备工作，主要包括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网站素材整理、页面结构分析、页面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建立站点</a:t>
            </a:r>
            <a:endParaRPr lang="zh-CN" altLang="en-US" sz="2000" dirty="0"/>
          </a:p>
        </p:txBody>
      </p:sp>
      <p:grpSp>
        <p:nvGrpSpPr>
          <p:cNvPr id="20" name="Group 5"/>
          <p:cNvGrpSpPr/>
          <p:nvPr/>
        </p:nvGrpSpPr>
        <p:grpSpPr bwMode="auto">
          <a:xfrm>
            <a:off x="3627437" y="3901424"/>
            <a:ext cx="1851025" cy="1049338"/>
            <a:chOff x="0" y="0"/>
            <a:chExt cx="1850766" cy="1048162"/>
          </a:xfrm>
        </p:grpSpPr>
        <p:sp>
          <p:nvSpPr>
            <p:cNvPr id="21" name="椭圆 2"/>
            <p:cNvSpPr/>
            <p:nvPr/>
          </p:nvSpPr>
          <p:spPr bwMode="auto">
            <a:xfrm>
              <a:off x="0" y="124940"/>
              <a:ext cx="1850766" cy="923222"/>
            </a:xfrm>
            <a:custGeom>
              <a:avLst/>
              <a:gdLst>
                <a:gd name="T0" fmla="*/ 0 w 2768819"/>
                <a:gd name="T1" fmla="*/ 0 h 989699"/>
                <a:gd name="T2" fmla="*/ 648 w 2768819"/>
                <a:gd name="T3" fmla="*/ 40695 h 989699"/>
                <a:gd name="T4" fmla="*/ 1313 w 2768819"/>
                <a:gd name="T5" fmla="*/ 0 h 989699"/>
                <a:gd name="T6" fmla="*/ 656 w 2768819"/>
                <a:gd name="T7" fmla="*/ 264095 h 989699"/>
                <a:gd name="T8" fmla="*/ 0 w 2768819"/>
                <a:gd name="T9" fmla="*/ 0 h 989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8819" h="989699">
                  <a:moveTo>
                    <a:pt x="0" y="0"/>
                  </a:moveTo>
                  <a:cubicBezTo>
                    <a:pt x="380260" y="70629"/>
                    <a:pt x="883212" y="152500"/>
                    <a:pt x="1365445" y="152500"/>
                  </a:cubicBezTo>
                  <a:cubicBezTo>
                    <a:pt x="1847678" y="152500"/>
                    <a:pt x="2284258" y="91012"/>
                    <a:pt x="2768819" y="0"/>
                  </a:cubicBezTo>
                  <a:cubicBezTo>
                    <a:pt x="2572779" y="576015"/>
                    <a:pt x="2026905" y="989699"/>
                    <a:pt x="1384409" y="989699"/>
                  </a:cubicBezTo>
                  <a:cubicBezTo>
                    <a:pt x="741914" y="989699"/>
                    <a:pt x="196039" y="576015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椭圆 10"/>
            <p:cNvSpPr/>
            <p:nvPr/>
          </p:nvSpPr>
          <p:spPr bwMode="auto">
            <a:xfrm>
              <a:off x="47" y="0"/>
              <a:ext cx="1850544" cy="268518"/>
            </a:xfrm>
            <a:custGeom>
              <a:avLst/>
              <a:gdLst>
                <a:gd name="T0" fmla="*/ 0 w 1855751"/>
                <a:gd name="T1" fmla="*/ 4622 h 322835"/>
                <a:gd name="T2" fmla="*/ 847952 w 1855751"/>
                <a:gd name="T3" fmla="*/ 2 h 322835"/>
                <a:gd name="T4" fmla="*/ 1759278 w 1855751"/>
                <a:gd name="T5" fmla="*/ 4766 h 322835"/>
                <a:gd name="T6" fmla="*/ 845970 w 1855751"/>
                <a:gd name="T7" fmla="*/ 9721 h 322835"/>
                <a:gd name="T8" fmla="*/ 0 w 1855751"/>
                <a:gd name="T9" fmla="*/ 4622 h 322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5751" h="322835">
                  <a:moveTo>
                    <a:pt x="0" y="153077"/>
                  </a:moveTo>
                  <a:cubicBezTo>
                    <a:pt x="33893" y="35645"/>
                    <a:pt x="585162" y="-781"/>
                    <a:pt x="894454" y="13"/>
                  </a:cubicBezTo>
                  <a:cubicBezTo>
                    <a:pt x="1203746" y="807"/>
                    <a:pt x="1842019" y="48699"/>
                    <a:pt x="1855751" y="157839"/>
                  </a:cubicBezTo>
                  <a:cubicBezTo>
                    <a:pt x="1812889" y="213003"/>
                    <a:pt x="1365462" y="333923"/>
                    <a:pt x="892361" y="322016"/>
                  </a:cubicBezTo>
                  <a:cubicBezTo>
                    <a:pt x="409709" y="322016"/>
                    <a:pt x="75442" y="209390"/>
                    <a:pt x="0" y="153077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6" name="Group 11"/>
          <p:cNvGrpSpPr/>
          <p:nvPr/>
        </p:nvGrpSpPr>
        <p:grpSpPr bwMode="auto">
          <a:xfrm>
            <a:off x="3597274" y="3161780"/>
            <a:ext cx="1906588" cy="868362"/>
            <a:chOff x="0" y="0"/>
            <a:chExt cx="1906927" cy="868230"/>
          </a:xfrm>
        </p:grpSpPr>
        <p:sp>
          <p:nvSpPr>
            <p:cNvPr id="27" name="椭圆 6"/>
            <p:cNvSpPr/>
            <p:nvPr/>
          </p:nvSpPr>
          <p:spPr bwMode="auto">
            <a:xfrm>
              <a:off x="0" y="110698"/>
              <a:ext cx="1906927" cy="757532"/>
            </a:xfrm>
            <a:custGeom>
              <a:avLst/>
              <a:gdLst>
                <a:gd name="T0" fmla="*/ 158 w 2852836"/>
                <a:gd name="T1" fmla="*/ 0 h 812079"/>
                <a:gd name="T2" fmla="*/ 675 w 2852836"/>
                <a:gd name="T3" fmla="*/ 48804 h 812079"/>
                <a:gd name="T4" fmla="*/ 1161 w 2852836"/>
                <a:gd name="T5" fmla="*/ 6290 h 812079"/>
                <a:gd name="T6" fmla="*/ 1192 w 2852836"/>
                <a:gd name="T7" fmla="*/ 280 h 812079"/>
                <a:gd name="T8" fmla="*/ 1354 w 2852836"/>
                <a:gd name="T9" fmla="*/ 172617 h 812079"/>
                <a:gd name="T10" fmla="*/ 677 w 2852836"/>
                <a:gd name="T11" fmla="*/ 216695 h 812079"/>
                <a:gd name="T12" fmla="*/ 0 w 2852836"/>
                <a:gd name="T13" fmla="*/ 172617 h 812079"/>
                <a:gd name="T14" fmla="*/ 158 w 2852836"/>
                <a:gd name="T15" fmla="*/ 0 h 812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52836" h="812079">
                  <a:moveTo>
                    <a:pt x="334026" y="0"/>
                  </a:moveTo>
                  <a:cubicBezTo>
                    <a:pt x="629853" y="114341"/>
                    <a:pt x="1009624" y="182893"/>
                    <a:pt x="1423773" y="182893"/>
                  </a:cubicBezTo>
                  <a:cubicBezTo>
                    <a:pt x="1807753" y="182893"/>
                    <a:pt x="2162182" y="123965"/>
                    <a:pt x="2447320" y="23572"/>
                  </a:cubicBezTo>
                  <a:cubicBezTo>
                    <a:pt x="2470720" y="18147"/>
                    <a:pt x="2493390" y="11141"/>
                    <a:pt x="2514376" y="1055"/>
                  </a:cubicBezTo>
                  <a:cubicBezTo>
                    <a:pt x="2679522" y="179535"/>
                    <a:pt x="2797076" y="401441"/>
                    <a:pt x="2852836" y="646891"/>
                  </a:cubicBezTo>
                  <a:cubicBezTo>
                    <a:pt x="2427255" y="752598"/>
                    <a:pt x="1941751" y="812079"/>
                    <a:pt x="1426418" y="812079"/>
                  </a:cubicBezTo>
                  <a:cubicBezTo>
                    <a:pt x="911085" y="812079"/>
                    <a:pt x="425581" y="752598"/>
                    <a:pt x="0" y="646891"/>
                  </a:cubicBezTo>
                  <a:cubicBezTo>
                    <a:pt x="55592" y="402182"/>
                    <a:pt x="172605" y="180875"/>
                    <a:pt x="3340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1000">
                  <a:srgbClr val="FF7711"/>
                </a:gs>
                <a:gs pos="62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8" name="椭圆 10"/>
            <p:cNvSpPr/>
            <p:nvPr/>
          </p:nvSpPr>
          <p:spPr bwMode="auto">
            <a:xfrm>
              <a:off x="227718" y="0"/>
              <a:ext cx="1449802" cy="281550"/>
            </a:xfrm>
            <a:custGeom>
              <a:avLst/>
              <a:gdLst>
                <a:gd name="T0" fmla="*/ 0 w 1747836"/>
                <a:gd name="T1" fmla="*/ 4022 h 338503"/>
                <a:gd name="T2" fmla="*/ 24709 w 1747836"/>
                <a:gd name="T3" fmla="*/ 0 h 338503"/>
                <a:gd name="T4" fmla="*/ 50102 w 1747836"/>
                <a:gd name="T5" fmla="*/ 4022 h 338503"/>
                <a:gd name="T6" fmla="*/ 23890 w 1747836"/>
                <a:gd name="T7" fmla="*/ 10201 h 338503"/>
                <a:gd name="T8" fmla="*/ 0 w 1747836"/>
                <a:gd name="T9" fmla="*/ 4022 h 3385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7836" h="338503">
                  <a:moveTo>
                    <a:pt x="0" y="133220"/>
                  </a:moveTo>
                  <a:cubicBezTo>
                    <a:pt x="4763" y="65001"/>
                    <a:pt x="379360" y="0"/>
                    <a:pt x="862012" y="0"/>
                  </a:cubicBezTo>
                  <a:cubicBezTo>
                    <a:pt x="1344664" y="0"/>
                    <a:pt x="1704974" y="39955"/>
                    <a:pt x="1747836" y="133220"/>
                  </a:cubicBezTo>
                  <a:cubicBezTo>
                    <a:pt x="1704974" y="188384"/>
                    <a:pt x="1306538" y="349785"/>
                    <a:pt x="833437" y="337878"/>
                  </a:cubicBezTo>
                  <a:cubicBezTo>
                    <a:pt x="350785" y="337878"/>
                    <a:pt x="35718" y="189533"/>
                    <a:pt x="0" y="133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2999">
                  <a:srgbClr val="FF7711"/>
                </a:gs>
                <a:gs pos="75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4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9" name="Group 14"/>
          <p:cNvGrpSpPr/>
          <p:nvPr/>
        </p:nvGrpSpPr>
        <p:grpSpPr bwMode="auto">
          <a:xfrm>
            <a:off x="3897312" y="2593455"/>
            <a:ext cx="1304925" cy="631825"/>
            <a:chOff x="0" y="0"/>
            <a:chExt cx="1569720" cy="759442"/>
          </a:xfrm>
        </p:grpSpPr>
        <p:sp>
          <p:nvSpPr>
            <p:cNvPr id="30" name="椭圆 4"/>
            <p:cNvSpPr/>
            <p:nvPr/>
          </p:nvSpPr>
          <p:spPr bwMode="auto">
            <a:xfrm>
              <a:off x="0" y="0"/>
              <a:ext cx="1569720" cy="759442"/>
            </a:xfrm>
            <a:custGeom>
              <a:avLst/>
              <a:gdLst>
                <a:gd name="T0" fmla="*/ 6203 w 2054038"/>
                <a:gd name="T1" fmla="*/ 4214 h 677149"/>
                <a:gd name="T2" fmla="*/ 12407 w 2054038"/>
                <a:gd name="T3" fmla="*/ 4357198 h 677149"/>
                <a:gd name="T4" fmla="*/ 6203 w 2054038"/>
                <a:gd name="T5" fmla="*/ 5985242 h 677149"/>
                <a:gd name="T6" fmla="*/ 0 w 2054038"/>
                <a:gd name="T7" fmla="*/ 4297152 h 677149"/>
                <a:gd name="T8" fmla="*/ 6203 w 2054038"/>
                <a:gd name="T9" fmla="*/ 4214 h 677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4038" h="677149">
                  <a:moveTo>
                    <a:pt x="1027019" y="476"/>
                  </a:moveTo>
                  <a:cubicBezTo>
                    <a:pt x="1493997" y="-11131"/>
                    <a:pt x="1853323" y="190395"/>
                    <a:pt x="2054038" y="492958"/>
                  </a:cubicBezTo>
                  <a:cubicBezTo>
                    <a:pt x="1757656" y="608038"/>
                    <a:pt x="1442853" y="677149"/>
                    <a:pt x="1027019" y="677149"/>
                  </a:cubicBezTo>
                  <a:cubicBezTo>
                    <a:pt x="611185" y="677149"/>
                    <a:pt x="296382" y="601244"/>
                    <a:pt x="0" y="486164"/>
                  </a:cubicBezTo>
                  <a:cubicBezTo>
                    <a:pt x="210197" y="190396"/>
                    <a:pt x="684679" y="-656"/>
                    <a:pt x="1027019" y="476"/>
                  </a:cubicBezTo>
                  <a:close/>
                </a:path>
              </a:pathLst>
            </a:custGeom>
            <a:gradFill rotWithShape="1">
              <a:gsLst>
                <a:gs pos="0">
                  <a:srgbClr val="BE1247"/>
                </a:gs>
                <a:gs pos="27000">
                  <a:srgbClr val="D2144F"/>
                </a:gs>
                <a:gs pos="66000">
                  <a:srgbClr val="F87477"/>
                </a:gs>
                <a:gs pos="100000">
                  <a:srgbClr val="FA9496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2" name="Group 16"/>
            <p:cNvGrpSpPr/>
            <p:nvPr/>
          </p:nvGrpSpPr>
          <p:grpSpPr bwMode="auto">
            <a:xfrm>
              <a:off x="492487" y="61980"/>
              <a:ext cx="820862" cy="579001"/>
              <a:chOff x="0" y="0"/>
              <a:chExt cx="682752" cy="481584"/>
            </a:xfrm>
          </p:grpSpPr>
          <p:pic>
            <p:nvPicPr>
              <p:cNvPr id="33" name="椭圆 15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2752" cy="48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 rot="277197">
                <a:off x="101490" y="75279"/>
                <a:ext cx="479507" cy="331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cxnSp>
        <p:nvCxnSpPr>
          <p:cNvPr id="35" name="直接连接符 16"/>
          <p:cNvCxnSpPr>
            <a:cxnSpLocks noChangeShapeType="1"/>
          </p:cNvCxnSpPr>
          <p:nvPr/>
        </p:nvCxnSpPr>
        <p:spPr bwMode="auto">
          <a:xfrm>
            <a:off x="5057774" y="2931592"/>
            <a:ext cx="31337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11"/>
          <p:cNvSpPr txBox="1">
            <a:spLocks noChangeArrowheads="1"/>
          </p:cNvSpPr>
          <p:nvPr/>
        </p:nvSpPr>
        <p:spPr bwMode="auto">
          <a:xfrm flipH="1">
            <a:off x="5744411" y="2544242"/>
            <a:ext cx="2465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创建网站根目录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20"/>
          <p:cNvCxnSpPr>
            <a:cxnSpLocks noChangeShapeType="1"/>
          </p:cNvCxnSpPr>
          <p:nvPr/>
        </p:nvCxnSpPr>
        <p:spPr bwMode="auto">
          <a:xfrm>
            <a:off x="5108574" y="4623737"/>
            <a:ext cx="30829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11"/>
          <p:cNvSpPr txBox="1">
            <a:spLocks noChangeArrowheads="1"/>
          </p:cNvSpPr>
          <p:nvPr/>
        </p:nvSpPr>
        <p:spPr bwMode="auto">
          <a:xfrm flipH="1">
            <a:off x="5795209" y="4236387"/>
            <a:ext cx="34980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Dreamweaver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中新建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22"/>
          <p:cNvCxnSpPr>
            <a:cxnSpLocks noChangeShapeType="1"/>
          </p:cNvCxnSpPr>
          <p:nvPr/>
        </p:nvCxnSpPr>
        <p:spPr bwMode="auto">
          <a:xfrm>
            <a:off x="5275262" y="3771608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11"/>
          <p:cNvSpPr txBox="1">
            <a:spLocks noChangeArrowheads="1"/>
          </p:cNvSpPr>
          <p:nvPr/>
        </p:nvSpPr>
        <p:spPr bwMode="auto">
          <a:xfrm flipH="1">
            <a:off x="5744409" y="3318942"/>
            <a:ext cx="3136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在根目录下新建文件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11"/>
          <p:cNvSpPr txBox="1">
            <a:spLocks noChangeArrowheads="1"/>
          </p:cNvSpPr>
          <p:nvPr/>
        </p:nvSpPr>
        <p:spPr bwMode="auto">
          <a:xfrm flipH="1">
            <a:off x="3967162" y="2806180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</a:p>
        </p:txBody>
      </p:sp>
      <p:sp>
        <p:nvSpPr>
          <p:cNvPr id="46" name="TextBox 11"/>
          <p:cNvSpPr txBox="1">
            <a:spLocks noChangeArrowheads="1"/>
          </p:cNvSpPr>
          <p:nvPr/>
        </p:nvSpPr>
        <p:spPr bwMode="auto">
          <a:xfrm flipH="1">
            <a:off x="3967162" y="3566592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step2</a:t>
            </a: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 flipH="1">
            <a:off x="3967162" y="4280837"/>
            <a:ext cx="1309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step3</a:t>
            </a:r>
            <a:endParaRPr lang="en-US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同侧圆角矩形 41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000" dirty="0"/>
          </a:p>
        </p:txBody>
      </p:sp>
      <p:sp>
        <p:nvSpPr>
          <p:cNvPr id="5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</a:t>
            </a:r>
            <a:endParaRPr lang="zh-CN" altLang="en-US" sz="2400" b="1" dirty="0"/>
          </a:p>
        </p:txBody>
      </p:sp>
      <p:sp>
        <p:nvSpPr>
          <p:cNvPr id="56" name="圆角矩形 55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7" name="TextBox 38"/>
          <p:cNvSpPr txBox="1"/>
          <p:nvPr/>
        </p:nvSpPr>
        <p:spPr>
          <a:xfrm>
            <a:off x="1585974" y="1754840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 Fireworks CS6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的切片工具，导出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网上花店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专题页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中的素材图片，存储在站点中的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8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9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pic>
        <p:nvPicPr>
          <p:cNvPr id="7987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05842"/>
            <a:ext cx="6448933" cy="3280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370368" y="2292090"/>
            <a:ext cx="3966741" cy="2292350"/>
            <a:chOff x="450056" y="2672554"/>
            <a:chExt cx="5116819" cy="2291733"/>
          </a:xfrm>
        </p:grpSpPr>
        <p:sp>
          <p:nvSpPr>
            <p:cNvPr id="6" name="圆角矩形标注 5"/>
            <p:cNvSpPr/>
            <p:nvPr/>
          </p:nvSpPr>
          <p:spPr bwMode="auto">
            <a:xfrm rot="16200000" flipH="1">
              <a:off x="1862599" y="1260011"/>
              <a:ext cx="2291733" cy="5116819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30"/>
            <p:cNvSpPr>
              <a:spLocks noChangeArrowheads="1"/>
            </p:cNvSpPr>
            <p:nvPr/>
          </p:nvSpPr>
          <p:spPr bwMode="auto">
            <a:xfrm>
              <a:off x="764811" y="2771822"/>
              <a:ext cx="4487309" cy="1938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“网上花店”专题页面从上到下可以分为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标题模块、分类模块、热卖模块、页脚模块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部分。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20881" y="933060"/>
            <a:ext cx="135912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120882" y="978779"/>
            <a:ext cx="135198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120881" y="978779"/>
          <a:ext cx="4795935" cy="5609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8" name="Visio" r:id="rId4" imgW="8255000" imgH="9639300" progId="Visio.Drawing.11">
                  <p:embed/>
                </p:oleObj>
              </mc:Choice>
              <mc:Fallback>
                <p:oleObj name="Visio" r:id="rId4" imgW="8255000" imgH="963930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881" y="978779"/>
                        <a:ext cx="4795935" cy="56093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19175" y="2696480"/>
            <a:ext cx="10440988" cy="184752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585974" y="3080522"/>
            <a:ext cx="94820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就是为了让网站页面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结构更加清晰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而对页面进行的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“排版”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，可以让我们在搭建页面的过程中更有针对性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站点根目录下新建一个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，命名为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project03”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。然后使用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对页面进行布局</a:t>
            </a:r>
          </a:p>
        </p:txBody>
      </p:sp>
      <p:sp>
        <p:nvSpPr>
          <p:cNvPr id="5" name="矩形 93"/>
          <p:cNvSpPr/>
          <p:nvPr/>
        </p:nvSpPr>
        <p:spPr>
          <a:xfrm>
            <a:off x="1024831" y="2696479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矩形 93"/>
          <p:cNvSpPr/>
          <p:nvPr/>
        </p:nvSpPr>
        <p:spPr>
          <a:xfrm rot="10800000">
            <a:off x="11076120" y="415996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7957137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3-5】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“标题”模块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0604" y="363893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159691" y="3051110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09185" y="1701800"/>
          <a:ext cx="9138515" cy="130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4" name="Visio" r:id="rId4" imgW="13119100" imgH="1879600" progId="Visio.Drawing.11">
                  <p:embed/>
                </p:oleObj>
              </mc:Choice>
              <mc:Fallback>
                <p:oleObj name="Visio" r:id="rId4" imgW="13119100" imgH="187960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185" y="1701800"/>
                        <a:ext cx="9138515" cy="1303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739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516" y="3365374"/>
            <a:ext cx="9127774" cy="1645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196250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3-6】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“分类”模块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39657" y="3620278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-46653" y="2071397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33063" y="1894785"/>
          <a:ext cx="5706347" cy="3119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8" name="Visio" r:id="rId4" imgW="13385800" imgH="7327900" progId="Visio.Drawing.11">
                  <p:embed/>
                </p:oleObj>
              </mc:Choice>
              <mc:Fallback>
                <p:oleObj name="Visio" r:id="rId4" imgW="13385800" imgH="7327900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063" y="1894785"/>
                        <a:ext cx="5706347" cy="31190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64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600" y="2157604"/>
            <a:ext cx="4717563" cy="285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59420"/>
            <a:ext cx="8280225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3-7】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“热卖”模块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61054" y="1026367"/>
            <a:ext cx="1078734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019175" y="1203649"/>
            <a:ext cx="1491276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19176" y="1534951"/>
          <a:ext cx="4541870" cy="4315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1" name="Visio" r:id="rId4" imgW="9867900" imgH="9359900" progId="Visio.Drawing.11">
                  <p:embed/>
                </p:oleObj>
              </mc:Choice>
              <mc:Fallback>
                <p:oleObj name="Visio" r:id="rId4" imgW="9867900" imgH="9359900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6" y="1534951"/>
                        <a:ext cx="4541870" cy="43153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5789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768" y="1791478"/>
            <a:ext cx="5802395" cy="405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50906" y="3059420"/>
            <a:ext cx="8322906" cy="70788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3-8】</a:t>
            </a:r>
            <a:r>
              <a:rPr lang="zh-CN" altLang="en-US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“页脚”模块</a:t>
            </a:r>
            <a:endParaRPr lang="en-GB" altLang="zh-CN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12980" y="1996752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445208" y="4279286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48047" y="1701800"/>
          <a:ext cx="10228101" cy="18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5" name="Visio" r:id="rId4" imgW="11722100" imgH="2184400" progId="Visio.Drawing.11">
                  <p:embed/>
                </p:oleObj>
              </mc:Choice>
              <mc:Fallback>
                <p:oleObj name="Visio" r:id="rId4" imgW="11722100" imgH="218440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047" y="1701800"/>
                        <a:ext cx="10228101" cy="1895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815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433" y="3718604"/>
            <a:ext cx="8513233" cy="197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2102485"/>
            <a:ext cx="9794240" cy="3701156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587447"/>
            <a:ext cx="9001000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建议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读者每完成一个模块的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网页代码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，都要用浏览器查看效果，保证制作的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页面和网页效果图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保持一致。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读者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在制作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“网上花店”专题页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时，要善于分析总结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的特点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，深刻体会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的语法格式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本项目的制作过程中多次用到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换行标签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br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&gt;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空格标签“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&amp;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nbsp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;”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，以使不同元素之间出现一定的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留白效果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。但实际工作通常使用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内边距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外边距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留白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效果。关于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内边距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外边距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知识。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2023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6" name="椭圆 5"/>
          <p:cNvSpPr/>
          <p:nvPr/>
        </p:nvSpPr>
        <p:spPr>
          <a:xfrm>
            <a:off x="513905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7" name="椭圆 6"/>
          <p:cNvSpPr/>
          <p:nvPr/>
        </p:nvSpPr>
        <p:spPr>
          <a:xfrm>
            <a:off x="585787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8" name="椭圆 7"/>
          <p:cNvSpPr/>
          <p:nvPr/>
        </p:nvSpPr>
        <p:spPr>
          <a:xfrm>
            <a:off x="6576695" y="1693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  <p:tag name="COMMONDATA" val="eyJoZGlkIjoiYjM0NWU1MTk2Y2VjYWE3ZDk2ZTAwZTg0YWVkZjY0MTM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6796</Words>
  <Application>Microsoft Office PowerPoint</Application>
  <PresentationFormat>自定义</PresentationFormat>
  <Paragraphs>597</Paragraphs>
  <Slides>87</Slides>
  <Notes>87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0" baseType="lpstr"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yc</cp:lastModifiedBy>
  <cp:revision>337</cp:revision>
  <dcterms:created xsi:type="dcterms:W3CDTF">2020-11-11T09:29:00Z</dcterms:created>
  <dcterms:modified xsi:type="dcterms:W3CDTF">2023-10-06T15:31:37Z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1462607C93A948818E62152E6F804D22</vt:lpwstr>
  </property>
</Properties>
</file>